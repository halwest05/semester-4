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0" r:id="rId1"/>
  </p:sldMasterIdLst>
  <p:notesMasterIdLst>
    <p:notesMasterId r:id="rId19"/>
  </p:notesMasterIdLst>
  <p:sldIdLst>
    <p:sldId id="273"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6858000" type="screen4x3"/>
  <p:notesSz cx="6858000" cy="9144000"/>
  <p:defaultTextStyle>
    <a:lvl1pPr>
      <a:defRPr>
        <a:latin typeface="Calibri"/>
        <a:ea typeface="Calibri"/>
        <a:cs typeface="Calibri"/>
        <a:sym typeface="Calibri"/>
      </a:defRPr>
    </a:lvl1pPr>
    <a:lvl2pPr indent="457200">
      <a:defRPr>
        <a:latin typeface="Calibri"/>
        <a:ea typeface="Calibri"/>
        <a:cs typeface="Calibri"/>
        <a:sym typeface="Calibri"/>
      </a:defRPr>
    </a:lvl2pPr>
    <a:lvl3pPr indent="914400">
      <a:defRPr>
        <a:latin typeface="Calibri"/>
        <a:ea typeface="Calibri"/>
        <a:cs typeface="Calibri"/>
        <a:sym typeface="Calibri"/>
      </a:defRPr>
    </a:lvl3pPr>
    <a:lvl4pPr indent="1371600">
      <a:defRPr>
        <a:latin typeface="Calibri"/>
        <a:ea typeface="Calibri"/>
        <a:cs typeface="Calibri"/>
        <a:sym typeface="Calibri"/>
      </a:defRPr>
    </a:lvl4pPr>
    <a:lvl5pPr indent="1828800">
      <a:defRPr>
        <a:latin typeface="Calibri"/>
        <a:ea typeface="Calibri"/>
        <a:cs typeface="Calibri"/>
        <a:sym typeface="Calibri"/>
      </a:defRPr>
    </a:lvl5pPr>
    <a:lvl6pPr indent="2286000">
      <a:defRPr>
        <a:latin typeface="Calibri"/>
        <a:ea typeface="Calibri"/>
        <a:cs typeface="Calibri"/>
        <a:sym typeface="Calibri"/>
      </a:defRPr>
    </a:lvl6pPr>
    <a:lvl7pPr indent="2743200">
      <a:defRPr>
        <a:latin typeface="Calibri"/>
        <a:ea typeface="Calibri"/>
        <a:cs typeface="Calibri"/>
        <a:sym typeface="Calibri"/>
      </a:defRPr>
    </a:lvl7pPr>
    <a:lvl8pPr indent="3200400">
      <a:defRPr>
        <a:latin typeface="Calibri"/>
        <a:ea typeface="Calibri"/>
        <a:cs typeface="Calibri"/>
        <a:sym typeface="Calibri"/>
      </a:defRPr>
    </a:lvl8pPr>
    <a:lvl9pPr indent="3657600">
      <a:defRPr>
        <a:latin typeface="Calibri"/>
        <a:ea typeface="Calibri"/>
        <a:cs typeface="Calibri"/>
        <a:sym typeface="Calibri"/>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n" i="on">
        <a:font>
          <a:latin typeface="Calibri"/>
          <a:ea typeface="Calibri"/>
          <a:cs typeface="Calibri"/>
        </a:font>
        <a:srgbClr val="000000"/>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CFD7E7"/>
          </a:solidFill>
        </a:fill>
      </a:tcStyle>
    </a:wholeTbl>
    <a:band2H>
      <a:tcTxStyle/>
      <a:tcStyle>
        <a:tcBdr/>
        <a:fill>
          <a:solidFill>
            <a:srgbClr val="E8ECF4"/>
          </a:solidFill>
        </a:fill>
      </a:tcStyle>
    </a:band2H>
    <a:firstCol>
      <a:tcTxStyle b="on" i="on">
        <a:font>
          <a:latin typeface="Calibri"/>
          <a:ea typeface="Calibri"/>
          <a:cs typeface="Calibri"/>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4F81BD"/>
          </a:solidFill>
        </a:fill>
      </a:tcStyle>
    </a:firstCol>
    <a:lastRow>
      <a:tcTxStyle b="on" i="on">
        <a:font>
          <a:latin typeface="Calibri"/>
          <a:ea typeface="Calibri"/>
          <a:cs typeface="Calibri"/>
        </a:font>
        <a:srgbClr val="FFFFFF"/>
      </a:tcTxStyle>
      <a:tcStyle>
        <a:tcBdr>
          <a:left>
            <a:ln w="12700" cap="flat">
              <a:solidFill>
                <a:srgbClr val="FFFFFF"/>
              </a:solidFill>
              <a:prstDash val="solid"/>
              <a:bevel/>
            </a:ln>
          </a:left>
          <a:right>
            <a:ln w="12700" cap="flat">
              <a:solidFill>
                <a:srgbClr val="FFFFFF"/>
              </a:solidFill>
              <a:prstDash val="solid"/>
              <a:bevel/>
            </a:ln>
          </a:right>
          <a:top>
            <a:ln w="381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4F81BD"/>
          </a:solidFill>
        </a:fill>
      </a:tcStyle>
    </a:lastRow>
    <a:firstRow>
      <a:tcTxStyle b="on" i="on">
        <a:font>
          <a:latin typeface="Calibri"/>
          <a:ea typeface="Calibri"/>
          <a:cs typeface="Calibri"/>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381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4F81BD"/>
          </a:solidFill>
        </a:fill>
      </a:tcStyle>
    </a:firstRow>
  </a:tblStyle>
  <a:tblStyle styleId="{C7B018BB-80A7-4F77-B60F-C8B233D01FF8}" styleName="">
    <a:tblBg/>
    <a:wholeTbl>
      <a:tcTxStyle b="on" i="on">
        <a:font>
          <a:latin typeface="Calibri"/>
          <a:ea typeface="Calibri"/>
          <a:cs typeface="Calibri"/>
        </a:font>
        <a:srgbClr val="000000"/>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DEE7D0"/>
          </a:solidFill>
        </a:fill>
      </a:tcStyle>
    </a:wholeTbl>
    <a:band2H>
      <a:tcTxStyle/>
      <a:tcStyle>
        <a:tcBdr/>
        <a:fill>
          <a:solidFill>
            <a:srgbClr val="EFF3E9"/>
          </a:solidFill>
        </a:fill>
      </a:tcStyle>
    </a:band2H>
    <a:firstCol>
      <a:tcTxStyle b="on" i="on">
        <a:font>
          <a:latin typeface="Calibri"/>
          <a:ea typeface="Calibri"/>
          <a:cs typeface="Calibri"/>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9BBB59"/>
          </a:solidFill>
        </a:fill>
      </a:tcStyle>
    </a:firstCol>
    <a:lastRow>
      <a:tcTxStyle b="on" i="on">
        <a:font>
          <a:latin typeface="Calibri"/>
          <a:ea typeface="Calibri"/>
          <a:cs typeface="Calibri"/>
        </a:font>
        <a:srgbClr val="FFFFFF"/>
      </a:tcTxStyle>
      <a:tcStyle>
        <a:tcBdr>
          <a:left>
            <a:ln w="12700" cap="flat">
              <a:solidFill>
                <a:srgbClr val="FFFFFF"/>
              </a:solidFill>
              <a:prstDash val="solid"/>
              <a:bevel/>
            </a:ln>
          </a:left>
          <a:right>
            <a:ln w="12700" cap="flat">
              <a:solidFill>
                <a:srgbClr val="FFFFFF"/>
              </a:solidFill>
              <a:prstDash val="solid"/>
              <a:bevel/>
            </a:ln>
          </a:right>
          <a:top>
            <a:ln w="381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9BBB59"/>
          </a:solidFill>
        </a:fill>
      </a:tcStyle>
    </a:lastRow>
    <a:firstRow>
      <a:tcTxStyle b="on" i="on">
        <a:font>
          <a:latin typeface="Calibri"/>
          <a:ea typeface="Calibri"/>
          <a:cs typeface="Calibri"/>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381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9BBB59"/>
          </a:solidFill>
        </a:fill>
      </a:tcStyle>
    </a:firstRow>
  </a:tblStyle>
  <a:tblStyle styleId="{EEE7283C-3CF3-47DC-8721-378D4A62B228}" styleName="">
    <a:tblBg/>
    <a:wholeTbl>
      <a:tcTxStyle b="on" i="on">
        <a:font>
          <a:latin typeface="Calibri"/>
          <a:ea typeface="Calibri"/>
          <a:cs typeface="Calibri"/>
        </a:font>
        <a:srgbClr val="000000"/>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FCDCCE"/>
          </a:solidFill>
        </a:fill>
      </a:tcStyle>
    </a:wholeTbl>
    <a:band2H>
      <a:tcTxStyle/>
      <a:tcStyle>
        <a:tcBdr/>
        <a:fill>
          <a:solidFill>
            <a:srgbClr val="FDEEE8"/>
          </a:solidFill>
        </a:fill>
      </a:tcStyle>
    </a:band2H>
    <a:firstCol>
      <a:tcTxStyle b="on" i="on">
        <a:font>
          <a:latin typeface="Calibri"/>
          <a:ea typeface="Calibri"/>
          <a:cs typeface="Calibri"/>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F79646"/>
          </a:solidFill>
        </a:fill>
      </a:tcStyle>
    </a:firstCol>
    <a:lastRow>
      <a:tcTxStyle b="on" i="on">
        <a:font>
          <a:latin typeface="Calibri"/>
          <a:ea typeface="Calibri"/>
          <a:cs typeface="Calibri"/>
        </a:font>
        <a:srgbClr val="FFFFFF"/>
      </a:tcTxStyle>
      <a:tcStyle>
        <a:tcBdr>
          <a:left>
            <a:ln w="12700" cap="flat">
              <a:solidFill>
                <a:srgbClr val="FFFFFF"/>
              </a:solidFill>
              <a:prstDash val="solid"/>
              <a:bevel/>
            </a:ln>
          </a:left>
          <a:right>
            <a:ln w="12700" cap="flat">
              <a:solidFill>
                <a:srgbClr val="FFFFFF"/>
              </a:solidFill>
              <a:prstDash val="solid"/>
              <a:bevel/>
            </a:ln>
          </a:right>
          <a:top>
            <a:ln w="381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F79646"/>
          </a:solidFill>
        </a:fill>
      </a:tcStyle>
    </a:lastRow>
    <a:firstRow>
      <a:tcTxStyle b="on" i="on">
        <a:font>
          <a:latin typeface="Calibri"/>
          <a:ea typeface="Calibri"/>
          <a:cs typeface="Calibri"/>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381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F79646"/>
          </a:solidFill>
        </a:fill>
      </a:tcStyle>
    </a:firstRow>
  </a:tblStyle>
  <a:tblStyle styleId="{CF821DB8-F4EB-4A41-A1BA-3FCAFE7338EE}" styleName="">
    <a:tblBg/>
    <a:wholeTbl>
      <a:tcTxStyle b="on" i="on">
        <a:font>
          <a:latin typeface="Calibri"/>
          <a:ea typeface="Calibri"/>
          <a:cs typeface="Calibri"/>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n">
        <a:font>
          <a:latin typeface="Calibri"/>
          <a:ea typeface="Calibri"/>
          <a:cs typeface="Calibri"/>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4F81BD"/>
          </a:solidFill>
        </a:fill>
      </a:tcStyle>
    </a:firstCol>
    <a:lastRow>
      <a:tcTxStyle b="on" i="on">
        <a:font>
          <a:latin typeface="Calibri"/>
          <a:ea typeface="Calibri"/>
          <a:cs typeface="Calibri"/>
        </a:font>
        <a:srgbClr val="000000"/>
      </a:tcTxStyle>
      <a:tcStyle>
        <a:tcBdr>
          <a:left>
            <a:ln w="12700" cap="flat">
              <a:noFill/>
              <a:miter lim="400000"/>
            </a:ln>
          </a:left>
          <a:right>
            <a:ln w="12700" cap="flat">
              <a:noFill/>
              <a:miter lim="400000"/>
            </a:ln>
          </a:right>
          <a:top>
            <a:ln w="50800" cap="flat">
              <a:solidFill>
                <a:srgbClr val="000000"/>
              </a:solidFill>
              <a:prstDash val="solid"/>
              <a:bevel/>
            </a:ln>
          </a:top>
          <a:bottom>
            <a:ln w="25400" cap="flat">
              <a:solidFill>
                <a:srgbClr val="000000"/>
              </a:solidFill>
              <a:prstDash val="solid"/>
              <a:bevel/>
            </a:ln>
          </a:bottom>
          <a:insideH>
            <a:ln w="12700" cap="flat">
              <a:noFill/>
              <a:miter lim="400000"/>
            </a:ln>
          </a:insideH>
          <a:insideV>
            <a:ln w="12700" cap="flat">
              <a:noFill/>
              <a:miter lim="400000"/>
            </a:ln>
          </a:insideV>
        </a:tcBdr>
        <a:fill>
          <a:solidFill>
            <a:srgbClr val="FFFFFF"/>
          </a:solidFill>
        </a:fill>
      </a:tcStyle>
    </a:lastRow>
    <a:firstRow>
      <a:tcTxStyle b="on" i="on">
        <a:font>
          <a:latin typeface="Calibri"/>
          <a:ea typeface="Calibri"/>
          <a:cs typeface="Calibri"/>
        </a:font>
        <a:srgbClr val="FFFFFF"/>
      </a:tcTxStyle>
      <a:tcStyle>
        <a:tcBdr>
          <a:left>
            <a:ln w="12700" cap="flat">
              <a:noFill/>
              <a:miter lim="400000"/>
            </a:ln>
          </a:left>
          <a:right>
            <a:ln w="12700" cap="flat">
              <a:noFill/>
              <a:miter lim="400000"/>
            </a:ln>
          </a:right>
          <a:top>
            <a:ln w="25400" cap="flat">
              <a:solidFill>
                <a:srgbClr val="000000"/>
              </a:solidFill>
              <a:prstDash val="solid"/>
              <a:bevel/>
            </a:ln>
          </a:top>
          <a:bottom>
            <a:ln w="25400" cap="flat">
              <a:solidFill>
                <a:srgbClr val="000000"/>
              </a:solidFill>
              <a:prstDash val="solid"/>
              <a:bevel/>
            </a:ln>
          </a:bottom>
          <a:insideH>
            <a:ln w="12700" cap="flat">
              <a:noFill/>
              <a:miter lim="400000"/>
            </a:ln>
          </a:insideH>
          <a:insideV>
            <a:ln w="12700" cap="flat">
              <a:noFill/>
              <a:miter lim="400000"/>
            </a:ln>
          </a:insideV>
        </a:tcBdr>
        <a:fill>
          <a:solidFill>
            <a:srgbClr val="4F81BD"/>
          </a:solidFill>
        </a:fill>
      </a:tcStyle>
    </a:firstRow>
  </a:tblStyle>
  <a:tblStyle styleId="{33BA23B1-9221-436E-865A-0063620EA4FD}" styleName="">
    <a:tblBg/>
    <a:wholeTbl>
      <a:tcTxStyle b="on" i="on">
        <a:font>
          <a:latin typeface="Calibri"/>
          <a:ea typeface="Calibri"/>
          <a:cs typeface="Calibri"/>
        </a:font>
        <a:srgbClr val="000000"/>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CACACA"/>
          </a:solidFill>
        </a:fill>
      </a:tcStyle>
    </a:wholeTbl>
    <a:band2H>
      <a:tcTxStyle/>
      <a:tcStyle>
        <a:tcBdr/>
        <a:fill>
          <a:solidFill>
            <a:srgbClr val="E6E6E6"/>
          </a:solidFill>
        </a:fill>
      </a:tcStyle>
    </a:band2H>
    <a:firstCol>
      <a:tcTxStyle b="on" i="on">
        <a:font>
          <a:latin typeface="Calibri"/>
          <a:ea typeface="Calibri"/>
          <a:cs typeface="Calibri"/>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fill>
      </a:tcStyle>
    </a:firstCol>
    <a:lastRow>
      <a:tcTxStyle b="on" i="on">
        <a:font>
          <a:latin typeface="Calibri"/>
          <a:ea typeface="Calibri"/>
          <a:cs typeface="Calibri"/>
        </a:font>
        <a:srgbClr val="FFFFFF"/>
      </a:tcTxStyle>
      <a:tcStyle>
        <a:tcBdr>
          <a:left>
            <a:ln w="12700" cap="flat">
              <a:solidFill>
                <a:srgbClr val="FFFFFF"/>
              </a:solidFill>
              <a:prstDash val="solid"/>
              <a:bevel/>
            </a:ln>
          </a:left>
          <a:right>
            <a:ln w="12700" cap="flat">
              <a:solidFill>
                <a:srgbClr val="FFFFFF"/>
              </a:solidFill>
              <a:prstDash val="solid"/>
              <a:bevel/>
            </a:ln>
          </a:right>
          <a:top>
            <a:ln w="381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fill>
      </a:tcStyle>
    </a:lastRow>
    <a:firstRow>
      <a:tcTxStyle b="on" i="on">
        <a:font>
          <a:latin typeface="Calibri"/>
          <a:ea typeface="Calibri"/>
          <a:cs typeface="Calibri"/>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381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fill>
      </a:tcStyle>
    </a:firstRow>
  </a:tblStyle>
  <a:tblStyle styleId="{2708684C-4D16-4618-839F-0558EEFCDFE6}" styleName="">
    <a:tblBg/>
    <a:wholeTbl>
      <a:tcTxStyle b="on" i="on">
        <a:font>
          <a:latin typeface="Calibri"/>
          <a:ea typeface="Calibri"/>
          <a:cs typeface="Calibri"/>
        </a:font>
        <a:srgbClr val="000000"/>
      </a:tcTxStyle>
      <a:tcStyle>
        <a:tcBdr>
          <a:left>
            <a:ln w="12700" cap="flat">
              <a:solidFill>
                <a:srgbClr val="000000"/>
              </a:solidFill>
              <a:prstDash val="solid"/>
              <a:bevel/>
            </a:ln>
          </a:left>
          <a:right>
            <a:ln w="12700" cap="flat">
              <a:solidFill>
                <a:srgbClr val="000000"/>
              </a:solidFill>
              <a:prstDash val="solid"/>
              <a:bevel/>
            </a:ln>
          </a:right>
          <a:top>
            <a:ln w="12700" cap="flat">
              <a:solidFill>
                <a:srgbClr val="000000"/>
              </a:solidFill>
              <a:prstDash val="solid"/>
              <a:bevel/>
            </a:ln>
          </a:top>
          <a:bottom>
            <a:ln w="12700" cap="flat">
              <a:solidFill>
                <a:srgbClr val="000000"/>
              </a:solidFill>
              <a:prstDash val="solid"/>
              <a:bevel/>
            </a:ln>
          </a:bottom>
          <a:insideH>
            <a:ln w="12700" cap="flat">
              <a:solidFill>
                <a:srgbClr val="000000"/>
              </a:solidFill>
              <a:prstDash val="solid"/>
              <a:bevel/>
            </a:ln>
          </a:insideH>
          <a:insideV>
            <a:ln w="12700" cap="flat">
              <a:solidFill>
                <a:srgbClr val="000000"/>
              </a:solidFill>
              <a:prstDash val="solid"/>
              <a:bevel/>
            </a:ln>
          </a:insideV>
        </a:tcBdr>
        <a:fill>
          <a:solidFill>
            <a:srgbClr val="000000">
              <a:alpha val="20000"/>
            </a:srgbClr>
          </a:solidFill>
        </a:fill>
      </a:tcStyle>
    </a:wholeTbl>
    <a:band2H>
      <a:tcTxStyle/>
      <a:tcStyle>
        <a:tcBdr/>
        <a:fill>
          <a:solidFill>
            <a:srgbClr val="FFFFFF"/>
          </a:solidFill>
        </a:fill>
      </a:tcStyle>
    </a:band2H>
    <a:firstCol>
      <a:tcTxStyle b="on" i="on">
        <a:font>
          <a:latin typeface="Calibri"/>
          <a:ea typeface="Calibri"/>
          <a:cs typeface="Calibri"/>
        </a:font>
        <a:srgbClr val="000000"/>
      </a:tcTxStyle>
      <a:tcStyle>
        <a:tcBdr>
          <a:left>
            <a:ln w="12700" cap="flat">
              <a:solidFill>
                <a:srgbClr val="000000"/>
              </a:solidFill>
              <a:prstDash val="solid"/>
              <a:bevel/>
            </a:ln>
          </a:left>
          <a:right>
            <a:ln w="12700" cap="flat">
              <a:solidFill>
                <a:srgbClr val="000000"/>
              </a:solidFill>
              <a:prstDash val="solid"/>
              <a:bevel/>
            </a:ln>
          </a:right>
          <a:top>
            <a:ln w="12700" cap="flat">
              <a:solidFill>
                <a:srgbClr val="000000"/>
              </a:solidFill>
              <a:prstDash val="solid"/>
              <a:bevel/>
            </a:ln>
          </a:top>
          <a:bottom>
            <a:ln w="12700" cap="flat">
              <a:solidFill>
                <a:srgbClr val="000000"/>
              </a:solidFill>
              <a:prstDash val="solid"/>
              <a:bevel/>
            </a:ln>
          </a:bottom>
          <a:insideH>
            <a:ln w="12700" cap="flat">
              <a:solidFill>
                <a:srgbClr val="000000"/>
              </a:solidFill>
              <a:prstDash val="solid"/>
              <a:bevel/>
            </a:ln>
          </a:insideH>
          <a:insideV>
            <a:ln w="12700" cap="flat">
              <a:solidFill>
                <a:srgbClr val="000000"/>
              </a:solidFill>
              <a:prstDash val="solid"/>
              <a:bevel/>
            </a:ln>
          </a:insideV>
        </a:tcBdr>
        <a:fill>
          <a:solidFill>
            <a:srgbClr val="000000">
              <a:alpha val="20000"/>
            </a:srgbClr>
          </a:solidFill>
        </a:fill>
      </a:tcStyle>
    </a:firstCol>
    <a:lastRow>
      <a:tcTxStyle b="on" i="on">
        <a:font>
          <a:latin typeface="Calibri"/>
          <a:ea typeface="Calibri"/>
          <a:cs typeface="Calibri"/>
        </a:font>
        <a:srgbClr val="000000"/>
      </a:tcTxStyle>
      <a:tcStyle>
        <a:tcBdr>
          <a:left>
            <a:ln w="12700" cap="flat">
              <a:solidFill>
                <a:srgbClr val="000000"/>
              </a:solidFill>
              <a:prstDash val="solid"/>
              <a:bevel/>
            </a:ln>
          </a:left>
          <a:right>
            <a:ln w="12700" cap="flat">
              <a:solidFill>
                <a:srgbClr val="000000"/>
              </a:solidFill>
              <a:prstDash val="solid"/>
              <a:bevel/>
            </a:ln>
          </a:right>
          <a:top>
            <a:ln w="50800" cap="flat">
              <a:solidFill>
                <a:srgbClr val="000000"/>
              </a:solidFill>
              <a:prstDash val="solid"/>
              <a:bevel/>
            </a:ln>
          </a:top>
          <a:bottom>
            <a:ln w="12700" cap="flat">
              <a:solidFill>
                <a:srgbClr val="000000"/>
              </a:solidFill>
              <a:prstDash val="solid"/>
              <a:bevel/>
            </a:ln>
          </a:bottom>
          <a:insideH>
            <a:ln w="12700" cap="flat">
              <a:solidFill>
                <a:srgbClr val="000000"/>
              </a:solidFill>
              <a:prstDash val="solid"/>
              <a:bevel/>
            </a:ln>
          </a:insideH>
          <a:insideV>
            <a:ln w="12700" cap="flat">
              <a:solidFill>
                <a:srgbClr val="000000"/>
              </a:solidFill>
              <a:prstDash val="solid"/>
              <a:bevel/>
            </a:ln>
          </a:insideV>
        </a:tcBdr>
        <a:fill>
          <a:noFill/>
        </a:fill>
      </a:tcStyle>
    </a:lastRow>
    <a:firstRow>
      <a:tcTxStyle b="on" i="on">
        <a:font>
          <a:latin typeface="Calibri"/>
          <a:ea typeface="Calibri"/>
          <a:cs typeface="Calibri"/>
        </a:font>
        <a:srgbClr val="000000"/>
      </a:tcTxStyle>
      <a:tcStyle>
        <a:tcBdr>
          <a:left>
            <a:ln w="12700" cap="flat">
              <a:solidFill>
                <a:srgbClr val="000000"/>
              </a:solidFill>
              <a:prstDash val="solid"/>
              <a:bevel/>
            </a:ln>
          </a:left>
          <a:right>
            <a:ln w="12700" cap="flat">
              <a:solidFill>
                <a:srgbClr val="000000"/>
              </a:solidFill>
              <a:prstDash val="solid"/>
              <a:bevel/>
            </a:ln>
          </a:right>
          <a:top>
            <a:ln w="12700" cap="flat">
              <a:solidFill>
                <a:srgbClr val="000000"/>
              </a:solidFill>
              <a:prstDash val="solid"/>
              <a:bevel/>
            </a:ln>
          </a:top>
          <a:bottom>
            <a:ln w="25400" cap="flat">
              <a:solidFill>
                <a:srgbClr val="000000"/>
              </a:solidFill>
              <a:prstDash val="solid"/>
              <a:bevel/>
            </a:ln>
          </a:bottom>
          <a:insideH>
            <a:ln w="12700" cap="flat">
              <a:solidFill>
                <a:srgbClr val="000000"/>
              </a:solidFill>
              <a:prstDash val="solid"/>
              <a:bevel/>
            </a:ln>
          </a:insideH>
          <a:insideV>
            <a:ln w="12700" cap="flat">
              <a:solidFill>
                <a:srgbClr val="000000"/>
              </a:solidFill>
              <a:prstDash val="solid"/>
              <a:bevel/>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22" d="100"/>
          <a:sy n="122" d="100"/>
        </p:scale>
        <p:origin x="1293" y="69"/>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6" name="Shape 46"/>
          <p:cNvSpPr>
            <a:spLocks noGrp="1" noRot="1" noChangeAspect="1"/>
          </p:cNvSpPr>
          <p:nvPr>
            <p:ph type="sldImg"/>
          </p:nvPr>
        </p:nvSpPr>
        <p:spPr>
          <a:xfrm>
            <a:off x="1143000" y="685800"/>
            <a:ext cx="4572000" cy="3429000"/>
          </a:xfrm>
          <a:prstGeom prst="rect">
            <a:avLst/>
          </a:prstGeom>
        </p:spPr>
        <p:txBody>
          <a:bodyPr/>
          <a:lstStyle/>
          <a:p>
            <a:pPr lvl="0"/>
            <a:endParaRPr/>
          </a:p>
        </p:txBody>
      </p:sp>
      <p:sp>
        <p:nvSpPr>
          <p:cNvPr id="47" name="Shape 47"/>
          <p:cNvSpPr>
            <a:spLocks noGrp="1"/>
          </p:cNvSpPr>
          <p:nvPr>
            <p:ph type="body" sz="quarter" idx="1"/>
          </p:nvPr>
        </p:nvSpPr>
        <p:spPr>
          <a:xfrm>
            <a:off x="914400" y="4343400"/>
            <a:ext cx="5029200" cy="4114800"/>
          </a:xfrm>
          <a:prstGeom prst="rect">
            <a:avLst/>
          </a:prstGeom>
        </p:spPr>
        <p:txBody>
          <a:bodyPr/>
          <a:lstStyle/>
          <a:p>
            <a:pPr lvl="0"/>
            <a:endParaRPr/>
          </a:p>
        </p:txBody>
      </p:sp>
    </p:spTree>
    <p:extLst>
      <p:ext uri="{BB962C8B-B14F-4D97-AF65-F5344CB8AC3E}">
        <p14:creationId xmlns:p14="http://schemas.microsoft.com/office/powerpoint/2010/main" val="3954538669"/>
      </p:ext>
    </p:extLst>
  </p:cSld>
  <p:clrMap bg1="lt1" tx1="dk1" bg2="lt2" tx2="dk2" accent1="accent1" accent2="accent2" accent3="accent3" accent4="accent4" accent5="accent5" accent6="accent6" hlink="hlink" folHlink="folHlink"/>
  <p:notesStyle>
    <a:lvl1pPr defTabSz="457200">
      <a:lnSpc>
        <a:spcPct val="117999"/>
      </a:lnSpc>
      <a:defRPr sz="2200">
        <a:latin typeface="+mn-lt"/>
        <a:ea typeface="+mn-ea"/>
        <a:cs typeface="+mn-cs"/>
        <a:sym typeface="Helvetica Neue"/>
      </a:defRPr>
    </a:lvl1pPr>
    <a:lvl2pPr indent="228600" defTabSz="457200">
      <a:lnSpc>
        <a:spcPct val="117999"/>
      </a:lnSpc>
      <a:defRPr sz="2200">
        <a:latin typeface="+mn-lt"/>
        <a:ea typeface="+mn-ea"/>
        <a:cs typeface="+mn-cs"/>
        <a:sym typeface="Helvetica Neue"/>
      </a:defRPr>
    </a:lvl2pPr>
    <a:lvl3pPr indent="457200" defTabSz="457200">
      <a:lnSpc>
        <a:spcPct val="117999"/>
      </a:lnSpc>
      <a:defRPr sz="2200">
        <a:latin typeface="+mn-lt"/>
        <a:ea typeface="+mn-ea"/>
        <a:cs typeface="+mn-cs"/>
        <a:sym typeface="Helvetica Neue"/>
      </a:defRPr>
    </a:lvl3pPr>
    <a:lvl4pPr indent="685800" defTabSz="457200">
      <a:lnSpc>
        <a:spcPct val="117999"/>
      </a:lnSpc>
      <a:defRPr sz="2200">
        <a:latin typeface="+mn-lt"/>
        <a:ea typeface="+mn-ea"/>
        <a:cs typeface="+mn-cs"/>
        <a:sym typeface="Helvetica Neue"/>
      </a:defRPr>
    </a:lvl4pPr>
    <a:lvl5pPr indent="914400" defTabSz="457200">
      <a:lnSpc>
        <a:spcPct val="117999"/>
      </a:lnSpc>
      <a:defRPr sz="2200">
        <a:latin typeface="+mn-lt"/>
        <a:ea typeface="+mn-ea"/>
        <a:cs typeface="+mn-cs"/>
        <a:sym typeface="Helvetica Neue"/>
      </a:defRPr>
    </a:lvl5pPr>
    <a:lvl6pPr indent="1143000" defTabSz="457200">
      <a:lnSpc>
        <a:spcPct val="117999"/>
      </a:lnSpc>
      <a:defRPr sz="2200">
        <a:latin typeface="+mn-lt"/>
        <a:ea typeface="+mn-ea"/>
        <a:cs typeface="+mn-cs"/>
        <a:sym typeface="Helvetica Neue"/>
      </a:defRPr>
    </a:lvl6pPr>
    <a:lvl7pPr indent="1371600" defTabSz="457200">
      <a:lnSpc>
        <a:spcPct val="117999"/>
      </a:lnSpc>
      <a:defRPr sz="2200">
        <a:latin typeface="+mn-lt"/>
        <a:ea typeface="+mn-ea"/>
        <a:cs typeface="+mn-cs"/>
        <a:sym typeface="Helvetica Neue"/>
      </a:defRPr>
    </a:lvl7pPr>
    <a:lvl8pPr indent="1600200" defTabSz="457200">
      <a:lnSpc>
        <a:spcPct val="117999"/>
      </a:lnSpc>
      <a:defRPr sz="2200">
        <a:latin typeface="+mn-lt"/>
        <a:ea typeface="+mn-ea"/>
        <a:cs typeface="+mn-cs"/>
        <a:sym typeface="Helvetica Neue"/>
      </a:defRPr>
    </a:lvl8pPr>
    <a:lvl9pPr indent="1828800" defTabSz="457200">
      <a:lnSpc>
        <a:spcPct val="117999"/>
      </a:lnSpc>
      <a:defRPr sz="2200">
        <a:latin typeface="+mn-lt"/>
        <a:ea typeface="+mn-ea"/>
        <a:cs typeface="+mn-cs"/>
        <a:sym typeface="Helvetica Neue"/>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905000"/>
            <a:ext cx="7543800" cy="2593975"/>
          </a:xfrm>
        </p:spPr>
        <p:txBody>
          <a:bodyPr anchor="b"/>
          <a:lstStyle>
            <a:lvl1pPr>
              <a:defRPr sz="6600">
                <a:ln>
                  <a:noFill/>
                </a:ln>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685800" y="4572000"/>
            <a:ext cx="6461760" cy="1066800"/>
          </a:xfrm>
        </p:spPr>
        <p:txBody>
          <a:bodyPr anchor="t">
            <a:normAutofit/>
          </a:bodyPr>
          <a:lstStyle>
            <a:lvl1pPr marL="0" indent="0" algn="l">
              <a:buNone/>
              <a:defRPr sz="20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4AF466F-BDA4-4F18-9C7B-FF0A9A1B0E80}" type="datetime1">
              <a:rPr lang="en-US" smtClean="0"/>
              <a:pPr/>
              <a:t>19/02/2024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lvl="0"/>
            <a:fld id="{86CB4B4D-7CA3-9044-876B-883B54F8677D}"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CEF607B-A47E-422C-9BEF-122CCDB7C526}" type="datetime1">
              <a:rPr lang="en-US" smtClean="0"/>
              <a:pPr/>
              <a:t>19/02/2024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lvl="0"/>
            <a:fld id="{86CB4B4D-7CA3-9044-876B-883B54F8677D}"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5486400"/>
            <a:ext cx="7659687" cy="1168400"/>
          </a:xfrm>
        </p:spPr>
        <p:txBody>
          <a:bodyPr anchor="t"/>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722313" y="3852863"/>
            <a:ext cx="6135687" cy="163353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A9A7CB-BEE6-4F99-898E-913F06E8E125}" type="datetime1">
              <a:rPr lang="en-US" smtClean="0"/>
              <a:pPr/>
              <a:t>19/02/2024</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lvl="0"/>
            <a:fld id="{86CB4B4D-7CA3-9044-876B-883B54F8677D}"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96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EE300C-6FC5-4FC3-AF1A-075E4F50620D}" type="datetime1">
              <a:rPr lang="en-US" smtClean="0"/>
              <a:pPr/>
              <a:t>19/02/2024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lvl="0"/>
            <a:fld id="{86CB4B4D-7CA3-9044-876B-883B54F8677D}"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4196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4196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50D295D-4A77-4DEB-B04C-9F4282A8BC04}" type="datetime1">
              <a:rPr lang="en-US" smtClean="0"/>
              <a:pPr/>
              <a:t>19/02/2024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pPr lvl="0"/>
            <a:fld id="{86CB4B4D-7CA3-9044-876B-883B54F8677D}"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2B28685-4D0C-42D5-8013-B5904CD1FCBC}" type="datetime1">
              <a:rPr lang="en-US" smtClean="0"/>
              <a:pPr/>
              <a:t>19/02/2024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pPr lvl="0"/>
            <a:fld id="{86CB4B4D-7CA3-9044-876B-883B54F8677D}"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DF226C0-9885-4BA9-BBFA-A52CBFEBB775}" type="datetime1">
              <a:rPr lang="en-US" smtClean="0"/>
              <a:pPr/>
              <a:t>19/02/2024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pPr lvl="0"/>
            <a:fld id="{86CB4B4D-7CA3-9044-876B-883B54F8677D}"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1" y="5495544"/>
            <a:ext cx="7772400" cy="594360"/>
          </a:xfrm>
        </p:spPr>
        <p:txBody>
          <a:bodyPr anchor="b"/>
          <a:lstStyle>
            <a:lvl1pPr algn="ctr">
              <a:defRPr sz="2200" b="1"/>
            </a:lvl1pPr>
          </a:lstStyle>
          <a:p>
            <a:r>
              <a:rPr lang="en-US"/>
              <a:t>Click to edit Master title style</a:t>
            </a:r>
            <a:endParaRPr lang="en-US" dirty="0"/>
          </a:p>
        </p:txBody>
      </p:sp>
      <p:sp>
        <p:nvSpPr>
          <p:cNvPr id="4" name="Text Placeholder 3"/>
          <p:cNvSpPr>
            <a:spLocks noGrp="1"/>
          </p:cNvSpPr>
          <p:nvPr>
            <p:ph type="body" sz="half" idx="2"/>
          </p:nvPr>
        </p:nvSpPr>
        <p:spPr>
          <a:xfrm>
            <a:off x="304799" y="6096000"/>
            <a:ext cx="7772401" cy="6096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BEE1B38-C5EB-4D66-9137-0AFE9CDEDE8F}" type="datetime1">
              <a:rPr lang="en-US" smtClean="0"/>
              <a:pPr/>
              <a:t>19/02/2024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lvl="0"/>
            <a:fld id="{86CB4B4D-7CA3-9044-876B-883B54F8677D}" type="slidenum">
              <a:rPr lang="en-US" smtClean="0"/>
              <a:t>‹#›</a:t>
            </a:fld>
            <a:endParaRPr lang="en-US"/>
          </a:p>
        </p:txBody>
      </p:sp>
      <p:sp>
        <p:nvSpPr>
          <p:cNvPr id="9" name="Content Placeholder 8"/>
          <p:cNvSpPr>
            <a:spLocks noGrp="1"/>
          </p:cNvSpPr>
          <p:nvPr>
            <p:ph sz="quarter" idx="13"/>
          </p:nvPr>
        </p:nvSpPr>
        <p:spPr>
          <a:xfrm>
            <a:off x="304800" y="381000"/>
            <a:ext cx="7772400" cy="49428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1752" y="5495278"/>
            <a:ext cx="7772400" cy="594626"/>
          </a:xfrm>
        </p:spPr>
        <p:txBody>
          <a:bodyPr anchor="b"/>
          <a:lstStyle>
            <a:lvl1pPr algn="ctr">
              <a:defRPr sz="2200" b="1">
                <a:ln>
                  <a:noFill/>
                </a:ln>
                <a:solidFill>
                  <a:schemeClr val="tx2"/>
                </a:solidFill>
              </a:defRPr>
            </a:lvl1pPr>
          </a:lstStyle>
          <a:p>
            <a:r>
              <a:rPr lang="en-US"/>
              <a:t>Click to edit Master title style</a:t>
            </a:r>
            <a:endParaRPr lang="en-US" dirty="0"/>
          </a:p>
        </p:txBody>
      </p:sp>
      <p:sp>
        <p:nvSpPr>
          <p:cNvPr id="3" name="Picture Placeholder 2"/>
          <p:cNvSpPr>
            <a:spLocks noGrp="1"/>
          </p:cNvSpPr>
          <p:nvPr>
            <p:ph type="pic" idx="1"/>
          </p:nvPr>
        </p:nvSpPr>
        <p:spPr>
          <a:xfrm>
            <a:off x="0" y="0"/>
            <a:ext cx="84582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301752" y="6096000"/>
            <a:ext cx="7772400" cy="612648"/>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327B613C-1AD7-49D3-885D-F654C5CDBAA6}" type="datetime1">
              <a:rPr lang="en-US" smtClean="0"/>
              <a:pPr/>
              <a:t>19/02/2024</a:t>
            </a:fld>
            <a:endParaRPr lang="en-US" dirty="0"/>
          </a:p>
        </p:txBody>
      </p:sp>
      <p:sp>
        <p:nvSpPr>
          <p:cNvPr id="9" name="Slide Number Placeholder 8"/>
          <p:cNvSpPr>
            <a:spLocks noGrp="1"/>
          </p:cNvSpPr>
          <p:nvPr>
            <p:ph type="sldNum" sz="quarter" idx="11"/>
          </p:nvPr>
        </p:nvSpPr>
        <p:spPr/>
        <p:txBody>
          <a:bodyPr/>
          <a:lstStyle/>
          <a:p>
            <a:pPr lvl="0"/>
            <a:fld id="{86CB4B4D-7CA3-9044-876B-883B54F8677D}" type="slidenum">
              <a:rPr lang="en-US" smtClean="0"/>
              <a:t>‹#›</a:t>
            </a:fld>
            <a:endParaRPr lang="en-US"/>
          </a:p>
        </p:txBody>
      </p:sp>
      <p:sp>
        <p:nvSpPr>
          <p:cNvPr id="10" name="Footer Placeholder 9"/>
          <p:cNvSpPr>
            <a:spLocks noGrp="1"/>
          </p:cNvSpPr>
          <p:nvPr>
            <p:ph type="ftr" sz="quarter" idx="12"/>
          </p:nvPr>
        </p:nvSpPr>
        <p:spPr/>
        <p:txBody>
          <a:bodyPr/>
          <a:lstStyle/>
          <a:p>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8FB4290-6522-4139-852E-05BD9E7F0D2E}" type="datetime1">
              <a:rPr lang="en-US" smtClean="0"/>
              <a:pPr/>
              <a:t>19/02/2024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lvl="0"/>
            <a:fld id="{86CB4B4D-7CA3-9044-876B-883B54F8677D}"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1752600" cy="58515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AB955F9-81EA-47C5-8059-9E5C2B437C70}" type="datetime1">
              <a:rPr lang="en-US" smtClean="0"/>
              <a:pPr/>
              <a:t>19/02/2024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lvl="0"/>
            <a:fld id="{86CB4B4D-7CA3-9044-876B-883B54F8677D}"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7620000" cy="1143000"/>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7620000" cy="4800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8458200" y="0"/>
            <a:ext cx="6858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8458200" y="5486400"/>
            <a:ext cx="685800" cy="685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4"/>
          </p:nvPr>
        </p:nvSpPr>
        <p:spPr>
          <a:xfrm>
            <a:off x="8531788" y="5648960"/>
            <a:ext cx="548640" cy="396240"/>
          </a:xfrm>
          <a:prstGeom prst="bracketPair">
            <a:avLst>
              <a:gd name="adj" fmla="val 17949"/>
            </a:avLst>
          </a:prstGeom>
          <a:ln w="19050">
            <a:solidFill>
              <a:srgbClr val="FFFFFF"/>
            </a:solidFill>
          </a:ln>
        </p:spPr>
        <p:txBody>
          <a:bodyPr vert="horz" lIns="0" tIns="0" rIns="0" bIns="0" rtlCol="0" anchor="ctr"/>
          <a:lstStyle>
            <a:lvl1pPr algn="ctr">
              <a:defRPr sz="1800">
                <a:solidFill>
                  <a:srgbClr val="FFFFFF"/>
                </a:solidFill>
              </a:defRPr>
            </a:lvl1pPr>
          </a:lstStyle>
          <a:p>
            <a:pPr lvl="0"/>
            <a:fld id="{86CB4B4D-7CA3-9044-876B-883B54F8677D}" type="slidenum">
              <a:rPr lang="en-US" smtClean="0"/>
              <a:t>‹#›</a:t>
            </a:fld>
            <a:endParaRPr lang="en-US"/>
          </a:p>
        </p:txBody>
      </p:sp>
      <p:sp>
        <p:nvSpPr>
          <p:cNvPr id="5" name="Footer Placeholder 4"/>
          <p:cNvSpPr>
            <a:spLocks noGrp="1"/>
          </p:cNvSpPr>
          <p:nvPr>
            <p:ph type="ftr" sz="quarter" idx="3"/>
          </p:nvPr>
        </p:nvSpPr>
        <p:spPr>
          <a:xfrm rot="16200000">
            <a:off x="7586910" y="4048760"/>
            <a:ext cx="2367281" cy="365760"/>
          </a:xfrm>
          <a:prstGeom prst="rect">
            <a:avLst/>
          </a:prstGeom>
        </p:spPr>
        <p:txBody>
          <a:bodyPr vert="horz" lIns="91440" tIns="45720" rIns="91440" bIns="45720" rtlCol="0" anchor="ctr"/>
          <a:lstStyle>
            <a:lvl1pPr algn="r">
              <a:defRPr sz="1200">
                <a:solidFill>
                  <a:schemeClr val="bg2"/>
                </a:solidFill>
              </a:defRPr>
            </a:lvl1pPr>
          </a:lstStyle>
          <a:p>
            <a:endParaRPr lang="en-US" dirty="0"/>
          </a:p>
        </p:txBody>
      </p:sp>
      <p:sp>
        <p:nvSpPr>
          <p:cNvPr id="4" name="Date Placeholder 3"/>
          <p:cNvSpPr>
            <a:spLocks noGrp="1"/>
          </p:cNvSpPr>
          <p:nvPr>
            <p:ph type="dt" sz="half" idx="2"/>
          </p:nvPr>
        </p:nvSpPr>
        <p:spPr>
          <a:xfrm rot="16200000">
            <a:off x="7551351" y="1645920"/>
            <a:ext cx="2438399" cy="365760"/>
          </a:xfrm>
          <a:prstGeom prst="rect">
            <a:avLst/>
          </a:prstGeom>
        </p:spPr>
        <p:txBody>
          <a:bodyPr vert="horz" lIns="91440" tIns="45720" rIns="91440" bIns="45720" rtlCol="0" anchor="ctr"/>
          <a:lstStyle>
            <a:lvl1pPr algn="l">
              <a:defRPr sz="1200">
                <a:solidFill>
                  <a:schemeClr val="bg2"/>
                </a:solidFill>
              </a:defRPr>
            </a:lvl1pPr>
          </a:lstStyle>
          <a:p>
            <a:fld id="{327B613C-1AD7-49D3-885D-F654C5CDBAA6}" type="datetime1">
              <a:rPr lang="en-US" smtClean="0"/>
              <a:pPr/>
              <a:t>19/02/2024</a:t>
            </a:fld>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p:titleStyle>
    <p:body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19200" y="1752600"/>
            <a:ext cx="6324600" cy="1427314"/>
          </a:xfrm>
          <a:prstGeom prst="rect">
            <a:avLst/>
          </a:prstGeom>
        </p:spPr>
        <p:txBody>
          <a:bodyPr vert="horz" wrap="square" lIns="0" tIns="11430" rIns="0" bIns="0" rtlCol="0">
            <a:spAutoFit/>
          </a:bodyPr>
          <a:lstStyle/>
          <a:p>
            <a:pPr marL="12700" algn="ctr">
              <a:lnSpc>
                <a:spcPct val="100000"/>
              </a:lnSpc>
              <a:spcBef>
                <a:spcPts val="90"/>
              </a:spcBef>
            </a:pPr>
            <a:r>
              <a:rPr lang="en-US" b="1" spc="-5" dirty="0">
                <a:solidFill>
                  <a:srgbClr val="FF0000"/>
                </a:solidFill>
                <a:latin typeface="Candara" panose="020E0502030303020204" pitchFamily="34" charset="0"/>
              </a:rPr>
              <a:t>Embryology</a:t>
            </a:r>
            <a:br>
              <a:rPr lang="en-US" b="1" spc="-5" dirty="0">
                <a:solidFill>
                  <a:srgbClr val="FF0000"/>
                </a:solidFill>
                <a:latin typeface="Candara" panose="020E0502030303020204" pitchFamily="34" charset="0"/>
              </a:rPr>
            </a:br>
            <a:r>
              <a:rPr b="1" spc="-5" dirty="0">
                <a:solidFill>
                  <a:srgbClr val="FF0000"/>
                </a:solidFill>
                <a:latin typeface="Candara" panose="020E0502030303020204" pitchFamily="34" charset="0"/>
              </a:rPr>
              <a:t>Digestive</a:t>
            </a:r>
            <a:r>
              <a:rPr b="1" spc="-10" dirty="0">
                <a:solidFill>
                  <a:srgbClr val="FF0000"/>
                </a:solidFill>
                <a:latin typeface="Candara" panose="020E0502030303020204" pitchFamily="34" charset="0"/>
              </a:rPr>
              <a:t> system</a:t>
            </a:r>
            <a:r>
              <a:rPr lang="en-US" b="1" spc="-10" dirty="0">
                <a:solidFill>
                  <a:srgbClr val="FF0000"/>
                </a:solidFill>
                <a:latin typeface="Candara" panose="020E0502030303020204" pitchFamily="34" charset="0"/>
              </a:rPr>
              <a:t> – Part 2</a:t>
            </a:r>
            <a:endParaRPr b="1" spc="-10" dirty="0">
              <a:solidFill>
                <a:srgbClr val="FF0000"/>
              </a:solidFill>
              <a:latin typeface="Candara" panose="020E0502030303020204" pitchFamily="34" charset="0"/>
            </a:endParaRPr>
          </a:p>
        </p:txBody>
      </p:sp>
      <p:sp>
        <p:nvSpPr>
          <p:cNvPr id="4" name="TextBox 3">
            <a:extLst>
              <a:ext uri="{FF2B5EF4-FFF2-40B4-BE49-F238E27FC236}">
                <a16:creationId xmlns:a16="http://schemas.microsoft.com/office/drawing/2014/main" id="{93EF3BEC-C583-EA3E-7194-422D69A19286}"/>
              </a:ext>
            </a:extLst>
          </p:cNvPr>
          <p:cNvSpPr txBox="1"/>
          <p:nvPr/>
        </p:nvSpPr>
        <p:spPr>
          <a:xfrm>
            <a:off x="2133600" y="3505200"/>
            <a:ext cx="4876800" cy="1569660"/>
          </a:xfrm>
          <a:prstGeom prst="rect">
            <a:avLst/>
          </a:prstGeom>
          <a:noFill/>
        </p:spPr>
        <p:txBody>
          <a:bodyPr wrap="square">
            <a:spAutoFit/>
          </a:bodyPr>
          <a:lstStyle/>
          <a:p>
            <a:pPr algn="ctr"/>
            <a:r>
              <a:rPr lang="en-US" sz="2400" b="1" dirty="0">
                <a:latin typeface="+mj-lt"/>
              </a:rPr>
              <a:t>Dr. Aso Ahmad Abdulla</a:t>
            </a:r>
          </a:p>
          <a:p>
            <a:pPr algn="ctr"/>
            <a:r>
              <a:rPr lang="en-US" dirty="0"/>
              <a:t>Board Certified General and Laparoscopic Surgeon</a:t>
            </a:r>
          </a:p>
          <a:p>
            <a:pPr algn="ctr"/>
            <a:r>
              <a:rPr lang="en-US" dirty="0"/>
              <a:t>FIBMS, MBChB</a:t>
            </a:r>
          </a:p>
          <a:p>
            <a:pPr algn="ctr"/>
            <a:r>
              <a:rPr lang="en-US" dirty="0"/>
              <a:t>College of Medicine</a:t>
            </a:r>
          </a:p>
          <a:p>
            <a:pPr algn="ctr"/>
            <a:r>
              <a:rPr lang="en-US" dirty="0"/>
              <a:t>University of </a:t>
            </a:r>
            <a:r>
              <a:rPr lang="en-US" dirty="0" err="1"/>
              <a:t>Garmian</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Shape 52"/>
          <p:cNvSpPr>
            <a:spLocks noGrp="1"/>
          </p:cNvSpPr>
          <p:nvPr>
            <p:ph type="title"/>
          </p:nvPr>
        </p:nvSpPr>
        <p:spPr>
          <a:prstGeom prst="rect">
            <a:avLst/>
          </a:prstGeom>
        </p:spPr>
        <p:txBody>
          <a:bodyPr/>
          <a:lstStyle/>
          <a:p>
            <a:pPr lvl="0">
              <a:defRPr sz="1800"/>
            </a:pPr>
            <a:r>
              <a:rPr sz="4400" dirty="0">
                <a:solidFill>
                  <a:srgbClr val="FF0000"/>
                </a:solidFill>
              </a:rPr>
              <a:t>Midgut</a:t>
            </a:r>
            <a:r>
              <a:rPr sz="4400" dirty="0"/>
              <a:t> </a:t>
            </a:r>
          </a:p>
        </p:txBody>
      </p:sp>
      <p:sp>
        <p:nvSpPr>
          <p:cNvPr id="53" name="Shape 53"/>
          <p:cNvSpPr>
            <a:spLocks noGrp="1"/>
          </p:cNvSpPr>
          <p:nvPr>
            <p:ph idx="1"/>
          </p:nvPr>
        </p:nvSpPr>
        <p:spPr>
          <a:prstGeom prst="rect">
            <a:avLst/>
          </a:prstGeom>
        </p:spPr>
        <p:txBody>
          <a:bodyPr>
            <a:normAutofit lnSpcReduction="10000"/>
          </a:bodyPr>
          <a:lstStyle/>
          <a:p>
            <a:pPr marL="264032" lvl="0" indent="-264032" defTabSz="704087">
              <a:spcBef>
                <a:spcPts val="500"/>
              </a:spcBef>
              <a:defRPr sz="1800"/>
            </a:pPr>
            <a:r>
              <a:rPr sz="2464" dirty="0"/>
              <a:t>from distal to liver outgrowth in duodenum to the junction of right 2/3 with left 1/3 of transverse colon </a:t>
            </a:r>
          </a:p>
          <a:p>
            <a:pPr marL="264032" lvl="0" indent="-264032" defTabSz="704087">
              <a:spcBef>
                <a:spcPts val="500"/>
              </a:spcBef>
              <a:defRPr sz="1800"/>
            </a:pPr>
            <a:r>
              <a:rPr sz="2464" dirty="0"/>
              <a:t>suspended with </a:t>
            </a:r>
            <a:r>
              <a:rPr sz="2464" dirty="0">
                <a:solidFill>
                  <a:srgbClr val="941100"/>
                </a:solidFill>
              </a:rPr>
              <a:t>dorsal mesentery</a:t>
            </a:r>
            <a:r>
              <a:rPr sz="2464" dirty="0"/>
              <a:t> from posterior abdominal wall</a:t>
            </a:r>
          </a:p>
          <a:p>
            <a:pPr marL="264032" lvl="0" indent="-264032" defTabSz="704087">
              <a:spcBef>
                <a:spcPts val="500"/>
              </a:spcBef>
              <a:defRPr sz="1800"/>
            </a:pPr>
            <a:r>
              <a:rPr sz="2464" dirty="0"/>
              <a:t>communicate with a yolk sac through a </a:t>
            </a:r>
            <a:r>
              <a:rPr sz="2464" dirty="0" err="1"/>
              <a:t>vitelline</a:t>
            </a:r>
            <a:r>
              <a:rPr sz="2464" dirty="0"/>
              <a:t> duct</a:t>
            </a:r>
          </a:p>
          <a:p>
            <a:pPr marL="264032" lvl="0" indent="-264032" defTabSz="704087">
              <a:spcBef>
                <a:spcPts val="500"/>
              </a:spcBef>
              <a:defRPr sz="1800"/>
            </a:pPr>
            <a:r>
              <a:rPr sz="2464" dirty="0"/>
              <a:t>supplied by </a:t>
            </a:r>
            <a:r>
              <a:rPr sz="2464" dirty="0">
                <a:solidFill>
                  <a:srgbClr val="941100"/>
                </a:solidFill>
              </a:rPr>
              <a:t>superior mesenteric artery</a:t>
            </a:r>
            <a:r>
              <a:rPr sz="2464" dirty="0"/>
              <a:t> and </a:t>
            </a:r>
          </a:p>
          <a:p>
            <a:pPr marL="264032" lvl="0" indent="-264032" defTabSz="704087">
              <a:spcBef>
                <a:spcPts val="500"/>
              </a:spcBef>
              <a:defRPr sz="1800"/>
            </a:pPr>
            <a:r>
              <a:rPr sz="2464" dirty="0"/>
              <a:t>superior mesenteric artery divide midgut into 2 parts </a:t>
            </a:r>
          </a:p>
          <a:p>
            <a:pPr marL="264032" lvl="0" indent="-264032" defTabSz="704087">
              <a:spcBef>
                <a:spcPts val="500"/>
              </a:spcBef>
              <a:defRPr sz="1800"/>
            </a:pPr>
            <a:r>
              <a:rPr sz="2464" dirty="0">
                <a:solidFill>
                  <a:srgbClr val="941100"/>
                </a:solidFill>
              </a:rPr>
              <a:t>1- pre-artery (proximal segment):</a:t>
            </a:r>
            <a:r>
              <a:rPr sz="2464" dirty="0"/>
              <a:t> distal part of duodenum, jejunum and ileum</a:t>
            </a:r>
          </a:p>
          <a:p>
            <a:pPr marL="264032" lvl="0" indent="-264032" defTabSz="704087">
              <a:spcBef>
                <a:spcPts val="500"/>
              </a:spcBef>
              <a:defRPr sz="1800"/>
            </a:pPr>
            <a:r>
              <a:rPr sz="2464" dirty="0">
                <a:solidFill>
                  <a:srgbClr val="941100"/>
                </a:solidFill>
              </a:rPr>
              <a:t>2- post-artery(distal segment): </a:t>
            </a:r>
            <a:r>
              <a:rPr sz="2464" dirty="0"/>
              <a:t>terminal part of ileum, caecum, appendix, ascending colon, right2/3 of transverse colon</a:t>
            </a:r>
          </a:p>
        </p:txBody>
      </p:sp>
      <p:sp>
        <p:nvSpPr>
          <p:cNvPr id="54" name="Shape 54"/>
          <p:cNvSpPr>
            <a:spLocks noGrp="1"/>
          </p:cNvSpPr>
          <p:nvPr>
            <p:ph type="sldNum" sz="quarter" idx="12"/>
          </p:nvPr>
        </p:nvSpPr>
        <p:spPr>
          <a:prstGeom prst="rect">
            <a:avLst/>
          </a:prstGeom>
          <a:extLst>
            <a:ext uri="{C572A759-6A51-4108-AA02-DFA0A04FC94B}">
              <ma14:wrappingTextBoxFlag xmlns="" xmlns:ma14="http://schemas.microsoft.com/office/mac/drawingml/2011/main" val="1"/>
            </a:ext>
          </a:extLst>
        </p:spPr>
        <p:txBody>
          <a:bodyPr/>
          <a:lstStyle/>
          <a:p>
            <a:pPr lvl="0">
              <a:defRPr sz="1800">
                <a:solidFill>
                  <a:srgbClr val="000000"/>
                </a:solidFill>
              </a:defRPr>
            </a:pPr>
            <a:fld id="{86CB4B4D-7CA3-9044-876B-883B54F8677D}" type="slidenum">
              <a:rPr sz="1200">
                <a:solidFill>
                  <a:srgbClr val="888888"/>
                </a:solidFill>
              </a:rPr>
              <a:t>2</a:t>
            </a:fld>
            <a:endParaRPr sz="1200">
              <a:solidFill>
                <a:srgbClr val="888888"/>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Shape 56"/>
          <p:cNvSpPr>
            <a:spLocks noGrp="1"/>
          </p:cNvSpPr>
          <p:nvPr>
            <p:ph type="title"/>
          </p:nvPr>
        </p:nvSpPr>
        <p:spPr>
          <a:prstGeom prst="rect">
            <a:avLst/>
          </a:prstGeom>
        </p:spPr>
        <p:txBody>
          <a:bodyPr/>
          <a:lstStyle/>
          <a:p>
            <a:pPr lvl="0">
              <a:defRPr sz="1800"/>
            </a:pPr>
            <a:r>
              <a:rPr sz="4400"/>
              <a:t>Physiological umbilical hernia</a:t>
            </a:r>
          </a:p>
        </p:txBody>
      </p:sp>
      <p:sp>
        <p:nvSpPr>
          <p:cNvPr id="57" name="Shape 57"/>
          <p:cNvSpPr>
            <a:spLocks noGrp="1"/>
          </p:cNvSpPr>
          <p:nvPr>
            <p:ph idx="1"/>
          </p:nvPr>
        </p:nvSpPr>
        <p:spPr>
          <a:prstGeom prst="rect">
            <a:avLst/>
          </a:prstGeom>
        </p:spPr>
        <p:txBody>
          <a:bodyPr>
            <a:normAutofit fontScale="92500" lnSpcReduction="10000"/>
          </a:bodyPr>
          <a:lstStyle/>
          <a:p>
            <a:pPr lvl="0">
              <a:defRPr sz="1800"/>
            </a:pPr>
            <a:r>
              <a:rPr lang="en-US" sz="3200" dirty="0"/>
              <a:t>I</a:t>
            </a:r>
            <a:r>
              <a:rPr sz="3200" dirty="0"/>
              <a:t>t's a natural, </a:t>
            </a:r>
            <a:r>
              <a:rPr sz="3200" dirty="0">
                <a:solidFill>
                  <a:srgbClr val="941100"/>
                </a:solidFill>
              </a:rPr>
              <a:t>normal phenomenon</a:t>
            </a:r>
            <a:endParaRPr sz="3200" dirty="0"/>
          </a:p>
          <a:p>
            <a:pPr lvl="0">
              <a:defRPr sz="1800"/>
            </a:pPr>
            <a:r>
              <a:rPr lang="en-US" sz="3200" dirty="0"/>
              <a:t>I</a:t>
            </a:r>
            <a:r>
              <a:rPr sz="3200" dirty="0"/>
              <a:t>t's the protrusion of midgut loop outside abdominal cavity through umbilical opening </a:t>
            </a:r>
          </a:p>
          <a:p>
            <a:pPr lvl="0">
              <a:defRPr sz="1800"/>
            </a:pPr>
            <a:r>
              <a:rPr lang="en-US" sz="3200" dirty="0"/>
              <a:t>F</a:t>
            </a:r>
            <a:r>
              <a:rPr sz="3200" dirty="0"/>
              <a:t>rom </a:t>
            </a:r>
            <a:r>
              <a:rPr sz="3200" dirty="0">
                <a:solidFill>
                  <a:srgbClr val="941100"/>
                </a:solidFill>
              </a:rPr>
              <a:t>6-12 week</a:t>
            </a:r>
            <a:r>
              <a:rPr sz="3200" dirty="0"/>
              <a:t> of intrauterine life</a:t>
            </a:r>
          </a:p>
          <a:p>
            <a:pPr lvl="0">
              <a:defRPr sz="1800"/>
            </a:pPr>
            <a:r>
              <a:rPr lang="en-US" sz="3200" dirty="0"/>
              <a:t>A</a:t>
            </a:r>
            <a:r>
              <a:rPr sz="3200" dirty="0"/>
              <a:t>bdominal cavity is small to accommodate rapid elongation of gut and increasing size of liver </a:t>
            </a:r>
          </a:p>
          <a:p>
            <a:pPr lvl="0">
              <a:defRPr sz="1800"/>
            </a:pPr>
            <a:r>
              <a:rPr lang="en-US" sz="3200" dirty="0"/>
              <a:t>I</a:t>
            </a:r>
            <a:r>
              <a:rPr sz="3200" dirty="0"/>
              <a:t>ncrease in abdomen size with midgut rotation accommodates midgut in the abdominal cavity </a:t>
            </a:r>
          </a:p>
        </p:txBody>
      </p:sp>
      <p:sp>
        <p:nvSpPr>
          <p:cNvPr id="58" name="Shape 58"/>
          <p:cNvSpPr>
            <a:spLocks noGrp="1"/>
          </p:cNvSpPr>
          <p:nvPr>
            <p:ph type="sldNum" sz="quarter" idx="12"/>
          </p:nvPr>
        </p:nvSpPr>
        <p:spPr>
          <a:prstGeom prst="rect">
            <a:avLst/>
          </a:prstGeom>
          <a:extLst>
            <a:ext uri="{C572A759-6A51-4108-AA02-DFA0A04FC94B}">
              <ma14:wrappingTextBoxFlag xmlns="" xmlns:ma14="http://schemas.microsoft.com/office/mac/drawingml/2011/main" val="1"/>
            </a:ext>
          </a:extLst>
        </p:spPr>
        <p:txBody>
          <a:bodyPr/>
          <a:lstStyle/>
          <a:p>
            <a:pPr lvl="0">
              <a:defRPr sz="1800">
                <a:solidFill>
                  <a:srgbClr val="000000"/>
                </a:solidFill>
              </a:defRPr>
            </a:pPr>
            <a:fld id="{86CB4B4D-7CA3-9044-876B-883B54F8677D}" type="slidenum">
              <a:rPr sz="1200">
                <a:solidFill>
                  <a:srgbClr val="888888"/>
                </a:solidFill>
              </a:rPr>
              <a:t>3</a:t>
            </a:fld>
            <a:endParaRPr sz="1200">
              <a:solidFill>
                <a:srgbClr val="888888"/>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Shape 60"/>
          <p:cNvSpPr>
            <a:spLocks noGrp="1"/>
          </p:cNvSpPr>
          <p:nvPr>
            <p:ph type="title"/>
          </p:nvPr>
        </p:nvSpPr>
        <p:spPr>
          <a:prstGeom prst="rect">
            <a:avLst/>
          </a:prstGeom>
        </p:spPr>
        <p:txBody>
          <a:bodyPr/>
          <a:lstStyle/>
          <a:p>
            <a:pPr lvl="0">
              <a:defRPr sz="1800"/>
            </a:pPr>
            <a:r>
              <a:rPr sz="4400"/>
              <a:t>Rotation of gut</a:t>
            </a:r>
          </a:p>
        </p:txBody>
      </p:sp>
      <p:sp>
        <p:nvSpPr>
          <p:cNvPr id="61" name="Shape 61"/>
          <p:cNvSpPr>
            <a:spLocks noGrp="1"/>
          </p:cNvSpPr>
          <p:nvPr>
            <p:ph idx="1"/>
          </p:nvPr>
        </p:nvSpPr>
        <p:spPr>
          <a:prstGeom prst="rect">
            <a:avLst/>
          </a:prstGeom>
        </p:spPr>
        <p:txBody>
          <a:bodyPr>
            <a:normAutofit fontScale="92500"/>
          </a:bodyPr>
          <a:lstStyle/>
          <a:p>
            <a:pPr marL="308609" lvl="0" indent="-308609" algn="just" defTabSz="822959">
              <a:spcBef>
                <a:spcPts val="600"/>
              </a:spcBef>
              <a:defRPr sz="1800"/>
            </a:pPr>
            <a:r>
              <a:rPr sz="2880" dirty="0"/>
              <a:t>Midgut undergoes </a:t>
            </a:r>
            <a:r>
              <a:rPr sz="2880" dirty="0">
                <a:solidFill>
                  <a:srgbClr val="941100"/>
                </a:solidFill>
              </a:rPr>
              <a:t>270 degree counterclockwise </a:t>
            </a:r>
            <a:r>
              <a:rPr sz="2880" dirty="0"/>
              <a:t>rotation around axis passing trough superior mesenteric artery to accommodate herniated midgut loop in the small abdominal cavity.(physiological umbilical hernia)</a:t>
            </a:r>
          </a:p>
          <a:p>
            <a:pPr marL="308609" lvl="0" indent="-308609" algn="just" defTabSz="822959">
              <a:spcBef>
                <a:spcPts val="600"/>
              </a:spcBef>
              <a:defRPr sz="1800"/>
            </a:pPr>
            <a:r>
              <a:rPr lang="en-US" sz="2880" dirty="0"/>
              <a:t>B</a:t>
            </a:r>
            <a:r>
              <a:rPr sz="2880" dirty="0"/>
              <a:t>efore rotation </a:t>
            </a:r>
            <a:r>
              <a:rPr sz="2880" dirty="0">
                <a:solidFill>
                  <a:srgbClr val="941100"/>
                </a:solidFill>
              </a:rPr>
              <a:t>pre-artery located cranial </a:t>
            </a:r>
            <a:r>
              <a:rPr sz="2880" dirty="0"/>
              <a:t>to the </a:t>
            </a:r>
            <a:r>
              <a:rPr lang="en-US" sz="2880" dirty="0"/>
              <a:t>SMA</a:t>
            </a:r>
            <a:r>
              <a:rPr sz="2880" dirty="0"/>
              <a:t>. in the middle and </a:t>
            </a:r>
            <a:r>
              <a:rPr sz="2880" dirty="0">
                <a:solidFill>
                  <a:srgbClr val="941100"/>
                </a:solidFill>
              </a:rPr>
              <a:t>post-artery located caudal</a:t>
            </a:r>
            <a:r>
              <a:rPr sz="2880" dirty="0"/>
              <a:t> </a:t>
            </a:r>
          </a:p>
          <a:p>
            <a:pPr marL="308609" lvl="0" indent="-308609" algn="just" defTabSz="822959">
              <a:spcBef>
                <a:spcPts val="600"/>
              </a:spcBef>
              <a:defRPr sz="1800"/>
            </a:pPr>
            <a:r>
              <a:rPr sz="2880" dirty="0"/>
              <a:t>rotation of midgut can be </a:t>
            </a:r>
            <a:r>
              <a:rPr sz="2880" dirty="0">
                <a:solidFill>
                  <a:srgbClr val="941100"/>
                </a:solidFill>
              </a:rPr>
              <a:t>divided into 3 stage </a:t>
            </a:r>
            <a:r>
              <a:rPr sz="2880" dirty="0"/>
              <a:t>each 90(first 90 :brings back midgut loop, other 180 : occurs within abdominal cavity)</a:t>
            </a:r>
          </a:p>
        </p:txBody>
      </p:sp>
      <p:sp>
        <p:nvSpPr>
          <p:cNvPr id="62" name="Shape 62"/>
          <p:cNvSpPr>
            <a:spLocks noGrp="1"/>
          </p:cNvSpPr>
          <p:nvPr>
            <p:ph type="sldNum" sz="quarter" idx="12"/>
          </p:nvPr>
        </p:nvSpPr>
        <p:spPr>
          <a:prstGeom prst="rect">
            <a:avLst/>
          </a:prstGeom>
          <a:extLst>
            <a:ext uri="{C572A759-6A51-4108-AA02-DFA0A04FC94B}">
              <ma14:wrappingTextBoxFlag xmlns="" xmlns:ma14="http://schemas.microsoft.com/office/mac/drawingml/2011/main" val="1"/>
            </a:ext>
          </a:extLst>
        </p:spPr>
        <p:txBody>
          <a:bodyPr/>
          <a:lstStyle/>
          <a:p>
            <a:pPr lvl="0">
              <a:defRPr sz="1800">
                <a:solidFill>
                  <a:srgbClr val="000000"/>
                </a:solidFill>
              </a:defRPr>
            </a:pPr>
            <a:fld id="{86CB4B4D-7CA3-9044-876B-883B54F8677D}" type="slidenum">
              <a:rPr sz="1200">
                <a:solidFill>
                  <a:srgbClr val="888888"/>
                </a:solidFill>
              </a:rPr>
              <a:t>4</a:t>
            </a:fld>
            <a:endParaRPr sz="1200">
              <a:solidFill>
                <a:srgbClr val="888888"/>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Shape 64"/>
          <p:cNvSpPr>
            <a:spLocks noGrp="1"/>
          </p:cNvSpPr>
          <p:nvPr>
            <p:ph idx="1"/>
          </p:nvPr>
        </p:nvSpPr>
        <p:spPr>
          <a:xfrm>
            <a:off x="457200" y="341869"/>
            <a:ext cx="8229600" cy="6516131"/>
          </a:xfrm>
          <a:prstGeom prst="rect">
            <a:avLst/>
          </a:prstGeom>
        </p:spPr>
        <p:txBody>
          <a:bodyPr/>
          <a:lstStyle/>
          <a:p>
            <a:pPr marL="342899" lvl="0" indent="-342899">
              <a:defRPr sz="1800"/>
            </a:pPr>
            <a:r>
              <a:rPr sz="2400" dirty="0">
                <a:solidFill>
                  <a:srgbClr val="0433FF"/>
                </a:solidFill>
              </a:rPr>
              <a:t>First 90 counterclockwise</a:t>
            </a:r>
            <a:r>
              <a:rPr sz="2400" dirty="0"/>
              <a:t>, this rotation brings pre-arterial segment on the right side and post-arterial segment on the left side(cecum in left side)</a:t>
            </a:r>
          </a:p>
          <a:p>
            <a:pPr marL="342899" lvl="0" indent="-342899">
              <a:defRPr sz="1800"/>
            </a:pPr>
            <a:r>
              <a:rPr sz="2400" dirty="0">
                <a:solidFill>
                  <a:srgbClr val="0433FF"/>
                </a:solidFill>
              </a:rPr>
              <a:t>Second 90 counterclockwise</a:t>
            </a:r>
            <a:r>
              <a:rPr sz="2400" dirty="0"/>
              <a:t>: pre-arterial segment elongate and form coils of jejunum and ileum and come to lie behind </a:t>
            </a:r>
            <a:r>
              <a:rPr lang="en-US" sz="2400" dirty="0"/>
              <a:t>SMA</a:t>
            </a:r>
            <a:endParaRPr sz="2400" dirty="0"/>
          </a:p>
          <a:p>
            <a:pPr marL="342899" lvl="0" indent="-342899">
              <a:defRPr sz="1800"/>
            </a:pPr>
            <a:r>
              <a:rPr sz="2400" dirty="0">
                <a:solidFill>
                  <a:srgbClr val="0433FF"/>
                </a:solidFill>
              </a:rPr>
              <a:t>Third 90 counterclockwise</a:t>
            </a:r>
            <a:r>
              <a:rPr sz="2400" dirty="0"/>
              <a:t>: post-arterial segment is elongate and bring cecum into right iliac fossa (adult position) and transverse colon crosses the superior mesenteric artery </a:t>
            </a:r>
          </a:p>
        </p:txBody>
      </p:sp>
      <p:sp>
        <p:nvSpPr>
          <p:cNvPr id="65" name="Shape 65"/>
          <p:cNvSpPr>
            <a:spLocks noGrp="1"/>
          </p:cNvSpPr>
          <p:nvPr>
            <p:ph type="sldNum" sz="quarter" idx="12"/>
          </p:nvPr>
        </p:nvSpPr>
        <p:spPr>
          <a:prstGeom prst="rect">
            <a:avLst/>
          </a:prstGeom>
          <a:extLst>
            <a:ext uri="{C572A759-6A51-4108-AA02-DFA0A04FC94B}">
              <ma14:wrappingTextBoxFlag xmlns="" xmlns:ma14="http://schemas.microsoft.com/office/mac/drawingml/2011/main" val="1"/>
            </a:ext>
          </a:extLst>
        </p:spPr>
        <p:txBody>
          <a:bodyPr/>
          <a:lstStyle/>
          <a:p>
            <a:pPr lvl="0">
              <a:defRPr sz="1800">
                <a:solidFill>
                  <a:srgbClr val="000000"/>
                </a:solidFill>
              </a:defRPr>
            </a:pPr>
            <a:fld id="{86CB4B4D-7CA3-9044-876B-883B54F8677D}" type="slidenum">
              <a:rPr sz="1200">
                <a:solidFill>
                  <a:srgbClr val="888888"/>
                </a:solidFill>
              </a:rPr>
              <a:t>5</a:t>
            </a:fld>
            <a:endParaRPr sz="1200">
              <a:solidFill>
                <a:srgbClr val="888888"/>
              </a:solidFill>
            </a:endParaRPr>
          </a:p>
        </p:txBody>
      </p:sp>
      <p:pic>
        <p:nvPicPr>
          <p:cNvPr id="66" name="IMG-2768.jpg"/>
          <p:cNvPicPr/>
          <p:nvPr/>
        </p:nvPicPr>
        <p:blipFill>
          <a:blip r:embed="rId2"/>
          <a:stretch>
            <a:fillRect/>
          </a:stretch>
        </p:blipFill>
        <p:spPr>
          <a:xfrm>
            <a:off x="218119" y="3971063"/>
            <a:ext cx="8965752" cy="2674515"/>
          </a:xfrm>
          <a:prstGeom prst="rect">
            <a:avLst/>
          </a:prstGeom>
          <a:ln w="12700">
            <a:miter lim="400000"/>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Shape 68"/>
          <p:cNvSpPr>
            <a:spLocks noGrp="1"/>
          </p:cNvSpPr>
          <p:nvPr>
            <p:ph type="title"/>
          </p:nvPr>
        </p:nvSpPr>
        <p:spPr>
          <a:prstGeom prst="rect">
            <a:avLst/>
          </a:prstGeom>
        </p:spPr>
        <p:txBody>
          <a:bodyPr/>
          <a:lstStyle/>
          <a:p>
            <a:pPr lvl="0">
              <a:defRPr sz="1800"/>
            </a:pPr>
            <a:r>
              <a:rPr sz="4000" dirty="0"/>
              <a:t>Atresia of jejunum</a:t>
            </a:r>
            <a:r>
              <a:rPr lang="en-US" sz="4000" dirty="0"/>
              <a:t>,</a:t>
            </a:r>
            <a:r>
              <a:rPr sz="4000" dirty="0"/>
              <a:t> ileum and colon</a:t>
            </a:r>
          </a:p>
        </p:txBody>
      </p:sp>
      <p:sp>
        <p:nvSpPr>
          <p:cNvPr id="69" name="Shape 69"/>
          <p:cNvSpPr>
            <a:spLocks noGrp="1"/>
          </p:cNvSpPr>
          <p:nvPr>
            <p:ph idx="1"/>
          </p:nvPr>
        </p:nvSpPr>
        <p:spPr>
          <a:prstGeom prst="rect">
            <a:avLst/>
          </a:prstGeom>
        </p:spPr>
        <p:txBody>
          <a:bodyPr>
            <a:normAutofit fontScale="92500" lnSpcReduction="10000"/>
          </a:bodyPr>
          <a:lstStyle/>
          <a:p>
            <a:pPr lvl="0" algn="just">
              <a:defRPr sz="1800"/>
            </a:pPr>
            <a:r>
              <a:rPr sz="3200" dirty="0"/>
              <a:t>atresia of small intestine and colon are </a:t>
            </a:r>
            <a:r>
              <a:rPr sz="3200" dirty="0">
                <a:solidFill>
                  <a:srgbClr val="941100"/>
                </a:solidFill>
              </a:rPr>
              <a:t>rare</a:t>
            </a:r>
          </a:p>
          <a:p>
            <a:pPr lvl="0" algn="just">
              <a:defRPr sz="1800"/>
            </a:pPr>
            <a:r>
              <a:rPr sz="3200" dirty="0"/>
              <a:t>most cases are </a:t>
            </a:r>
            <a:r>
              <a:rPr sz="3200" dirty="0">
                <a:solidFill>
                  <a:srgbClr val="941100"/>
                </a:solidFill>
              </a:rPr>
              <a:t>segmental </a:t>
            </a:r>
            <a:r>
              <a:rPr sz="3200" dirty="0"/>
              <a:t>rather than localized</a:t>
            </a:r>
          </a:p>
          <a:p>
            <a:pPr lvl="0" algn="just">
              <a:defRPr sz="1800"/>
            </a:pPr>
            <a:r>
              <a:rPr sz="3200" dirty="0"/>
              <a:t>10% of cases involve large segment of midgut loop called </a:t>
            </a:r>
            <a:r>
              <a:rPr sz="3200" dirty="0">
                <a:solidFill>
                  <a:srgbClr val="941100"/>
                </a:solidFill>
              </a:rPr>
              <a:t>apple-peel atresia,</a:t>
            </a:r>
            <a:r>
              <a:rPr sz="3200" dirty="0"/>
              <a:t> duodenum or proximal jejunum ends in blind pouch and distal small intestine wraps around</a:t>
            </a:r>
            <a:r>
              <a:rPr lang="en-US" sz="3200" dirty="0"/>
              <a:t> SMA</a:t>
            </a:r>
            <a:r>
              <a:rPr sz="3200" dirty="0"/>
              <a:t>. and resemble apple peel </a:t>
            </a:r>
          </a:p>
          <a:p>
            <a:pPr lvl="0" algn="just">
              <a:defRPr sz="1800"/>
            </a:pPr>
            <a:r>
              <a:rPr sz="3200" dirty="0"/>
              <a:t>atresia is usually results from </a:t>
            </a:r>
            <a:r>
              <a:rPr sz="3200" dirty="0">
                <a:solidFill>
                  <a:srgbClr val="941100"/>
                </a:solidFill>
              </a:rPr>
              <a:t>arterial occlusion</a:t>
            </a:r>
            <a:r>
              <a:rPr sz="3200" dirty="0"/>
              <a:t> rather than failure of recanalization</a:t>
            </a:r>
          </a:p>
        </p:txBody>
      </p:sp>
      <p:sp>
        <p:nvSpPr>
          <p:cNvPr id="70" name="Shape 70"/>
          <p:cNvSpPr>
            <a:spLocks noGrp="1"/>
          </p:cNvSpPr>
          <p:nvPr>
            <p:ph type="sldNum" sz="quarter" idx="12"/>
          </p:nvPr>
        </p:nvSpPr>
        <p:spPr>
          <a:prstGeom prst="rect">
            <a:avLst/>
          </a:prstGeom>
          <a:extLst>
            <a:ext uri="{C572A759-6A51-4108-AA02-DFA0A04FC94B}">
              <ma14:wrappingTextBoxFlag xmlns="" xmlns:ma14="http://schemas.microsoft.com/office/mac/drawingml/2011/main" val="1"/>
            </a:ext>
          </a:extLst>
        </p:spPr>
        <p:txBody>
          <a:bodyPr/>
          <a:lstStyle/>
          <a:p>
            <a:pPr lvl="0">
              <a:defRPr sz="1800">
                <a:solidFill>
                  <a:srgbClr val="000000"/>
                </a:solidFill>
              </a:defRPr>
            </a:pPr>
            <a:fld id="{86CB4B4D-7CA3-9044-876B-883B54F8677D}" type="slidenum">
              <a:rPr sz="1200">
                <a:solidFill>
                  <a:srgbClr val="888888"/>
                </a:solidFill>
              </a:rPr>
              <a:t>6</a:t>
            </a:fld>
            <a:endParaRPr sz="1200" dirty="0">
              <a:solidFill>
                <a:srgbClr val="888888"/>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Shape 72"/>
          <p:cNvSpPr>
            <a:spLocks noGrp="1"/>
          </p:cNvSpPr>
          <p:nvPr>
            <p:ph type="title"/>
          </p:nvPr>
        </p:nvSpPr>
        <p:spPr>
          <a:prstGeom prst="rect">
            <a:avLst/>
          </a:prstGeom>
        </p:spPr>
        <p:txBody>
          <a:bodyPr/>
          <a:lstStyle/>
          <a:p>
            <a:pPr lvl="0"/>
            <a:endParaRPr/>
          </a:p>
        </p:txBody>
      </p:sp>
      <p:sp>
        <p:nvSpPr>
          <p:cNvPr id="73" name="Shape 73"/>
          <p:cNvSpPr>
            <a:spLocks noGrp="1"/>
          </p:cNvSpPr>
          <p:nvPr>
            <p:ph idx="1"/>
          </p:nvPr>
        </p:nvSpPr>
        <p:spPr>
          <a:prstGeom prst="rect">
            <a:avLst/>
          </a:prstGeom>
        </p:spPr>
        <p:txBody>
          <a:bodyPr/>
          <a:lstStyle/>
          <a:p>
            <a:pPr lvl="0"/>
            <a:endParaRPr/>
          </a:p>
        </p:txBody>
      </p:sp>
      <p:sp>
        <p:nvSpPr>
          <p:cNvPr id="74" name="Shape 74"/>
          <p:cNvSpPr>
            <a:spLocks noGrp="1"/>
          </p:cNvSpPr>
          <p:nvPr>
            <p:ph type="sldNum" sz="quarter" idx="12"/>
          </p:nvPr>
        </p:nvSpPr>
        <p:spPr>
          <a:prstGeom prst="rect">
            <a:avLst/>
          </a:prstGeom>
          <a:extLst>
            <a:ext uri="{C572A759-6A51-4108-AA02-DFA0A04FC94B}">
              <ma14:wrappingTextBoxFlag xmlns="" xmlns:ma14="http://schemas.microsoft.com/office/mac/drawingml/2011/main" val="1"/>
            </a:ext>
          </a:extLst>
        </p:spPr>
        <p:txBody>
          <a:bodyPr/>
          <a:lstStyle/>
          <a:p>
            <a:pPr lvl="0">
              <a:defRPr sz="1800">
                <a:solidFill>
                  <a:srgbClr val="000000"/>
                </a:solidFill>
              </a:defRPr>
            </a:pPr>
            <a:fld id="{86CB4B4D-7CA3-9044-876B-883B54F8677D}" type="slidenum">
              <a:rPr sz="1200">
                <a:solidFill>
                  <a:srgbClr val="888888"/>
                </a:solidFill>
              </a:rPr>
              <a:t>7</a:t>
            </a:fld>
            <a:endParaRPr sz="1200">
              <a:solidFill>
                <a:srgbClr val="888888"/>
              </a:solidFill>
            </a:endParaRPr>
          </a:p>
        </p:txBody>
      </p:sp>
      <p:sp>
        <p:nvSpPr>
          <p:cNvPr id="75" name="Shape 75"/>
          <p:cNvSpPr/>
          <p:nvPr/>
        </p:nvSpPr>
        <p:spPr>
          <a:xfrm>
            <a:off x="1050736" y="2213522"/>
            <a:ext cx="1270001" cy="1270001"/>
          </a:xfrm>
          <a:prstGeom prst="rect">
            <a:avLst/>
          </a:prstGeom>
          <a:solidFill>
            <a:srgbClr val="C0504D"/>
          </a:solidFill>
          <a:ln w="25400">
            <a:solidFill>
              <a:srgbClr val="8C3A38"/>
            </a:solidFill>
          </a:ln>
          <a:effectLst>
            <a:outerShdw blurRad="38100" dist="23000" dir="5400000" rotWithShape="0">
              <a:srgbClr val="000000">
                <a:alpha val="35000"/>
              </a:srgbClr>
            </a:outerShdw>
          </a:effectLst>
          <a:extLst>
            <a:ext uri="{C572A759-6A51-4108-AA02-DFA0A04FC94B}">
              <ma14:wrappingTextBoxFlag xmlns="" xmlns:ma14="http://schemas.microsoft.com/office/mac/drawingml/2011/main" val="1"/>
            </a:ext>
          </a:extLst>
        </p:spPr>
        <p:txBody>
          <a:bodyPr lIns="45719" rIns="45719" anchor="ctr"/>
          <a:lstStyle/>
          <a:p>
            <a:pPr lvl="0"/>
            <a:r>
              <a:t>clockwise rotation result in </a:t>
            </a:r>
          </a:p>
        </p:txBody>
      </p:sp>
      <p:sp>
        <p:nvSpPr>
          <p:cNvPr id="76" name="Shape 76"/>
          <p:cNvSpPr/>
          <p:nvPr/>
        </p:nvSpPr>
        <p:spPr>
          <a:xfrm>
            <a:off x="3536331" y="2213522"/>
            <a:ext cx="1270001" cy="1270001"/>
          </a:xfrm>
          <a:prstGeom prst="rightArrow">
            <a:avLst>
              <a:gd name="adj1" fmla="val 32000"/>
              <a:gd name="adj2" fmla="val 64000"/>
            </a:avLst>
          </a:prstGeom>
          <a:solidFill>
            <a:srgbClr val="C0504D"/>
          </a:solidFill>
          <a:ln w="25400">
            <a:solidFill>
              <a:srgbClr val="8C3A38"/>
            </a:solidFill>
          </a:ln>
          <a:effectLst>
            <a:outerShdw blurRad="38100" dist="23000" dir="5400000" rotWithShape="0">
              <a:srgbClr val="000000">
                <a:alpha val="35000"/>
              </a:srgbClr>
            </a:outerShdw>
          </a:effectLst>
        </p:spPr>
        <p:txBody>
          <a:bodyPr lIns="45719" rIns="45719" anchor="ctr"/>
          <a:lstStyle/>
          <a:p>
            <a:pPr lvl="0">
              <a:defRPr>
                <a:solidFill>
                  <a:srgbClr val="FFFFFF"/>
                </a:solidFill>
              </a:defRPr>
            </a:pPr>
            <a:endParaRPr/>
          </a:p>
        </p:txBody>
      </p:sp>
      <p:sp>
        <p:nvSpPr>
          <p:cNvPr id="77" name="Shape 77"/>
          <p:cNvSpPr/>
          <p:nvPr/>
        </p:nvSpPr>
        <p:spPr>
          <a:xfrm>
            <a:off x="6017044" y="2020181"/>
            <a:ext cx="1270001" cy="1270001"/>
          </a:xfrm>
          <a:prstGeom prst="roundRect">
            <a:avLst>
              <a:gd name="adj" fmla="val 15000"/>
            </a:avLst>
          </a:prstGeom>
          <a:solidFill>
            <a:srgbClr val="C0504D"/>
          </a:solidFill>
          <a:ln w="25400">
            <a:solidFill>
              <a:srgbClr val="8C3A38"/>
            </a:solidFill>
          </a:ln>
          <a:effectLst>
            <a:outerShdw blurRad="38100" dist="23000" dir="5400000" rotWithShape="0">
              <a:srgbClr val="000000">
                <a:alpha val="35000"/>
              </a:srgbClr>
            </a:outerShdw>
          </a:effectLst>
          <a:extLst>
            <a:ext uri="{C572A759-6A51-4108-AA02-DFA0A04FC94B}">
              <ma14:wrappingTextBoxFlag xmlns="" xmlns:ma14="http://schemas.microsoft.com/office/mac/drawingml/2011/main" val="1"/>
            </a:ext>
          </a:extLst>
        </p:spPr>
        <p:txBody>
          <a:bodyPr lIns="45719" rIns="45719" anchor="ctr"/>
          <a:lstStyle/>
          <a:p>
            <a:pPr lvl="0"/>
            <a:r>
              <a:t>situs inversus</a:t>
            </a:r>
          </a:p>
        </p:txBody>
      </p:sp>
      <p:sp>
        <p:nvSpPr>
          <p:cNvPr id="78" name="Shape 78"/>
          <p:cNvSpPr/>
          <p:nvPr/>
        </p:nvSpPr>
        <p:spPr>
          <a:xfrm>
            <a:off x="1050736" y="3858208"/>
            <a:ext cx="1270001" cy="1270001"/>
          </a:xfrm>
          <a:prstGeom prst="rect">
            <a:avLst/>
          </a:prstGeom>
          <a:solidFill>
            <a:srgbClr val="9BBB59"/>
          </a:solidFill>
          <a:ln w="38100">
            <a:solidFill>
              <a:srgbClr val="FFFFFF"/>
            </a:solidFill>
          </a:ln>
          <a:effectLst>
            <a:outerShdw blurRad="38100" dist="20000" dir="5400000" rotWithShape="0">
              <a:srgbClr val="000000">
                <a:alpha val="38000"/>
              </a:srgbClr>
            </a:outerShdw>
          </a:effectLst>
          <a:extLst>
            <a:ext uri="{C572A759-6A51-4108-AA02-DFA0A04FC94B}">
              <ma14:wrappingTextBoxFlag xmlns="" xmlns:ma14="http://schemas.microsoft.com/office/mac/drawingml/2011/main" val="1"/>
            </a:ext>
          </a:extLst>
        </p:spPr>
        <p:txBody>
          <a:bodyPr lIns="45719" rIns="45719" anchor="ctr"/>
          <a:lstStyle/>
          <a:p>
            <a:pPr lvl="0"/>
            <a:r>
              <a:t>failure of rotation may result in </a:t>
            </a:r>
          </a:p>
        </p:txBody>
      </p:sp>
      <p:sp>
        <p:nvSpPr>
          <p:cNvPr id="79" name="Shape 79"/>
          <p:cNvSpPr/>
          <p:nvPr/>
        </p:nvSpPr>
        <p:spPr>
          <a:xfrm>
            <a:off x="3537551" y="3858208"/>
            <a:ext cx="1270001" cy="1270001"/>
          </a:xfrm>
          <a:prstGeom prst="rightArrow">
            <a:avLst>
              <a:gd name="adj1" fmla="val 32000"/>
              <a:gd name="adj2" fmla="val 64000"/>
            </a:avLst>
          </a:prstGeom>
          <a:solidFill>
            <a:srgbClr val="9BBB59"/>
          </a:solidFill>
          <a:ln w="38100">
            <a:solidFill>
              <a:srgbClr val="FFFFFF"/>
            </a:solidFill>
          </a:ln>
          <a:effectLst>
            <a:outerShdw blurRad="38100" dist="20000" dir="5400000" rotWithShape="0">
              <a:srgbClr val="000000">
                <a:alpha val="38000"/>
              </a:srgbClr>
            </a:outerShdw>
          </a:effectLst>
        </p:spPr>
        <p:txBody>
          <a:bodyPr lIns="45719" rIns="45719" anchor="ctr"/>
          <a:lstStyle/>
          <a:p>
            <a:pPr lvl="0">
              <a:defRPr>
                <a:solidFill>
                  <a:srgbClr val="FFFFFF"/>
                </a:solidFill>
              </a:defRPr>
            </a:pPr>
            <a:endParaRPr/>
          </a:p>
        </p:txBody>
      </p:sp>
      <p:sp>
        <p:nvSpPr>
          <p:cNvPr id="80" name="Shape 80"/>
          <p:cNvSpPr/>
          <p:nvPr/>
        </p:nvSpPr>
        <p:spPr>
          <a:xfrm>
            <a:off x="6017044" y="3729213"/>
            <a:ext cx="2095501" cy="1270001"/>
          </a:xfrm>
          <a:prstGeom prst="roundRect">
            <a:avLst>
              <a:gd name="adj" fmla="val 15000"/>
            </a:avLst>
          </a:prstGeom>
          <a:solidFill>
            <a:srgbClr val="9BBB59"/>
          </a:solidFill>
          <a:ln w="38100">
            <a:solidFill>
              <a:srgbClr val="FFFFFF"/>
            </a:solidFill>
          </a:ln>
          <a:effectLst>
            <a:outerShdw blurRad="38100" dist="20000" dir="5400000" rotWithShape="0">
              <a:srgbClr val="000000">
                <a:alpha val="38000"/>
              </a:srgbClr>
            </a:outerShdw>
          </a:effectLst>
          <a:extLst>
            <a:ext uri="{C572A759-6A51-4108-AA02-DFA0A04FC94B}">
              <ma14:wrappingTextBoxFlag xmlns="" xmlns:ma14="http://schemas.microsoft.com/office/mac/drawingml/2011/main" val="1"/>
            </a:ext>
          </a:extLst>
        </p:spPr>
        <p:txBody>
          <a:bodyPr lIns="45719" rIns="45719" anchor="ctr"/>
          <a:lstStyle/>
          <a:p>
            <a:pPr lvl="0"/>
            <a:r>
              <a:t>left sided cecum, appendix and ascending colon</a:t>
            </a:r>
          </a:p>
        </p:txBody>
      </p:sp>
      <p:sp>
        <p:nvSpPr>
          <p:cNvPr id="81" name="Shape 81"/>
          <p:cNvSpPr/>
          <p:nvPr/>
        </p:nvSpPr>
        <p:spPr>
          <a:xfrm>
            <a:off x="1050736" y="5309402"/>
            <a:ext cx="1270001" cy="1270001"/>
          </a:xfrm>
          <a:prstGeom prst="rect">
            <a:avLst/>
          </a:prstGeom>
          <a:gradFill>
            <a:gsLst>
              <a:gs pos="0">
                <a:srgbClr val="C8B2E9"/>
              </a:gs>
              <a:gs pos="35000">
                <a:srgbClr val="D8C9EE"/>
              </a:gs>
              <a:gs pos="100000">
                <a:srgbClr val="F0EAF9"/>
              </a:gs>
            </a:gsLst>
            <a:lin ang="16200000"/>
          </a:gradFill>
          <a:ln>
            <a:solidFill>
              <a:srgbClr val="7D60A0"/>
            </a:solidFill>
          </a:ln>
          <a:effectLst>
            <a:outerShdw blurRad="38100" dist="20000" dir="5400000" rotWithShape="0">
              <a:srgbClr val="000000">
                <a:alpha val="38000"/>
              </a:srgbClr>
            </a:outerShdw>
          </a:effectLst>
          <a:extLst>
            <a:ext uri="{C572A759-6A51-4108-AA02-DFA0A04FC94B}">
              <ma14:wrappingTextBoxFlag xmlns="" xmlns:ma14="http://schemas.microsoft.com/office/mac/drawingml/2011/main" val="1"/>
            </a:ext>
          </a:extLst>
        </p:spPr>
        <p:txBody>
          <a:bodyPr lIns="45719" rIns="45719" anchor="ctr"/>
          <a:lstStyle/>
          <a:p>
            <a:pPr lvl="0"/>
            <a:r>
              <a:t>incomplete rotation result in </a:t>
            </a:r>
          </a:p>
        </p:txBody>
      </p:sp>
      <p:sp>
        <p:nvSpPr>
          <p:cNvPr id="82" name="Shape 82"/>
          <p:cNvSpPr/>
          <p:nvPr/>
        </p:nvSpPr>
        <p:spPr>
          <a:xfrm>
            <a:off x="3534805" y="5309402"/>
            <a:ext cx="1270001" cy="1270001"/>
          </a:xfrm>
          <a:prstGeom prst="rightArrow">
            <a:avLst>
              <a:gd name="adj1" fmla="val 32000"/>
              <a:gd name="adj2" fmla="val 64000"/>
            </a:avLst>
          </a:prstGeom>
          <a:gradFill>
            <a:gsLst>
              <a:gs pos="0">
                <a:srgbClr val="C8B2E9"/>
              </a:gs>
              <a:gs pos="35000">
                <a:srgbClr val="D8C9EE"/>
              </a:gs>
              <a:gs pos="100000">
                <a:srgbClr val="F0EAF9"/>
              </a:gs>
            </a:gsLst>
            <a:lin ang="16200000"/>
          </a:gradFill>
          <a:ln>
            <a:solidFill>
              <a:srgbClr val="7D60A0"/>
            </a:solidFill>
          </a:ln>
          <a:effectLst>
            <a:outerShdw blurRad="38100" dist="20000" dir="5400000" rotWithShape="0">
              <a:srgbClr val="000000">
                <a:alpha val="38000"/>
              </a:srgbClr>
            </a:outerShdw>
          </a:effectLst>
        </p:spPr>
        <p:txBody>
          <a:bodyPr lIns="45719" rIns="45719" anchor="ctr"/>
          <a:lstStyle/>
          <a:p>
            <a:pPr lvl="0"/>
            <a:endParaRPr/>
          </a:p>
        </p:txBody>
      </p:sp>
      <p:sp>
        <p:nvSpPr>
          <p:cNvPr id="83" name="Shape 83"/>
          <p:cNvSpPr/>
          <p:nvPr/>
        </p:nvSpPr>
        <p:spPr>
          <a:xfrm>
            <a:off x="6139555" y="5309402"/>
            <a:ext cx="1270001" cy="1270001"/>
          </a:xfrm>
          <a:prstGeom prst="roundRect">
            <a:avLst>
              <a:gd name="adj" fmla="val 15000"/>
            </a:avLst>
          </a:prstGeom>
          <a:gradFill>
            <a:gsLst>
              <a:gs pos="0">
                <a:srgbClr val="C8B2E9"/>
              </a:gs>
              <a:gs pos="35000">
                <a:srgbClr val="D8C9EE"/>
              </a:gs>
              <a:gs pos="100000">
                <a:srgbClr val="F0EAF9"/>
              </a:gs>
            </a:gsLst>
            <a:lin ang="16200000"/>
          </a:gradFill>
          <a:ln>
            <a:solidFill>
              <a:srgbClr val="7D60A0"/>
            </a:solidFill>
          </a:ln>
          <a:effectLst>
            <a:outerShdw blurRad="38100" dist="20000" dir="5400000" rotWithShape="0">
              <a:srgbClr val="000000">
                <a:alpha val="38000"/>
              </a:srgbClr>
            </a:outerShdw>
          </a:effectLst>
          <a:extLst>
            <a:ext uri="{C572A759-6A51-4108-AA02-DFA0A04FC94B}">
              <ma14:wrappingTextBoxFlag xmlns="" xmlns:ma14="http://schemas.microsoft.com/office/mac/drawingml/2011/main" val="1"/>
            </a:ext>
          </a:extLst>
        </p:spPr>
        <p:txBody>
          <a:bodyPr lIns="45719" rIns="45719" anchor="ctr"/>
          <a:lstStyle/>
          <a:p>
            <a:pPr lvl="0"/>
            <a:r>
              <a:t>sub hepatic caecum</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Shape 85"/>
          <p:cNvSpPr>
            <a:spLocks noGrp="1"/>
          </p:cNvSpPr>
          <p:nvPr>
            <p:ph type="title"/>
          </p:nvPr>
        </p:nvSpPr>
        <p:spPr>
          <a:prstGeom prst="rect">
            <a:avLst/>
          </a:prstGeom>
        </p:spPr>
        <p:txBody>
          <a:bodyPr/>
          <a:lstStyle/>
          <a:p>
            <a:pPr lvl="0"/>
            <a:endParaRPr/>
          </a:p>
        </p:txBody>
      </p:sp>
      <p:sp>
        <p:nvSpPr>
          <p:cNvPr id="86" name="Shape 86"/>
          <p:cNvSpPr>
            <a:spLocks noGrp="1"/>
          </p:cNvSpPr>
          <p:nvPr>
            <p:ph idx="1"/>
          </p:nvPr>
        </p:nvSpPr>
        <p:spPr>
          <a:prstGeom prst="rect">
            <a:avLst/>
          </a:prstGeom>
        </p:spPr>
        <p:txBody>
          <a:bodyPr/>
          <a:lstStyle/>
          <a:p>
            <a:pPr lvl="0" algn="just">
              <a:defRPr sz="1800"/>
            </a:pPr>
            <a:r>
              <a:rPr sz="3200" dirty="0"/>
              <a:t> </a:t>
            </a:r>
            <a:r>
              <a:rPr sz="3200" dirty="0">
                <a:solidFill>
                  <a:srgbClr val="941100"/>
                </a:solidFill>
              </a:rPr>
              <a:t>volvulus</a:t>
            </a:r>
            <a:r>
              <a:rPr sz="3200" dirty="0"/>
              <a:t> : is rotation of intestinal loop around branch of </a:t>
            </a:r>
            <a:r>
              <a:rPr lang="en-US" sz="3200" dirty="0"/>
              <a:t>SMA</a:t>
            </a:r>
            <a:r>
              <a:rPr sz="3200" dirty="0"/>
              <a:t>. and it may cause intestinal obstruction or even gangrene</a:t>
            </a:r>
          </a:p>
          <a:p>
            <a:pPr lvl="0" algn="just">
              <a:defRPr sz="1800"/>
            </a:pPr>
            <a:r>
              <a:rPr sz="3200" dirty="0">
                <a:solidFill>
                  <a:srgbClr val="941100"/>
                </a:solidFill>
              </a:rPr>
              <a:t>intussusception:</a:t>
            </a:r>
            <a:r>
              <a:rPr sz="3200" dirty="0"/>
              <a:t> is the invagination of a segment of intestine in itself causing obstruction</a:t>
            </a:r>
            <a:r>
              <a:rPr lang="en-US" sz="3200" dirty="0"/>
              <a:t>.</a:t>
            </a:r>
            <a:endParaRPr sz="3200" dirty="0"/>
          </a:p>
        </p:txBody>
      </p:sp>
      <p:sp>
        <p:nvSpPr>
          <p:cNvPr id="87" name="Shape 87"/>
          <p:cNvSpPr>
            <a:spLocks noGrp="1"/>
          </p:cNvSpPr>
          <p:nvPr>
            <p:ph type="sldNum" sz="quarter" idx="12"/>
          </p:nvPr>
        </p:nvSpPr>
        <p:spPr>
          <a:prstGeom prst="rect">
            <a:avLst/>
          </a:prstGeom>
          <a:extLst>
            <a:ext uri="{C572A759-6A51-4108-AA02-DFA0A04FC94B}">
              <ma14:wrappingTextBoxFlag xmlns="" xmlns:ma14="http://schemas.microsoft.com/office/mac/drawingml/2011/main" val="1"/>
            </a:ext>
          </a:extLst>
        </p:spPr>
        <p:txBody>
          <a:bodyPr/>
          <a:lstStyle/>
          <a:p>
            <a:pPr lvl="0">
              <a:defRPr sz="1800">
                <a:solidFill>
                  <a:srgbClr val="000000"/>
                </a:solidFill>
              </a:defRPr>
            </a:pPr>
            <a:fld id="{86CB4B4D-7CA3-9044-876B-883B54F8677D}" type="slidenum">
              <a:rPr sz="1200">
                <a:solidFill>
                  <a:srgbClr val="888888"/>
                </a:solidFill>
              </a:rPr>
              <a:t>8</a:t>
            </a:fld>
            <a:endParaRPr sz="1200">
              <a:solidFill>
                <a:srgbClr val="888888"/>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Shape 89"/>
          <p:cNvSpPr>
            <a:spLocks noGrp="1"/>
          </p:cNvSpPr>
          <p:nvPr>
            <p:ph type="title"/>
          </p:nvPr>
        </p:nvSpPr>
        <p:spPr>
          <a:prstGeom prst="rect">
            <a:avLst/>
          </a:prstGeom>
        </p:spPr>
        <p:txBody>
          <a:bodyPr/>
          <a:lstStyle/>
          <a:p>
            <a:pPr lvl="0">
              <a:defRPr sz="1800"/>
            </a:pPr>
            <a:r>
              <a:rPr sz="2400" dirty="0"/>
              <a:t>persistent </a:t>
            </a:r>
            <a:r>
              <a:rPr sz="2400" dirty="0" err="1"/>
              <a:t>vitello</a:t>
            </a:r>
            <a:r>
              <a:rPr sz="2400" dirty="0"/>
              <a:t>-intestinal duct and </a:t>
            </a:r>
            <a:r>
              <a:rPr lang="en-US" sz="2400" dirty="0" err="1"/>
              <a:t>M</a:t>
            </a:r>
            <a:r>
              <a:rPr sz="2400" dirty="0" err="1"/>
              <a:t>eckel’s</a:t>
            </a:r>
            <a:r>
              <a:rPr sz="2400" dirty="0"/>
              <a:t> diverticulum</a:t>
            </a:r>
          </a:p>
        </p:txBody>
      </p:sp>
      <p:sp>
        <p:nvSpPr>
          <p:cNvPr id="90" name="Shape 90"/>
          <p:cNvSpPr>
            <a:spLocks noGrp="1"/>
          </p:cNvSpPr>
          <p:nvPr>
            <p:ph idx="1"/>
          </p:nvPr>
        </p:nvSpPr>
        <p:spPr>
          <a:prstGeom prst="rect">
            <a:avLst/>
          </a:prstGeom>
        </p:spPr>
        <p:txBody>
          <a:bodyPr/>
          <a:lstStyle/>
          <a:p>
            <a:pPr lvl="0"/>
            <a:endParaRPr/>
          </a:p>
        </p:txBody>
      </p:sp>
      <p:sp>
        <p:nvSpPr>
          <p:cNvPr id="91" name="Shape 91"/>
          <p:cNvSpPr>
            <a:spLocks noGrp="1"/>
          </p:cNvSpPr>
          <p:nvPr>
            <p:ph type="sldNum" sz="quarter" idx="12"/>
          </p:nvPr>
        </p:nvSpPr>
        <p:spPr>
          <a:prstGeom prst="rect">
            <a:avLst/>
          </a:prstGeom>
          <a:extLst>
            <a:ext uri="{C572A759-6A51-4108-AA02-DFA0A04FC94B}">
              <ma14:wrappingTextBoxFlag xmlns="" xmlns:ma14="http://schemas.microsoft.com/office/mac/drawingml/2011/main" val="1"/>
            </a:ext>
          </a:extLst>
        </p:spPr>
        <p:txBody>
          <a:bodyPr/>
          <a:lstStyle/>
          <a:p>
            <a:pPr lvl="0">
              <a:defRPr sz="1800">
                <a:solidFill>
                  <a:srgbClr val="000000"/>
                </a:solidFill>
              </a:defRPr>
            </a:pPr>
            <a:fld id="{86CB4B4D-7CA3-9044-876B-883B54F8677D}" type="slidenum">
              <a:rPr sz="1200">
                <a:solidFill>
                  <a:srgbClr val="888888"/>
                </a:solidFill>
              </a:rPr>
              <a:t>9</a:t>
            </a:fld>
            <a:endParaRPr sz="1200">
              <a:solidFill>
                <a:srgbClr val="888888"/>
              </a:solidFill>
            </a:endParaRPr>
          </a:p>
        </p:txBody>
      </p:sp>
      <p:pic>
        <p:nvPicPr>
          <p:cNvPr id="92" name="IMG-2895.jpg"/>
          <p:cNvPicPr/>
          <p:nvPr/>
        </p:nvPicPr>
        <p:blipFill>
          <a:blip r:embed="rId2"/>
          <a:stretch>
            <a:fillRect/>
          </a:stretch>
        </p:blipFill>
        <p:spPr>
          <a:xfrm>
            <a:off x="0" y="1701072"/>
            <a:ext cx="9144001" cy="4277509"/>
          </a:xfrm>
          <a:prstGeom prst="rect">
            <a:avLst/>
          </a:prstGeom>
          <a:ln w="12700">
            <a:miter lim="400000"/>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Shape 96"/>
          <p:cNvSpPr>
            <a:spLocks noGrp="1"/>
          </p:cNvSpPr>
          <p:nvPr>
            <p:ph type="sldNum" sz="quarter" idx="12"/>
          </p:nvPr>
        </p:nvSpPr>
        <p:spPr>
          <a:prstGeom prst="rect">
            <a:avLst/>
          </a:prstGeom>
          <a:extLst>
            <a:ext uri="{C572A759-6A51-4108-AA02-DFA0A04FC94B}">
              <ma14:wrappingTextBoxFlag xmlns="" xmlns:ma14="http://schemas.microsoft.com/office/mac/drawingml/2011/main" val="1"/>
            </a:ext>
          </a:extLst>
        </p:spPr>
        <p:txBody>
          <a:bodyPr/>
          <a:lstStyle/>
          <a:p>
            <a:pPr lvl="0">
              <a:defRPr sz="1800">
                <a:solidFill>
                  <a:srgbClr val="000000"/>
                </a:solidFill>
              </a:defRPr>
            </a:pPr>
            <a:fld id="{86CB4B4D-7CA3-9044-876B-883B54F8677D}" type="slidenum">
              <a:rPr sz="1200">
                <a:solidFill>
                  <a:srgbClr val="888888"/>
                </a:solidFill>
              </a:rPr>
              <a:t>10</a:t>
            </a:fld>
            <a:endParaRPr sz="1200">
              <a:solidFill>
                <a:srgbClr val="888888"/>
              </a:solidFill>
            </a:endParaRPr>
          </a:p>
        </p:txBody>
      </p:sp>
      <p:pic>
        <p:nvPicPr>
          <p:cNvPr id="97" name="Summary-of-the-main-features-of-gastroschisis-and-omphalocele.png"/>
          <p:cNvPicPr/>
          <p:nvPr/>
        </p:nvPicPr>
        <p:blipFill>
          <a:blip r:embed="rId2"/>
          <a:stretch>
            <a:fillRect/>
          </a:stretch>
        </p:blipFill>
        <p:spPr>
          <a:xfrm>
            <a:off x="229720" y="3748390"/>
            <a:ext cx="7942839" cy="2701256"/>
          </a:xfrm>
          <a:prstGeom prst="rect">
            <a:avLst/>
          </a:prstGeom>
          <a:ln w="12700">
            <a:miter lim="400000"/>
          </a:ln>
        </p:spPr>
      </p:pic>
      <p:pic>
        <p:nvPicPr>
          <p:cNvPr id="98" name="suggested-table-medium.jpg"/>
          <p:cNvPicPr/>
          <p:nvPr/>
        </p:nvPicPr>
        <p:blipFill>
          <a:blip r:embed="rId3"/>
          <a:stretch>
            <a:fillRect/>
          </a:stretch>
        </p:blipFill>
        <p:spPr>
          <a:xfrm>
            <a:off x="685800" y="609600"/>
            <a:ext cx="6417365" cy="2657901"/>
          </a:xfrm>
          <a:prstGeom prst="rect">
            <a:avLst/>
          </a:prstGeom>
          <a:ln w="12700">
            <a:miter lim="400000"/>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Shape 100"/>
          <p:cNvSpPr>
            <a:spLocks noGrp="1"/>
          </p:cNvSpPr>
          <p:nvPr>
            <p:ph type="title"/>
          </p:nvPr>
        </p:nvSpPr>
        <p:spPr>
          <a:prstGeom prst="rect">
            <a:avLst/>
          </a:prstGeom>
        </p:spPr>
        <p:txBody>
          <a:bodyPr/>
          <a:lstStyle/>
          <a:p>
            <a:pPr lvl="0">
              <a:defRPr sz="1800"/>
            </a:pPr>
            <a:r>
              <a:rPr lang="en-US" sz="4400" dirty="0">
                <a:solidFill>
                  <a:srgbClr val="FF0000"/>
                </a:solidFill>
              </a:rPr>
              <a:t>Hindgut</a:t>
            </a:r>
            <a:endParaRPr sz="4400" dirty="0">
              <a:solidFill>
                <a:srgbClr val="FF0000"/>
              </a:solidFill>
            </a:endParaRPr>
          </a:p>
        </p:txBody>
      </p:sp>
      <p:sp>
        <p:nvSpPr>
          <p:cNvPr id="101" name="Shape 101"/>
          <p:cNvSpPr>
            <a:spLocks noGrp="1"/>
          </p:cNvSpPr>
          <p:nvPr>
            <p:ph idx="1"/>
          </p:nvPr>
        </p:nvSpPr>
        <p:spPr>
          <a:prstGeom prst="rect">
            <a:avLst/>
          </a:prstGeom>
        </p:spPr>
        <p:txBody>
          <a:bodyPr/>
          <a:lstStyle/>
          <a:p>
            <a:pPr lvl="0" algn="just">
              <a:defRPr sz="1800"/>
            </a:pPr>
            <a:r>
              <a:rPr sz="3200" dirty="0"/>
              <a:t>Hindgut gives rise to the following structures</a:t>
            </a:r>
          </a:p>
          <a:p>
            <a:pPr marL="427789" lvl="0" indent="-427789" algn="just">
              <a:buFontTx/>
              <a:buAutoNum type="arabicPeriod"/>
              <a:defRPr sz="1800"/>
            </a:pPr>
            <a:r>
              <a:rPr sz="3200" dirty="0"/>
              <a:t> </a:t>
            </a:r>
            <a:r>
              <a:rPr lang="en-US" sz="3200" dirty="0"/>
              <a:t>L</a:t>
            </a:r>
            <a:r>
              <a:rPr sz="3200" dirty="0"/>
              <a:t>eft 1/3 of transverse colon</a:t>
            </a:r>
          </a:p>
          <a:p>
            <a:pPr marL="427789" lvl="0" indent="-427789" algn="just">
              <a:buFontTx/>
              <a:buAutoNum type="arabicPeriod"/>
              <a:defRPr sz="1800"/>
            </a:pPr>
            <a:r>
              <a:rPr lang="en-US" sz="3200" dirty="0"/>
              <a:t>D</a:t>
            </a:r>
            <a:r>
              <a:rPr sz="3200" dirty="0"/>
              <a:t>escending colon</a:t>
            </a:r>
          </a:p>
          <a:p>
            <a:pPr marL="427789" lvl="0" indent="-427789" algn="just">
              <a:buFontTx/>
              <a:buAutoNum type="arabicPeriod"/>
              <a:defRPr sz="1800"/>
            </a:pPr>
            <a:r>
              <a:rPr lang="en-US" sz="3200" dirty="0"/>
              <a:t>S</a:t>
            </a:r>
            <a:r>
              <a:rPr sz="3200" dirty="0"/>
              <a:t>igmoid colon</a:t>
            </a:r>
          </a:p>
          <a:p>
            <a:pPr marL="427789" lvl="0" indent="-427789" algn="just">
              <a:buFontTx/>
              <a:buAutoNum type="arabicPeriod"/>
              <a:defRPr sz="1800"/>
            </a:pPr>
            <a:r>
              <a:rPr sz="3200" dirty="0"/>
              <a:t> </a:t>
            </a:r>
            <a:r>
              <a:rPr lang="en-US" sz="3200" dirty="0"/>
              <a:t>R</a:t>
            </a:r>
            <a:r>
              <a:rPr sz="3200" dirty="0"/>
              <a:t>ectum</a:t>
            </a:r>
          </a:p>
          <a:p>
            <a:pPr marL="427789" lvl="0" indent="-427789" algn="just">
              <a:buFontTx/>
              <a:buAutoNum type="arabicPeriod"/>
              <a:defRPr sz="1800"/>
            </a:pPr>
            <a:r>
              <a:rPr sz="3200" dirty="0"/>
              <a:t> </a:t>
            </a:r>
            <a:r>
              <a:rPr lang="en-US" sz="3200" dirty="0"/>
              <a:t>U</a:t>
            </a:r>
            <a:r>
              <a:rPr sz="3200" dirty="0"/>
              <a:t>pper part of anal canal</a:t>
            </a:r>
          </a:p>
        </p:txBody>
      </p:sp>
      <p:sp>
        <p:nvSpPr>
          <p:cNvPr id="102" name="Shape 102"/>
          <p:cNvSpPr>
            <a:spLocks noGrp="1"/>
          </p:cNvSpPr>
          <p:nvPr>
            <p:ph type="sldNum" sz="quarter" idx="12"/>
          </p:nvPr>
        </p:nvSpPr>
        <p:spPr>
          <a:prstGeom prst="rect">
            <a:avLst/>
          </a:prstGeom>
          <a:extLst>
            <a:ext uri="{C572A759-6A51-4108-AA02-DFA0A04FC94B}">
              <ma14:wrappingTextBoxFlag xmlns="" xmlns:ma14="http://schemas.microsoft.com/office/mac/drawingml/2011/main" val="1"/>
            </a:ext>
          </a:extLst>
        </p:spPr>
        <p:txBody>
          <a:bodyPr/>
          <a:lstStyle/>
          <a:p>
            <a:pPr lvl="0">
              <a:defRPr sz="1800">
                <a:solidFill>
                  <a:srgbClr val="000000"/>
                </a:solidFill>
              </a:defRPr>
            </a:pPr>
            <a:fld id="{86CB4B4D-7CA3-9044-876B-883B54F8677D}" type="slidenum">
              <a:rPr sz="1200">
                <a:solidFill>
                  <a:srgbClr val="888888"/>
                </a:solidFill>
              </a:rPr>
              <a:t>11</a:t>
            </a:fld>
            <a:endParaRPr sz="1200">
              <a:solidFill>
                <a:srgbClr val="888888"/>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Shape 104"/>
          <p:cNvSpPr>
            <a:spLocks noGrp="1"/>
          </p:cNvSpPr>
          <p:nvPr>
            <p:ph type="title"/>
          </p:nvPr>
        </p:nvSpPr>
        <p:spPr>
          <a:prstGeom prst="rect">
            <a:avLst/>
          </a:prstGeom>
        </p:spPr>
        <p:txBody>
          <a:bodyPr/>
          <a:lstStyle/>
          <a:p>
            <a:pPr lvl="0"/>
            <a:endParaRPr/>
          </a:p>
        </p:txBody>
      </p:sp>
      <p:sp>
        <p:nvSpPr>
          <p:cNvPr id="105" name="Shape 105"/>
          <p:cNvSpPr>
            <a:spLocks noGrp="1"/>
          </p:cNvSpPr>
          <p:nvPr>
            <p:ph idx="1"/>
          </p:nvPr>
        </p:nvSpPr>
        <p:spPr>
          <a:prstGeom prst="rect">
            <a:avLst/>
          </a:prstGeom>
        </p:spPr>
        <p:txBody>
          <a:bodyPr>
            <a:normAutofit lnSpcReduction="10000"/>
          </a:bodyPr>
          <a:lstStyle/>
          <a:p>
            <a:pPr marL="339470" lvl="0" indent="-339470" algn="just" defTabSz="905255">
              <a:defRPr sz="1800"/>
            </a:pPr>
            <a:r>
              <a:rPr lang="en-US" sz="2079" dirty="0">
                <a:solidFill>
                  <a:srgbClr val="941100"/>
                </a:solidFill>
              </a:rPr>
              <a:t>Distal part of hindgut </a:t>
            </a:r>
            <a:r>
              <a:rPr lang="en-US" sz="2079" dirty="0"/>
              <a:t>that communicate with allantois is cloaca</a:t>
            </a:r>
          </a:p>
          <a:p>
            <a:pPr marL="339470" lvl="0" indent="-339470" algn="just" defTabSz="905255">
              <a:defRPr sz="1800"/>
            </a:pPr>
            <a:r>
              <a:rPr lang="en-US" sz="2079" dirty="0">
                <a:solidFill>
                  <a:srgbClr val="941100"/>
                </a:solidFill>
              </a:rPr>
              <a:t>Cloaca</a:t>
            </a:r>
            <a:r>
              <a:rPr lang="en-US" sz="2079" dirty="0"/>
              <a:t> is divided into ventral broad primitive </a:t>
            </a:r>
            <a:r>
              <a:rPr lang="en-US" sz="2079" dirty="0">
                <a:solidFill>
                  <a:srgbClr val="941100"/>
                </a:solidFill>
              </a:rPr>
              <a:t>urogenital sinus</a:t>
            </a:r>
            <a:r>
              <a:rPr lang="en-US" sz="2079" dirty="0"/>
              <a:t> and dorsal narrow</a:t>
            </a:r>
            <a:r>
              <a:rPr lang="en-US" sz="2079" dirty="0">
                <a:solidFill>
                  <a:srgbClr val="941100"/>
                </a:solidFill>
              </a:rPr>
              <a:t> primitive rectum</a:t>
            </a:r>
            <a:r>
              <a:rPr lang="en-US" sz="2079" dirty="0"/>
              <a:t> by growing </a:t>
            </a:r>
            <a:r>
              <a:rPr lang="en-US" sz="2079" dirty="0" err="1">
                <a:solidFill>
                  <a:srgbClr val="941100"/>
                </a:solidFill>
              </a:rPr>
              <a:t>urorectal</a:t>
            </a:r>
            <a:r>
              <a:rPr lang="en-US" sz="2079" dirty="0">
                <a:solidFill>
                  <a:srgbClr val="941100"/>
                </a:solidFill>
              </a:rPr>
              <a:t> septum</a:t>
            </a:r>
          </a:p>
          <a:p>
            <a:pPr marL="339470" lvl="0" indent="-339470" algn="just" defTabSz="905255">
              <a:defRPr sz="1800"/>
            </a:pPr>
            <a:r>
              <a:rPr lang="en-US" sz="2079" dirty="0" err="1">
                <a:solidFill>
                  <a:srgbClr val="941100"/>
                </a:solidFill>
              </a:rPr>
              <a:t>Urorectal</a:t>
            </a:r>
            <a:r>
              <a:rPr lang="en-US" sz="2079" dirty="0">
                <a:solidFill>
                  <a:srgbClr val="941100"/>
                </a:solidFill>
              </a:rPr>
              <a:t> septum</a:t>
            </a:r>
            <a:r>
              <a:rPr lang="en-US" sz="2079" dirty="0"/>
              <a:t> also divide </a:t>
            </a:r>
            <a:r>
              <a:rPr lang="en-US" sz="2079" dirty="0">
                <a:solidFill>
                  <a:srgbClr val="941100"/>
                </a:solidFill>
              </a:rPr>
              <a:t>cloacal membrane</a:t>
            </a:r>
            <a:r>
              <a:rPr lang="en-US" sz="2079" dirty="0"/>
              <a:t> into anterior urogenital membrane and posterior anal membrane</a:t>
            </a:r>
          </a:p>
          <a:p>
            <a:pPr marL="339470" lvl="0" indent="-339470" algn="just" defTabSz="905255">
              <a:defRPr sz="1800"/>
            </a:pPr>
            <a:r>
              <a:rPr lang="en-US" sz="2079" dirty="0"/>
              <a:t>Cloacal membrane ruptures by </a:t>
            </a:r>
            <a:r>
              <a:rPr lang="en-US" sz="2079" dirty="0">
                <a:solidFill>
                  <a:srgbClr val="941100"/>
                </a:solidFill>
              </a:rPr>
              <a:t>7th week</a:t>
            </a:r>
          </a:p>
          <a:p>
            <a:pPr marL="339470" lvl="0" indent="-339470" algn="just" defTabSz="905255">
              <a:defRPr sz="1800"/>
            </a:pPr>
            <a:r>
              <a:rPr lang="en-US" sz="2079" dirty="0"/>
              <a:t>Urogenital sinus forms urinary bladder and urethra whereas  </a:t>
            </a:r>
            <a:r>
              <a:rPr lang="en-US" sz="2079" dirty="0">
                <a:solidFill>
                  <a:srgbClr val="941100"/>
                </a:solidFill>
              </a:rPr>
              <a:t>primitive rectum forms rectum and upper part of anal canal</a:t>
            </a:r>
          </a:p>
          <a:p>
            <a:pPr marL="339470" lvl="0" indent="-339470" algn="just" defTabSz="905255">
              <a:defRPr sz="1800"/>
            </a:pPr>
            <a:r>
              <a:rPr lang="en-US" sz="2079" dirty="0">
                <a:solidFill>
                  <a:srgbClr val="941100"/>
                </a:solidFill>
              </a:rPr>
              <a:t>Tip of </a:t>
            </a:r>
            <a:r>
              <a:rPr lang="en-US" sz="2079" dirty="0" err="1">
                <a:solidFill>
                  <a:srgbClr val="941100"/>
                </a:solidFill>
              </a:rPr>
              <a:t>urorectal</a:t>
            </a:r>
            <a:r>
              <a:rPr lang="en-US" sz="2079" dirty="0">
                <a:solidFill>
                  <a:srgbClr val="941100"/>
                </a:solidFill>
              </a:rPr>
              <a:t> septum</a:t>
            </a:r>
            <a:r>
              <a:rPr lang="en-US" sz="2079" dirty="0"/>
              <a:t> form </a:t>
            </a:r>
            <a:r>
              <a:rPr lang="en-US" sz="2079" dirty="0">
                <a:solidFill>
                  <a:srgbClr val="941100"/>
                </a:solidFill>
              </a:rPr>
              <a:t>perineal body</a:t>
            </a:r>
          </a:p>
          <a:p>
            <a:pPr marL="339470" lvl="0" indent="-339470" algn="just" defTabSz="905255">
              <a:defRPr sz="1800"/>
            </a:pPr>
            <a:r>
              <a:rPr lang="en-US" sz="2079" dirty="0">
                <a:solidFill>
                  <a:srgbClr val="941100"/>
                </a:solidFill>
              </a:rPr>
              <a:t>The terminal part of anal canal is ectodermal </a:t>
            </a:r>
            <a:r>
              <a:rPr lang="en-US" sz="2079" dirty="0"/>
              <a:t>in origin because at the end of 8th week after rupture of cloacal membrane ectoderm proliferate and occlude the lower part of anal canal then recanalized and junction between end and ectoderm in anal canal called </a:t>
            </a:r>
            <a:r>
              <a:rPr lang="en-US" sz="2079" dirty="0">
                <a:solidFill>
                  <a:srgbClr val="941100"/>
                </a:solidFill>
              </a:rPr>
              <a:t>pectineal line</a:t>
            </a:r>
            <a:r>
              <a:rPr lang="en-US" sz="2079" dirty="0"/>
              <a:t>  </a:t>
            </a:r>
          </a:p>
        </p:txBody>
      </p:sp>
      <p:sp>
        <p:nvSpPr>
          <p:cNvPr id="106" name="Shape 106"/>
          <p:cNvSpPr>
            <a:spLocks noGrp="1"/>
          </p:cNvSpPr>
          <p:nvPr>
            <p:ph type="sldNum" sz="quarter" idx="12"/>
          </p:nvPr>
        </p:nvSpPr>
        <p:spPr>
          <a:prstGeom prst="rect">
            <a:avLst/>
          </a:prstGeom>
          <a:extLst>
            <a:ext uri="{C572A759-6A51-4108-AA02-DFA0A04FC94B}">
              <ma14:wrappingTextBoxFlag xmlns="" xmlns:ma14="http://schemas.microsoft.com/office/mac/drawingml/2011/main" val="1"/>
            </a:ext>
          </a:extLst>
        </p:spPr>
        <p:txBody>
          <a:bodyPr/>
          <a:lstStyle/>
          <a:p>
            <a:pPr lvl="0">
              <a:defRPr sz="1800">
                <a:solidFill>
                  <a:srgbClr val="000000"/>
                </a:solidFill>
              </a:defRPr>
            </a:pPr>
            <a:fld id="{86CB4B4D-7CA3-9044-876B-883B54F8677D}" type="slidenum">
              <a:rPr sz="1200">
                <a:solidFill>
                  <a:srgbClr val="888888"/>
                </a:solidFill>
              </a:rPr>
              <a:t>12</a:t>
            </a:fld>
            <a:endParaRPr sz="1200">
              <a:solidFill>
                <a:srgbClr val="888888"/>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Shape 110"/>
          <p:cNvSpPr>
            <a:spLocks noGrp="1"/>
          </p:cNvSpPr>
          <p:nvPr>
            <p:ph type="sldNum" sz="quarter" idx="12"/>
          </p:nvPr>
        </p:nvSpPr>
        <p:spPr>
          <a:prstGeom prst="rect">
            <a:avLst/>
          </a:prstGeom>
          <a:extLst>
            <a:ext uri="{C572A759-6A51-4108-AA02-DFA0A04FC94B}">
              <ma14:wrappingTextBoxFlag xmlns="" xmlns:ma14="http://schemas.microsoft.com/office/mac/drawingml/2011/main" val="1"/>
            </a:ext>
          </a:extLst>
        </p:spPr>
        <p:txBody>
          <a:bodyPr/>
          <a:lstStyle/>
          <a:p>
            <a:pPr lvl="0">
              <a:defRPr sz="1800">
                <a:solidFill>
                  <a:srgbClr val="000000"/>
                </a:solidFill>
              </a:defRPr>
            </a:pPr>
            <a:fld id="{86CB4B4D-7CA3-9044-876B-883B54F8677D}" type="slidenum">
              <a:rPr sz="1200">
                <a:solidFill>
                  <a:srgbClr val="888888"/>
                </a:solidFill>
              </a:rPr>
              <a:t>13</a:t>
            </a:fld>
            <a:endParaRPr sz="1200">
              <a:solidFill>
                <a:srgbClr val="888888"/>
              </a:solidFill>
            </a:endParaRPr>
          </a:p>
        </p:txBody>
      </p:sp>
      <p:pic>
        <p:nvPicPr>
          <p:cNvPr id="111" name="IMG-2897.jpg"/>
          <p:cNvPicPr/>
          <p:nvPr/>
        </p:nvPicPr>
        <p:blipFill>
          <a:blip r:embed="rId2"/>
          <a:srcRect l="6089" r="4656"/>
          <a:stretch>
            <a:fillRect/>
          </a:stretch>
        </p:blipFill>
        <p:spPr>
          <a:xfrm>
            <a:off x="428111" y="1255500"/>
            <a:ext cx="7420489" cy="4230900"/>
          </a:xfrm>
          <a:prstGeom prst="rect">
            <a:avLst/>
          </a:prstGeom>
          <a:ln w="12700">
            <a:miter lim="400000"/>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 name="Shape 113"/>
          <p:cNvSpPr>
            <a:spLocks noGrp="1"/>
          </p:cNvSpPr>
          <p:nvPr>
            <p:ph type="title"/>
          </p:nvPr>
        </p:nvSpPr>
        <p:spPr>
          <a:xfrm>
            <a:off x="457200" y="92076"/>
            <a:ext cx="8229600" cy="776481"/>
          </a:xfrm>
          <a:prstGeom prst="rect">
            <a:avLst/>
          </a:prstGeom>
        </p:spPr>
        <p:txBody>
          <a:bodyPr/>
          <a:lstStyle>
            <a:lvl1pPr defTabSz="905255">
              <a:defRPr sz="4356"/>
            </a:lvl1pPr>
          </a:lstStyle>
          <a:p>
            <a:pPr lvl="0">
              <a:defRPr sz="1800"/>
            </a:pPr>
            <a:r>
              <a:rPr sz="4356"/>
              <a:t>Anal canal development </a:t>
            </a:r>
          </a:p>
        </p:txBody>
      </p:sp>
      <p:sp>
        <p:nvSpPr>
          <p:cNvPr id="114" name="Shape 114"/>
          <p:cNvSpPr>
            <a:spLocks noGrp="1"/>
          </p:cNvSpPr>
          <p:nvPr>
            <p:ph idx="1"/>
          </p:nvPr>
        </p:nvSpPr>
        <p:spPr>
          <a:prstGeom prst="rect">
            <a:avLst/>
          </a:prstGeom>
        </p:spPr>
        <p:txBody>
          <a:bodyPr/>
          <a:lstStyle/>
          <a:p>
            <a:pPr lvl="0"/>
            <a:endParaRPr/>
          </a:p>
        </p:txBody>
      </p:sp>
      <p:sp>
        <p:nvSpPr>
          <p:cNvPr id="115" name="Shape 115"/>
          <p:cNvSpPr>
            <a:spLocks noGrp="1"/>
          </p:cNvSpPr>
          <p:nvPr>
            <p:ph type="sldNum" sz="quarter" idx="12"/>
          </p:nvPr>
        </p:nvSpPr>
        <p:spPr>
          <a:prstGeom prst="rect">
            <a:avLst/>
          </a:prstGeom>
          <a:extLst>
            <a:ext uri="{C572A759-6A51-4108-AA02-DFA0A04FC94B}">
              <ma14:wrappingTextBoxFlag xmlns="" xmlns:ma14="http://schemas.microsoft.com/office/mac/drawingml/2011/main" val="1"/>
            </a:ext>
          </a:extLst>
        </p:spPr>
        <p:txBody>
          <a:bodyPr/>
          <a:lstStyle/>
          <a:p>
            <a:pPr lvl="0">
              <a:defRPr sz="1800">
                <a:solidFill>
                  <a:srgbClr val="000000"/>
                </a:solidFill>
              </a:defRPr>
            </a:pPr>
            <a:fld id="{86CB4B4D-7CA3-9044-876B-883B54F8677D}" type="slidenum">
              <a:rPr sz="1200">
                <a:solidFill>
                  <a:srgbClr val="888888"/>
                </a:solidFill>
              </a:rPr>
              <a:t>14</a:t>
            </a:fld>
            <a:endParaRPr sz="1200">
              <a:solidFill>
                <a:srgbClr val="888888"/>
              </a:solidFill>
            </a:endParaRPr>
          </a:p>
        </p:txBody>
      </p:sp>
      <p:pic>
        <p:nvPicPr>
          <p:cNvPr id="116" name="IMG-2896.jpg"/>
          <p:cNvPicPr/>
          <p:nvPr/>
        </p:nvPicPr>
        <p:blipFill>
          <a:blip r:embed="rId2"/>
          <a:stretch>
            <a:fillRect/>
          </a:stretch>
        </p:blipFill>
        <p:spPr>
          <a:xfrm>
            <a:off x="353053" y="1242072"/>
            <a:ext cx="7674286" cy="4788705"/>
          </a:xfrm>
          <a:prstGeom prst="rect">
            <a:avLst/>
          </a:prstGeom>
          <a:ln w="12700">
            <a:miter lim="400000"/>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 name="Shape 118"/>
          <p:cNvSpPr>
            <a:spLocks noGrp="1"/>
          </p:cNvSpPr>
          <p:nvPr>
            <p:ph idx="1"/>
          </p:nvPr>
        </p:nvSpPr>
        <p:spPr>
          <a:prstGeom prst="rect">
            <a:avLst/>
          </a:prstGeom>
        </p:spPr>
        <p:txBody>
          <a:bodyPr/>
          <a:lstStyle/>
          <a:p>
            <a:pPr marL="114300" lvl="0" indent="0" algn="just">
              <a:buNone/>
              <a:defRPr sz="1800"/>
            </a:pPr>
            <a:endParaRPr sz="3200" dirty="0"/>
          </a:p>
          <a:p>
            <a:pPr lvl="0" algn="just">
              <a:defRPr sz="1800"/>
            </a:pPr>
            <a:r>
              <a:rPr lang="en-US" sz="3200" dirty="0"/>
              <a:t>D</a:t>
            </a:r>
            <a:r>
              <a:rPr sz="3200" dirty="0"/>
              <a:t>ue to failure of migration of </a:t>
            </a:r>
            <a:r>
              <a:rPr sz="3200" dirty="0">
                <a:solidFill>
                  <a:srgbClr val="941100"/>
                </a:solidFill>
              </a:rPr>
              <a:t>neural crest cells</a:t>
            </a:r>
            <a:endParaRPr sz="3200" dirty="0"/>
          </a:p>
          <a:p>
            <a:pPr lvl="0" algn="just">
              <a:defRPr sz="1800"/>
            </a:pPr>
            <a:r>
              <a:rPr lang="en-US" sz="3200" dirty="0"/>
              <a:t>A</a:t>
            </a:r>
            <a:r>
              <a:rPr sz="3200" dirty="0"/>
              <a:t> segment without parasympathetic supply </a:t>
            </a:r>
            <a:r>
              <a:rPr sz="3200" dirty="0">
                <a:solidFill>
                  <a:srgbClr val="941100"/>
                </a:solidFill>
              </a:rPr>
              <a:t>( ganglionic)</a:t>
            </a:r>
            <a:r>
              <a:rPr sz="3200" dirty="0"/>
              <a:t> show constriction and proximal to construction show dilatation due to accumulation of food</a:t>
            </a:r>
          </a:p>
          <a:p>
            <a:pPr lvl="0" algn="just">
              <a:defRPr sz="1800"/>
            </a:pPr>
            <a:r>
              <a:rPr lang="en-US" sz="3200" dirty="0"/>
              <a:t>T</a:t>
            </a:r>
            <a:r>
              <a:rPr sz="3200" dirty="0"/>
              <a:t>reatment </a:t>
            </a:r>
            <a:r>
              <a:rPr sz="3200" dirty="0">
                <a:solidFill>
                  <a:srgbClr val="941100"/>
                </a:solidFill>
              </a:rPr>
              <a:t>surgical resection</a:t>
            </a:r>
            <a:r>
              <a:rPr sz="3200" dirty="0"/>
              <a:t> </a:t>
            </a:r>
            <a:r>
              <a:rPr lang="en-US" sz="3200" dirty="0"/>
              <a:t> </a:t>
            </a:r>
            <a:r>
              <a:rPr sz="3200" dirty="0"/>
              <a:t>of constricted segment </a:t>
            </a:r>
          </a:p>
        </p:txBody>
      </p:sp>
      <p:sp>
        <p:nvSpPr>
          <p:cNvPr id="119" name="Shape 119"/>
          <p:cNvSpPr>
            <a:spLocks noGrp="1"/>
          </p:cNvSpPr>
          <p:nvPr>
            <p:ph type="sldNum" sz="quarter" idx="12"/>
          </p:nvPr>
        </p:nvSpPr>
        <p:spPr>
          <a:prstGeom prst="rect">
            <a:avLst/>
          </a:prstGeom>
          <a:extLst>
            <a:ext uri="{C572A759-6A51-4108-AA02-DFA0A04FC94B}">
              <ma14:wrappingTextBoxFlag xmlns="" xmlns:ma14="http://schemas.microsoft.com/office/mac/drawingml/2011/main" val="1"/>
            </a:ext>
          </a:extLst>
        </p:spPr>
        <p:txBody>
          <a:bodyPr/>
          <a:lstStyle/>
          <a:p>
            <a:pPr lvl="0">
              <a:defRPr sz="1800">
                <a:solidFill>
                  <a:srgbClr val="000000"/>
                </a:solidFill>
              </a:defRPr>
            </a:pPr>
            <a:fld id="{86CB4B4D-7CA3-9044-876B-883B54F8677D}" type="slidenum">
              <a:rPr sz="1200">
                <a:solidFill>
                  <a:srgbClr val="888888"/>
                </a:solidFill>
              </a:rPr>
              <a:t>15</a:t>
            </a:fld>
            <a:endParaRPr sz="1200">
              <a:solidFill>
                <a:srgbClr val="888888"/>
              </a:solidFill>
            </a:endParaRPr>
          </a:p>
        </p:txBody>
      </p:sp>
      <p:sp>
        <p:nvSpPr>
          <p:cNvPr id="120" name="Shape 120"/>
          <p:cNvSpPr/>
          <p:nvPr/>
        </p:nvSpPr>
        <p:spPr>
          <a:xfrm>
            <a:off x="2574589" y="1137250"/>
            <a:ext cx="3794893" cy="612141"/>
          </a:xfrm>
          <a:prstGeom prst="rect">
            <a:avLst/>
          </a:prstGeom>
          <a:ln w="12700">
            <a:miter lim="400000"/>
          </a:ln>
          <a:extLst>
            <a:ext uri="{C572A759-6A51-4108-AA02-DFA0A04FC94B}">
              <ma14:wrappingTextBoxFlag xmlns="" xmlns:ma14="http://schemas.microsoft.com/office/mac/drawingml/2011/main" val="1"/>
            </a:ext>
          </a:extLst>
        </p:spPr>
        <p:txBody>
          <a:bodyPr wrap="none" lIns="45719" rIns="45719">
            <a:spAutoFit/>
          </a:bodyPr>
          <a:lstStyle>
            <a:lvl1pPr>
              <a:defRPr sz="3400"/>
            </a:lvl1pPr>
          </a:lstStyle>
          <a:p>
            <a:pPr lvl="0">
              <a:defRPr sz="1800"/>
            </a:pPr>
            <a:r>
              <a:rPr sz="3400"/>
              <a:t>Hirschsprung disease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Shape 124"/>
          <p:cNvSpPr>
            <a:spLocks noGrp="1"/>
          </p:cNvSpPr>
          <p:nvPr>
            <p:ph type="sldNum" sz="quarter" idx="12"/>
          </p:nvPr>
        </p:nvSpPr>
        <p:spPr>
          <a:prstGeom prst="rect">
            <a:avLst/>
          </a:prstGeom>
          <a:extLst>
            <a:ext uri="{C572A759-6A51-4108-AA02-DFA0A04FC94B}">
              <ma14:wrappingTextBoxFlag xmlns="" xmlns:ma14="http://schemas.microsoft.com/office/mac/drawingml/2011/main" val="1"/>
            </a:ext>
          </a:extLst>
        </p:spPr>
        <p:txBody>
          <a:bodyPr/>
          <a:lstStyle/>
          <a:p>
            <a:pPr lvl="0">
              <a:defRPr sz="1800">
                <a:solidFill>
                  <a:srgbClr val="000000"/>
                </a:solidFill>
              </a:defRPr>
            </a:pPr>
            <a:fld id="{86CB4B4D-7CA3-9044-876B-883B54F8677D}" type="slidenum">
              <a:rPr sz="1200">
                <a:solidFill>
                  <a:srgbClr val="888888"/>
                </a:solidFill>
              </a:rPr>
              <a:t>16</a:t>
            </a:fld>
            <a:endParaRPr sz="1200">
              <a:solidFill>
                <a:srgbClr val="888888"/>
              </a:solidFill>
            </a:endParaRPr>
          </a:p>
        </p:txBody>
      </p:sp>
      <p:sp>
        <p:nvSpPr>
          <p:cNvPr id="125" name="Shape 125"/>
          <p:cNvSpPr/>
          <p:nvPr/>
        </p:nvSpPr>
        <p:spPr>
          <a:xfrm>
            <a:off x="5613935" y="2020029"/>
            <a:ext cx="2287600" cy="1270001"/>
          </a:xfrm>
          <a:prstGeom prst="rect">
            <a:avLst/>
          </a:prstGeom>
          <a:gradFill>
            <a:gsLst>
              <a:gs pos="0">
                <a:srgbClr val="C8B2E9"/>
              </a:gs>
              <a:gs pos="35000">
                <a:srgbClr val="D8C9EE"/>
              </a:gs>
              <a:gs pos="100000">
                <a:srgbClr val="F0EAF9"/>
              </a:gs>
            </a:gsLst>
            <a:lin ang="16200000"/>
          </a:gradFill>
          <a:ln>
            <a:solidFill>
              <a:srgbClr val="7D60A0"/>
            </a:solidFill>
          </a:ln>
          <a:effectLst>
            <a:outerShdw blurRad="38100" dist="20000" dir="5400000" rotWithShape="0">
              <a:srgbClr val="000000">
                <a:alpha val="38000"/>
              </a:srgbClr>
            </a:outerShdw>
          </a:effectLst>
          <a:extLst>
            <a:ext uri="{C572A759-6A51-4108-AA02-DFA0A04FC94B}">
              <ma14:wrappingTextBoxFlag xmlns="" xmlns:ma14="http://schemas.microsoft.com/office/mac/drawingml/2011/main" val="1"/>
            </a:ext>
          </a:extLst>
        </p:spPr>
        <p:txBody>
          <a:bodyPr lIns="45719" rIns="45719" anchor="ctr"/>
          <a:lstStyle>
            <a:lvl1pPr>
              <a:defRPr sz="2400"/>
            </a:lvl1pPr>
          </a:lstStyle>
          <a:p>
            <a:pPr lvl="0">
              <a:defRPr sz="1800"/>
            </a:pPr>
            <a:r>
              <a:rPr sz="2400"/>
              <a:t>imperforate anus</a:t>
            </a:r>
          </a:p>
        </p:txBody>
      </p:sp>
      <p:sp>
        <p:nvSpPr>
          <p:cNvPr id="126" name="Shape 126"/>
          <p:cNvSpPr/>
          <p:nvPr/>
        </p:nvSpPr>
        <p:spPr>
          <a:xfrm>
            <a:off x="3792796" y="2020029"/>
            <a:ext cx="1270001" cy="1270001"/>
          </a:xfrm>
          <a:prstGeom prst="rightArrow">
            <a:avLst>
              <a:gd name="adj1" fmla="val 32000"/>
              <a:gd name="adj2" fmla="val 64000"/>
            </a:avLst>
          </a:prstGeom>
          <a:gradFill>
            <a:gsLst>
              <a:gs pos="0">
                <a:srgbClr val="C8B2E9"/>
              </a:gs>
              <a:gs pos="35000">
                <a:srgbClr val="D8C9EE"/>
              </a:gs>
              <a:gs pos="100000">
                <a:srgbClr val="F0EAF9"/>
              </a:gs>
            </a:gsLst>
            <a:lin ang="16200000"/>
          </a:gradFill>
          <a:ln>
            <a:solidFill>
              <a:srgbClr val="7D60A0"/>
            </a:solidFill>
          </a:ln>
          <a:effectLst>
            <a:outerShdw blurRad="38100" dist="20000" dir="5400000" rotWithShape="0">
              <a:srgbClr val="000000">
                <a:alpha val="38000"/>
              </a:srgbClr>
            </a:outerShdw>
          </a:effectLst>
        </p:spPr>
        <p:txBody>
          <a:bodyPr lIns="45719" rIns="45719" anchor="ctr"/>
          <a:lstStyle/>
          <a:p>
            <a:pPr lvl="0"/>
            <a:endParaRPr/>
          </a:p>
        </p:txBody>
      </p:sp>
      <p:sp>
        <p:nvSpPr>
          <p:cNvPr id="127" name="Shape 127"/>
          <p:cNvSpPr/>
          <p:nvPr/>
        </p:nvSpPr>
        <p:spPr>
          <a:xfrm>
            <a:off x="615895" y="533400"/>
            <a:ext cx="3010917" cy="3429000"/>
          </a:xfrm>
          <a:prstGeom prst="rect">
            <a:avLst/>
          </a:prstGeom>
          <a:gradFill>
            <a:gsLst>
              <a:gs pos="0">
                <a:srgbClr val="C8B2E9"/>
              </a:gs>
              <a:gs pos="35000">
                <a:srgbClr val="D8C9EE"/>
              </a:gs>
              <a:gs pos="100000">
                <a:srgbClr val="F0EAF9"/>
              </a:gs>
            </a:gsLst>
            <a:lin ang="16200000"/>
          </a:gradFill>
          <a:ln>
            <a:solidFill>
              <a:srgbClr val="7D60A0"/>
            </a:solidFill>
          </a:ln>
          <a:effectLst>
            <a:outerShdw blurRad="38100" dist="20000" dir="5400000" rotWithShape="0">
              <a:srgbClr val="000000">
                <a:alpha val="38000"/>
              </a:srgbClr>
            </a:outerShdw>
          </a:effectLst>
          <a:extLst>
            <a:ext uri="{C572A759-6A51-4108-AA02-DFA0A04FC94B}">
              <ma14:wrappingTextBoxFlag xmlns="" xmlns:ma14="http://schemas.microsoft.com/office/mac/drawingml/2011/main" val="1"/>
            </a:ext>
          </a:extLst>
        </p:spPr>
        <p:txBody>
          <a:bodyPr lIns="45719" rIns="45719" anchor="ctr"/>
          <a:lstStyle/>
          <a:p>
            <a:pPr lvl="0"/>
            <a:r>
              <a:rPr dirty="0"/>
              <a:t>-</a:t>
            </a:r>
            <a:r>
              <a:rPr sz="2400" dirty="0"/>
              <a:t>failure of rupture of anal membrane</a:t>
            </a:r>
          </a:p>
          <a:p>
            <a:pPr lvl="0"/>
            <a:r>
              <a:rPr sz="2400" dirty="0"/>
              <a:t>-failure of development ectodermal </a:t>
            </a:r>
            <a:r>
              <a:rPr sz="2400" dirty="0" err="1"/>
              <a:t>proctodeum</a:t>
            </a:r>
            <a:endParaRPr sz="2400" dirty="0"/>
          </a:p>
          <a:p>
            <a:pPr lvl="0"/>
            <a:r>
              <a:rPr sz="2400" dirty="0"/>
              <a:t>-failure of rectal development </a:t>
            </a:r>
          </a:p>
          <a:p>
            <a:pPr lvl="0"/>
            <a:endParaRPr sz="2400" dirty="0"/>
          </a:p>
        </p:txBody>
      </p:sp>
      <p:sp>
        <p:nvSpPr>
          <p:cNvPr id="128" name="Shape 128"/>
          <p:cNvSpPr/>
          <p:nvPr/>
        </p:nvSpPr>
        <p:spPr>
          <a:xfrm>
            <a:off x="675417" y="4487059"/>
            <a:ext cx="3010916" cy="1270001"/>
          </a:xfrm>
          <a:prstGeom prst="rect">
            <a:avLst/>
          </a:prstGeom>
          <a:gradFill>
            <a:gsLst>
              <a:gs pos="0">
                <a:srgbClr val="2A869F"/>
              </a:gs>
              <a:gs pos="80000">
                <a:srgbClr val="37B1D1"/>
              </a:gs>
              <a:gs pos="100000">
                <a:srgbClr val="34B3D5"/>
              </a:gs>
            </a:gsLst>
            <a:lin ang="16200000"/>
          </a:gradFill>
          <a:ln>
            <a:solidFill>
              <a:srgbClr val="46AAC4"/>
            </a:solidFill>
          </a:ln>
          <a:effectLst>
            <a:outerShdw blurRad="38100" dist="23000" dir="5400000" rotWithShape="0">
              <a:srgbClr val="000000">
                <a:alpha val="35000"/>
              </a:srgbClr>
            </a:outerShdw>
          </a:effectLst>
          <a:extLst>
            <a:ext uri="{C572A759-6A51-4108-AA02-DFA0A04FC94B}">
              <ma14:wrappingTextBoxFlag xmlns="" xmlns:ma14="http://schemas.microsoft.com/office/mac/drawingml/2011/main" val="1"/>
            </a:ext>
          </a:extLst>
        </p:spPr>
        <p:txBody>
          <a:bodyPr lIns="45719" rIns="45719" anchor="ctr"/>
          <a:lstStyle>
            <a:lvl1pPr>
              <a:defRPr sz="2700"/>
            </a:lvl1pPr>
          </a:lstStyle>
          <a:p>
            <a:pPr lvl="0">
              <a:defRPr sz="1800"/>
            </a:pPr>
            <a:r>
              <a:rPr sz="2700"/>
              <a:t>abnormal division of cloacal membrane </a:t>
            </a:r>
          </a:p>
        </p:txBody>
      </p:sp>
      <p:sp>
        <p:nvSpPr>
          <p:cNvPr id="129" name="Shape 129"/>
          <p:cNvSpPr/>
          <p:nvPr/>
        </p:nvSpPr>
        <p:spPr>
          <a:xfrm>
            <a:off x="4066910" y="4309691"/>
            <a:ext cx="1270001" cy="1270001"/>
          </a:xfrm>
          <a:prstGeom prst="rightArrow">
            <a:avLst>
              <a:gd name="adj1" fmla="val 32000"/>
              <a:gd name="adj2" fmla="val 64000"/>
            </a:avLst>
          </a:prstGeom>
          <a:gradFill>
            <a:gsLst>
              <a:gs pos="0">
                <a:srgbClr val="2A869F"/>
              </a:gs>
              <a:gs pos="80000">
                <a:srgbClr val="37B1D1"/>
              </a:gs>
              <a:gs pos="100000">
                <a:srgbClr val="34B3D5"/>
              </a:gs>
            </a:gsLst>
            <a:lin ang="16200000"/>
          </a:gradFill>
          <a:ln>
            <a:solidFill>
              <a:srgbClr val="46AAC4"/>
            </a:solidFill>
          </a:ln>
          <a:effectLst>
            <a:outerShdw blurRad="38100" dist="23000" dir="5400000" rotWithShape="0">
              <a:srgbClr val="000000">
                <a:alpha val="35000"/>
              </a:srgbClr>
            </a:outerShdw>
          </a:effectLst>
        </p:spPr>
        <p:txBody>
          <a:bodyPr lIns="45719" rIns="45719" anchor="ctr"/>
          <a:lstStyle/>
          <a:p>
            <a:pPr lvl="0">
              <a:defRPr>
                <a:solidFill>
                  <a:srgbClr val="FFFFFF"/>
                </a:solidFill>
              </a:defRPr>
            </a:pPr>
            <a:endParaRPr/>
          </a:p>
        </p:txBody>
      </p:sp>
      <p:sp>
        <p:nvSpPr>
          <p:cNvPr id="130" name="Shape 130"/>
          <p:cNvSpPr/>
          <p:nvPr/>
        </p:nvSpPr>
        <p:spPr>
          <a:xfrm>
            <a:off x="5715657" y="4214542"/>
            <a:ext cx="1792216" cy="1270001"/>
          </a:xfrm>
          <a:prstGeom prst="rect">
            <a:avLst/>
          </a:prstGeom>
          <a:gradFill>
            <a:gsLst>
              <a:gs pos="0">
                <a:srgbClr val="2A869F"/>
              </a:gs>
              <a:gs pos="80000">
                <a:srgbClr val="37B1D1"/>
              </a:gs>
              <a:gs pos="100000">
                <a:srgbClr val="34B3D5"/>
              </a:gs>
            </a:gsLst>
            <a:lin ang="16200000"/>
          </a:gradFill>
          <a:ln>
            <a:solidFill>
              <a:srgbClr val="46AAC4"/>
            </a:solidFill>
          </a:ln>
          <a:effectLst>
            <a:outerShdw blurRad="38100" dist="23000" dir="5400000" rotWithShape="0">
              <a:srgbClr val="000000">
                <a:alpha val="35000"/>
              </a:srgbClr>
            </a:outerShdw>
          </a:effectLst>
          <a:extLst>
            <a:ext uri="{C572A759-6A51-4108-AA02-DFA0A04FC94B}">
              <ma14:wrappingTextBoxFlag xmlns="" xmlns:ma14="http://schemas.microsoft.com/office/mac/drawingml/2011/main" val="1"/>
            </a:ext>
          </a:extLst>
        </p:spPr>
        <p:txBody>
          <a:bodyPr lIns="45719" rIns="45719" anchor="ctr"/>
          <a:lstStyle>
            <a:lvl1pPr>
              <a:defRPr sz="2500"/>
            </a:lvl1pPr>
          </a:lstStyle>
          <a:p>
            <a:pPr lvl="0">
              <a:defRPr sz="1800"/>
            </a:pPr>
            <a:r>
              <a:rPr sz="2500"/>
              <a:t>ectopic anus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 name="Shape 132"/>
          <p:cNvSpPr>
            <a:spLocks noGrp="1"/>
          </p:cNvSpPr>
          <p:nvPr>
            <p:ph type="title"/>
          </p:nvPr>
        </p:nvSpPr>
        <p:spPr>
          <a:xfrm>
            <a:off x="344329" y="2236618"/>
            <a:ext cx="8229601" cy="1508125"/>
          </a:xfrm>
          <a:prstGeom prst="rect">
            <a:avLst/>
          </a:prstGeom>
        </p:spPr>
        <p:txBody>
          <a:bodyPr/>
          <a:lstStyle>
            <a:lvl1pPr defTabSz="859536">
              <a:defRPr sz="9024">
                <a:latin typeface="Brush Script MT Italic"/>
                <a:ea typeface="Brush Script MT Italic"/>
                <a:cs typeface="Brush Script MT Italic"/>
                <a:sym typeface="Brush Script MT Italic"/>
              </a:defRPr>
            </a:lvl1pPr>
          </a:lstStyle>
          <a:p>
            <a:pPr lvl="0" algn="ctr">
              <a:defRPr sz="1800"/>
            </a:pPr>
            <a:r>
              <a:rPr sz="9024" dirty="0"/>
              <a:t>Thank you</a:t>
            </a:r>
          </a:p>
        </p:txBody>
      </p:sp>
      <p:sp>
        <p:nvSpPr>
          <p:cNvPr id="133" name="Shape 133"/>
          <p:cNvSpPr>
            <a:spLocks noGrp="1"/>
          </p:cNvSpPr>
          <p:nvPr>
            <p:ph type="sldNum" sz="quarter" idx="12"/>
          </p:nvPr>
        </p:nvSpPr>
        <p:spPr>
          <a:prstGeom prst="rect">
            <a:avLst/>
          </a:prstGeom>
          <a:extLst>
            <a:ext uri="{C572A759-6A51-4108-AA02-DFA0A04FC94B}">
              <ma14:wrappingTextBoxFlag xmlns="" xmlns:ma14="http://schemas.microsoft.com/office/mac/drawingml/2011/main" val="1"/>
            </a:ext>
          </a:extLst>
        </p:spPr>
        <p:txBody>
          <a:bodyPr/>
          <a:lstStyle/>
          <a:p>
            <a:pPr lvl="0">
              <a:defRPr sz="1800">
                <a:solidFill>
                  <a:srgbClr val="000000"/>
                </a:solidFill>
              </a:defRPr>
            </a:pPr>
            <a:fld id="{86CB4B4D-7CA3-9044-876B-883B54F8677D}" type="slidenum">
              <a:rPr sz="1200">
                <a:solidFill>
                  <a:srgbClr val="888888"/>
                </a:solidFill>
              </a:rPr>
              <a:t>17</a:t>
            </a:fld>
            <a:endParaRPr sz="1200">
              <a:solidFill>
                <a:srgbClr val="888888"/>
              </a:solidFill>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djacency">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djacency">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gradFill rotWithShape="1">
          <a:gsLst>
            <a:gs pos="0">
              <a:schemeClr val="phClr">
                <a:tint val="90000"/>
              </a:schemeClr>
            </a:gs>
            <a:gs pos="75000">
              <a:schemeClr val="phClr">
                <a:shade val="100000"/>
                <a:satMod val="115000"/>
              </a:schemeClr>
            </a:gs>
            <a:gs pos="100000">
              <a:schemeClr val="phClr">
                <a:shade val="70000"/>
                <a:satMod val="130000"/>
              </a:schemeClr>
            </a:gs>
          </a:gsLst>
          <a:path path="circle">
            <a:fillToRect l="20000" t="50000" r="100000" b="50000"/>
          </a:path>
        </a:gradFill>
        <a:blipFill rotWithShape="1">
          <a:blip xmlns:r="http://schemas.openxmlformats.org/officeDocument/2006/relationships" r:embed="rId1">
            <a:duotone>
              <a:schemeClr val="phClr">
                <a:tint val="97000"/>
              </a:schemeClr>
              <a:schemeClr val="phClr">
                <a:shade val="96000"/>
              </a:schemeClr>
            </a:duotone>
          </a:blip>
          <a:tile tx="0" ty="0" sx="32000" sy="32000" flip="none" algn="tl"/>
        </a:blipFill>
      </a:bgFillStyleLst>
    </a:fmtScheme>
  </a:themeElements>
  <a:objectDefaults/>
  <a:extraClrSchemeLst/>
</a:theme>
</file>

<file path=ppt/theme/theme2.xml><?xml version="1.0" encoding="utf-8"?>
<a:theme xmlns:a="http://schemas.openxmlformats.org/drawingml/2006/main" name="Default">
  <a:themeElements>
    <a:clrScheme name="Default">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Default">
      <a:majorFont>
        <a:latin typeface="Helvetica"/>
        <a:ea typeface="Helvetica"/>
        <a:cs typeface="Helvetica"/>
      </a:majorFont>
      <a:minorFont>
        <a:latin typeface="Helvetica Neue"/>
        <a:ea typeface="Helvetica Neue"/>
        <a:cs typeface="Helvetica Neue"/>
      </a:minorFont>
    </a:fontScheme>
    <a:fmtScheme name="Defaul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rgbClr val="4F81BD"/>
          </a:solidFill>
          <a:prstDash val="solid"/>
          <a:bevel/>
        </a:ln>
        <a:effectLst>
          <a:outerShdw blurRad="38100" dist="23000" dir="5400000" rotWithShape="0">
            <a:srgbClr val="000000">
              <a:alpha val="35000"/>
            </a:srgbClr>
          </a:outerShdw>
        </a:effectLst>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4F81BD"/>
          </a:solidFill>
          <a:prstDash val="solid"/>
          <a:bevel/>
        </a:ln>
        <a:effectLst>
          <a:outerShdw blurRad="38100" dist="20000" dir="5400000" rotWithShape="0">
            <a:srgbClr val="000000">
              <a:alpha val="38000"/>
            </a:srgbClr>
          </a:outerShdw>
        </a:effectLst>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emplate>Adjacency</Template>
  <TotalTime>284</TotalTime>
  <Words>700</Words>
  <Application>Microsoft Office PowerPoint</Application>
  <PresentationFormat>On-screen Show (4:3)</PresentationFormat>
  <Paragraphs>84</Paragraphs>
  <Slides>17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Calibri</vt:lpstr>
      <vt:lpstr>Cambria</vt:lpstr>
      <vt:lpstr>Candara</vt:lpstr>
      <vt:lpstr>Helvetica Neue</vt:lpstr>
      <vt:lpstr>Adjacency</vt:lpstr>
      <vt:lpstr>Embryology Digestive system – Part 2</vt:lpstr>
      <vt:lpstr>Midgut </vt:lpstr>
      <vt:lpstr>Physiological umbilical hernia</vt:lpstr>
      <vt:lpstr>Rotation of gut</vt:lpstr>
      <vt:lpstr>PowerPoint Presentation</vt:lpstr>
      <vt:lpstr>Atresia of jejunum, ileum and colon</vt:lpstr>
      <vt:lpstr>PowerPoint Presentation</vt:lpstr>
      <vt:lpstr>PowerPoint Presentation</vt:lpstr>
      <vt:lpstr>persistent vitello-intestinal duct and Meckel’s diverticulum</vt:lpstr>
      <vt:lpstr>PowerPoint Presentation</vt:lpstr>
      <vt:lpstr>Hindgut</vt:lpstr>
      <vt:lpstr>PowerPoint Presentation</vt:lpstr>
      <vt:lpstr>PowerPoint Presentation</vt:lpstr>
      <vt:lpstr>Anal canal development </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Digestive system part II</dc:title>
  <cp:lastModifiedBy>Aso</cp:lastModifiedBy>
  <cp:revision>14</cp:revision>
  <dcterms:modified xsi:type="dcterms:W3CDTF">2024-02-20T00:47:28Z</dcterms:modified>
</cp:coreProperties>
</file>