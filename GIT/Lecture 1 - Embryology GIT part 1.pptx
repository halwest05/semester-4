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2" d="100"/>
          <a:sy n="122" d="100"/>
        </p:scale>
        <p:origin x="1293" y="6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19/02/2024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19/02/2024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19/02/2024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19/02/2024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19/02/2024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19/02/2024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19/02/2024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19/02/2024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19/02/2024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19/02/2024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19/02/2024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19/02/2024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5000" y="1752600"/>
            <a:ext cx="5638800" cy="142731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0"/>
              </a:spcBef>
            </a:pPr>
            <a:r>
              <a:rPr lang="en-US" b="1" spc="-5" dirty="0">
                <a:solidFill>
                  <a:srgbClr val="FF0000"/>
                </a:solidFill>
                <a:latin typeface="Candara" panose="020E0502030303020204" pitchFamily="34" charset="0"/>
              </a:rPr>
              <a:t>Embryology</a:t>
            </a:r>
            <a:br>
              <a:rPr lang="en-US" b="1" spc="-5" dirty="0">
                <a:solidFill>
                  <a:srgbClr val="FF0000"/>
                </a:solidFill>
                <a:latin typeface="Candara" panose="020E0502030303020204" pitchFamily="34" charset="0"/>
              </a:rPr>
            </a:br>
            <a:r>
              <a:rPr b="1" spc="-5" dirty="0">
                <a:solidFill>
                  <a:srgbClr val="FF0000"/>
                </a:solidFill>
                <a:latin typeface="Candara" panose="020E0502030303020204" pitchFamily="34" charset="0"/>
              </a:rPr>
              <a:t>Digestive</a:t>
            </a:r>
            <a:r>
              <a:rPr b="1" spc="-10" dirty="0">
                <a:solidFill>
                  <a:srgbClr val="FF0000"/>
                </a:solidFill>
                <a:latin typeface="Candara" panose="020E0502030303020204" pitchFamily="34" charset="0"/>
              </a:rPr>
              <a:t>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EF3BEC-C583-EA3E-7194-422D69A19286}"/>
              </a:ext>
            </a:extLst>
          </p:cNvPr>
          <p:cNvSpPr txBox="1"/>
          <p:nvPr/>
        </p:nvSpPr>
        <p:spPr>
          <a:xfrm>
            <a:off x="2133600" y="3505200"/>
            <a:ext cx="48768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+mj-lt"/>
              </a:rPr>
              <a:t>Dr. Aso Ahmad Abdulla</a:t>
            </a:r>
          </a:p>
          <a:p>
            <a:pPr algn="ctr"/>
            <a:r>
              <a:rPr lang="en-US" dirty="0"/>
              <a:t>Board Certified General and Laparoscopic Surgeon</a:t>
            </a:r>
          </a:p>
          <a:p>
            <a:pPr algn="ctr"/>
            <a:r>
              <a:rPr lang="en-US" dirty="0"/>
              <a:t>FIBMS, MBChB</a:t>
            </a:r>
          </a:p>
          <a:p>
            <a:pPr algn="ctr"/>
            <a:r>
              <a:rPr lang="en-US" dirty="0"/>
              <a:t>College of Medicine</a:t>
            </a:r>
          </a:p>
          <a:p>
            <a:pPr algn="ctr"/>
            <a:r>
              <a:rPr lang="en-US" dirty="0"/>
              <a:t>University of </a:t>
            </a:r>
            <a:r>
              <a:rPr lang="en-US" dirty="0" err="1"/>
              <a:t>Garmian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457200"/>
            <a:ext cx="6284596" cy="750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800" spc="-5" dirty="0">
                <a:solidFill>
                  <a:srgbClr val="3E6796"/>
                </a:solidFill>
              </a:rPr>
              <a:t>Divisions</a:t>
            </a:r>
            <a:r>
              <a:rPr sz="4800" dirty="0">
                <a:solidFill>
                  <a:srgbClr val="3E6796"/>
                </a:solidFill>
              </a:rPr>
              <a:t> of</a:t>
            </a:r>
            <a:r>
              <a:rPr sz="4800" spc="-15" dirty="0">
                <a:solidFill>
                  <a:srgbClr val="3E6796"/>
                </a:solidFill>
              </a:rPr>
              <a:t> </a:t>
            </a:r>
            <a:r>
              <a:rPr sz="4800" spc="-5" dirty="0">
                <a:solidFill>
                  <a:srgbClr val="3E6796"/>
                </a:solidFill>
              </a:rPr>
              <a:t>the</a:t>
            </a:r>
            <a:r>
              <a:rPr sz="4800" spc="10" dirty="0">
                <a:solidFill>
                  <a:srgbClr val="3E6796"/>
                </a:solidFill>
              </a:rPr>
              <a:t> </a:t>
            </a:r>
            <a:r>
              <a:rPr sz="4800" spc="-5" dirty="0">
                <a:solidFill>
                  <a:srgbClr val="3E6796"/>
                </a:solidFill>
              </a:rPr>
              <a:t>gut</a:t>
            </a:r>
            <a:r>
              <a:rPr sz="4800" spc="15" dirty="0">
                <a:solidFill>
                  <a:srgbClr val="3E6796"/>
                </a:solidFill>
              </a:rPr>
              <a:t> </a:t>
            </a:r>
            <a:r>
              <a:rPr sz="4800" spc="-5" dirty="0">
                <a:solidFill>
                  <a:srgbClr val="3E6796"/>
                </a:solidFill>
              </a:rPr>
              <a:t>tube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524" y="1609420"/>
            <a:ext cx="8026400" cy="4104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278130" indent="-344805" algn="just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latin typeface="Calibri"/>
                <a:cs typeface="Calibri"/>
              </a:rPr>
              <a:t>As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result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cephalocaudal</a:t>
            </a:r>
            <a:r>
              <a:rPr sz="3200" spc="4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and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lateral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folding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of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embryo,</a:t>
            </a:r>
            <a:endParaRPr sz="3200" dirty="0">
              <a:latin typeface="Calibri"/>
              <a:cs typeface="Calibri"/>
            </a:endParaRPr>
          </a:p>
          <a:p>
            <a:pPr marL="356870" marR="5080" indent="-344805" algn="just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200" spc="-5" dirty="0">
                <a:latin typeface="Calibri"/>
                <a:cs typeface="Calibri"/>
              </a:rPr>
              <a:t>A </a:t>
            </a:r>
            <a:r>
              <a:rPr sz="3200" spc="-10" dirty="0">
                <a:latin typeface="Calibri"/>
                <a:cs typeface="Calibri"/>
              </a:rPr>
              <a:t>portion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of</a:t>
            </a:r>
            <a:r>
              <a:rPr sz="3200" spc="-5" dirty="0">
                <a:latin typeface="Calibri"/>
                <a:cs typeface="Calibri"/>
              </a:rPr>
              <a:t> the endoderm-lined</a:t>
            </a:r>
            <a:r>
              <a:rPr sz="3200" spc="6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yolk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sac </a:t>
            </a:r>
            <a:r>
              <a:rPr sz="3200" spc="-5" dirty="0">
                <a:latin typeface="Calibri"/>
                <a:cs typeface="Calibri"/>
              </a:rPr>
              <a:t> cavity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is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incorporated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into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spc="-10" dirty="0">
                <a:latin typeface="Calibri"/>
                <a:cs typeface="Calibri"/>
              </a:rPr>
              <a:t>embryo</a:t>
            </a:r>
            <a:r>
              <a:rPr sz="3200" spc="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form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b="1" spc="-10" dirty="0">
                <a:latin typeface="Calibri"/>
                <a:cs typeface="Calibri"/>
              </a:rPr>
              <a:t>primitive</a:t>
            </a:r>
            <a:r>
              <a:rPr sz="3200" b="1" spc="4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gut.</a:t>
            </a:r>
            <a:endParaRPr sz="3200" dirty="0">
              <a:latin typeface="Calibri"/>
              <a:cs typeface="Calibri"/>
            </a:endParaRPr>
          </a:p>
          <a:p>
            <a:pPr marL="356870" marR="247015" indent="-344805" algn="just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200" b="1" spc="-10" dirty="0">
                <a:latin typeface="Calibri"/>
                <a:cs typeface="Calibri"/>
              </a:rPr>
              <a:t>Two</a:t>
            </a:r>
            <a:r>
              <a:rPr sz="3200" b="1" spc="15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other</a:t>
            </a:r>
            <a:r>
              <a:rPr sz="3200" b="1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portions</a:t>
            </a:r>
            <a:r>
              <a:rPr sz="3200" b="1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of</a:t>
            </a:r>
            <a:r>
              <a:rPr sz="3200" b="1" spc="2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the</a:t>
            </a:r>
            <a:r>
              <a:rPr sz="3200" b="1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endoderm-lined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cavity,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yolk</a:t>
            </a:r>
            <a:r>
              <a:rPr sz="3200" b="1" spc="10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sac</a:t>
            </a:r>
            <a:r>
              <a:rPr sz="3200" b="1" spc="-20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and</a:t>
            </a:r>
            <a:r>
              <a:rPr sz="3200" b="1" spc="1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the</a:t>
            </a:r>
            <a:r>
              <a:rPr sz="3200" b="1" spc="15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allantois,</a:t>
            </a:r>
            <a:r>
              <a:rPr sz="3200" b="1" spc="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remain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outside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spc="-10" dirty="0">
                <a:latin typeface="Calibri"/>
                <a:cs typeface="Calibri"/>
              </a:rPr>
              <a:t>embryo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4432" y="708183"/>
            <a:ext cx="7035900" cy="54182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524" y="1609420"/>
            <a:ext cx="8145780" cy="3040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5080" indent="-344805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200" dirty="0">
                <a:latin typeface="Calibri"/>
                <a:cs typeface="Calibri"/>
              </a:rPr>
              <a:t>In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cephalic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and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caudal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parts</a:t>
            </a:r>
            <a:r>
              <a:rPr sz="3200" spc="-5" dirty="0">
                <a:latin typeface="Calibri"/>
                <a:cs typeface="Calibri"/>
              </a:rPr>
              <a:t> of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-10" dirty="0">
                <a:latin typeface="Calibri"/>
                <a:cs typeface="Calibri"/>
              </a:rPr>
              <a:t> embryo,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primitive</a:t>
            </a:r>
            <a:r>
              <a:rPr sz="3200" spc="5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gut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forms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blind-ending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tube, </a:t>
            </a:r>
            <a:r>
              <a:rPr sz="3200" spc="-5" dirty="0">
                <a:latin typeface="Calibri"/>
                <a:cs typeface="Calibri"/>
              </a:rPr>
              <a:t> the </a:t>
            </a:r>
            <a:r>
              <a:rPr sz="3200" b="1" spc="-10" dirty="0">
                <a:latin typeface="Calibri"/>
                <a:cs typeface="Calibri"/>
              </a:rPr>
              <a:t>foregut</a:t>
            </a:r>
            <a:r>
              <a:rPr sz="3200" b="1" spc="35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and</a:t>
            </a:r>
            <a:r>
              <a:rPr sz="3200" b="1" spc="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hindgut,</a:t>
            </a:r>
            <a:r>
              <a:rPr sz="3200" b="1" spc="3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respectively.</a:t>
            </a:r>
            <a:endParaRPr sz="3200" dirty="0">
              <a:latin typeface="Calibri"/>
              <a:cs typeface="Calibri"/>
            </a:endParaRPr>
          </a:p>
          <a:p>
            <a:pPr marL="356870" marR="8255" indent="-344805" algn="just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200" b="1" spc="-10" dirty="0">
                <a:latin typeface="Calibri"/>
                <a:cs typeface="Calibri"/>
              </a:rPr>
              <a:t>The</a:t>
            </a:r>
            <a:r>
              <a:rPr sz="3200" b="1" spc="1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middle</a:t>
            </a:r>
            <a:r>
              <a:rPr sz="3200" b="1" spc="2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part,</a:t>
            </a:r>
            <a:r>
              <a:rPr sz="3200" b="1" spc="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the</a:t>
            </a:r>
            <a:r>
              <a:rPr sz="3200" b="1" spc="1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midgut,</a:t>
            </a:r>
            <a:r>
              <a:rPr sz="3200" spc="-10" dirty="0">
                <a:latin typeface="Calibri"/>
                <a:cs typeface="Calibri"/>
              </a:rPr>
              <a:t>remains </a:t>
            </a:r>
            <a:r>
              <a:rPr sz="3200" spc="-5" dirty="0">
                <a:latin typeface="Calibri"/>
                <a:cs typeface="Calibri"/>
              </a:rPr>
              <a:t> temporally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connected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yolk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sac by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means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vitelline </a:t>
            </a:r>
            <a:r>
              <a:rPr sz="3200" b="1" spc="-15" dirty="0">
                <a:latin typeface="Calibri"/>
                <a:cs typeface="Calibri"/>
              </a:rPr>
              <a:t>duct,</a:t>
            </a:r>
            <a:r>
              <a:rPr sz="3200" b="1" spc="25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or</a:t>
            </a:r>
            <a:r>
              <a:rPr sz="3200" b="1" dirty="0">
                <a:latin typeface="Calibri"/>
                <a:cs typeface="Calibri"/>
              </a:rPr>
              <a:t> yolk</a:t>
            </a:r>
            <a:r>
              <a:rPr sz="3200" b="1" spc="-5" dirty="0">
                <a:latin typeface="Calibri"/>
                <a:cs typeface="Calibri"/>
              </a:rPr>
              <a:t> stalk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51858" y="617347"/>
            <a:ext cx="241935" cy="558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175"/>
              </a:lnSpc>
            </a:pPr>
            <a:r>
              <a:rPr sz="4400" spc="-5" dirty="0">
                <a:latin typeface="Calibri"/>
                <a:cs typeface="Calibri"/>
              </a:rPr>
              <a:t>x</a:t>
            </a:r>
            <a:endParaRPr sz="44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47700" y="520700"/>
          <a:ext cx="8229600" cy="63372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51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03804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800" b="1" i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Endoderm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38175" indent="-345440">
                        <a:lnSpc>
                          <a:spcPct val="100000"/>
                        </a:lnSpc>
                        <a:spcBef>
                          <a:spcPts val="355"/>
                        </a:spcBef>
                        <a:buFont typeface="Arial MT"/>
                        <a:buChar char="•"/>
                        <a:tabLst>
                          <a:tab pos="637540" algn="l"/>
                          <a:tab pos="638810" algn="l"/>
                        </a:tabLst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epithelial</a:t>
                      </a:r>
                      <a:r>
                        <a:rPr sz="2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lining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digestive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tract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.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638175" marR="292100" indent="-344805">
                        <a:lnSpc>
                          <a:spcPct val="100000"/>
                        </a:lnSpc>
                        <a:spcBef>
                          <a:spcPts val="700"/>
                        </a:spcBef>
                        <a:buFont typeface="Arial MT"/>
                        <a:buChar char="•"/>
                        <a:tabLst>
                          <a:tab pos="637540" algn="l"/>
                          <a:tab pos="638810" algn="l"/>
                        </a:tabLst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2400" b="1" spc="-5" dirty="0">
                          <a:latin typeface="Calibri"/>
                          <a:cs typeface="Calibri"/>
                        </a:rPr>
                        <a:t>parenchyma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2400" b="1" spc="-5" dirty="0">
                          <a:latin typeface="Calibri"/>
                          <a:cs typeface="Calibri"/>
                        </a:rPr>
                        <a:t>glands,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such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as the 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5" dirty="0">
                          <a:latin typeface="Calibri"/>
                          <a:cs typeface="Calibri"/>
                        </a:rPr>
                        <a:t>hepatocyte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of the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liver and </a:t>
                      </a:r>
                      <a:r>
                        <a:rPr sz="2400" b="1" spc="-5" dirty="0">
                          <a:latin typeface="Calibri"/>
                          <a:cs typeface="Calibri"/>
                        </a:rPr>
                        <a:t>exo and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endocrine </a:t>
                      </a:r>
                      <a:r>
                        <a:rPr sz="2400" b="1" spc="-5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cells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 the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pancreas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3372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800" b="1" i="1" dirty="0">
                          <a:latin typeface="Calibri"/>
                          <a:cs typeface="Calibri"/>
                        </a:rPr>
                        <a:t>Mesoderm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solidFill>
                      <a:srgbClr val="CFD6E7"/>
                    </a:solidFill>
                  </a:tcPr>
                </a:tc>
                <a:tc>
                  <a:txBody>
                    <a:bodyPr/>
                    <a:lstStyle/>
                    <a:p>
                      <a:pPr marL="549275" marR="514984" indent="-256540">
                        <a:lnSpc>
                          <a:spcPct val="100000"/>
                        </a:lnSpc>
                        <a:spcBef>
                          <a:spcPts val="370"/>
                        </a:spcBef>
                        <a:buFont typeface="Arial MT"/>
                        <a:buChar char="•"/>
                        <a:tabLst>
                          <a:tab pos="549275" algn="l"/>
                          <a:tab pos="549910" algn="l"/>
                        </a:tabLst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Muscle,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connective tissue, and peritoneal 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components</a:t>
                      </a:r>
                      <a:r>
                        <a:rPr sz="24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wall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gut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derived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549275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2400" spc="1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splanchnic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mesoderm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solidFill>
                      <a:srgbClr val="CFD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0120">
                <a:tc>
                  <a:txBody>
                    <a:bodyPr/>
                    <a:lstStyle/>
                    <a:p>
                      <a:pPr marL="63500" marR="2857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b="1" i="1" dirty="0">
                          <a:latin typeface="Calibri"/>
                          <a:cs typeface="Calibri"/>
                        </a:rPr>
                        <a:t>neural</a:t>
                      </a:r>
                      <a:r>
                        <a:rPr sz="1800" b="1" i="1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i="1" dirty="0">
                          <a:latin typeface="Calibri"/>
                          <a:cs typeface="Calibri"/>
                        </a:rPr>
                        <a:t>crest </a:t>
                      </a:r>
                      <a:r>
                        <a:rPr sz="1800" b="1" i="1" spc="-3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i="1" spc="-5" dirty="0">
                          <a:latin typeface="Calibri"/>
                          <a:cs typeface="Calibri"/>
                        </a:rPr>
                        <a:t>cells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 marL="2933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b="1" i="1" spc="-5" dirty="0">
                          <a:latin typeface="Calibri"/>
                          <a:cs typeface="Calibri"/>
                        </a:rPr>
                        <a:t>nerve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solidFill>
                      <a:srgbClr val="E8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31431" y="276859"/>
          <a:ext cx="8117840" cy="65811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1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15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1600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800" b="1" i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pharyngeal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1800" b="1" i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gut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86995" algn="just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800" b="1" i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extends </a:t>
                      </a:r>
                      <a:r>
                        <a:rPr sz="1800" b="1" i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from </a:t>
                      </a:r>
                      <a:r>
                        <a:rPr sz="1800" b="1" i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 oropharyngeal </a:t>
                      </a:r>
                      <a:r>
                        <a:rPr sz="1800" b="1" i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membrane </a:t>
                      </a:r>
                      <a:r>
                        <a:rPr sz="1800" b="1" i="1" spc="-39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i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 the </a:t>
                      </a:r>
                      <a:r>
                        <a:rPr sz="1800" b="1" i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respiratory diverticulum </a:t>
                      </a:r>
                      <a:r>
                        <a:rPr sz="1800" b="1" i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and </a:t>
                      </a:r>
                      <a:r>
                        <a:rPr sz="1800" b="1" i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is </a:t>
                      </a:r>
                      <a:r>
                        <a:rPr sz="1800" b="1" i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 part </a:t>
                      </a:r>
                      <a:r>
                        <a:rPr sz="1800" b="1" i="1" spc="-39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i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 forgut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439420" marR="133985" indent="-34480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oral 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cavity,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pharynx,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tongue,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tonsils,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salivary</a:t>
                      </a:r>
                      <a:r>
                        <a:rPr sz="1400" spc="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glands,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upper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respiratory</a:t>
                      </a:r>
                      <a:r>
                        <a:rPr sz="1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system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59055" marB="0"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72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800" b="1" i="1" dirty="0">
                          <a:latin typeface="Calibri"/>
                          <a:cs typeface="Calibri"/>
                        </a:rPr>
                        <a:t>foregut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solidFill>
                      <a:srgbClr val="CFD6E7"/>
                    </a:solidFill>
                  </a:tcPr>
                </a:tc>
                <a:tc>
                  <a:txBody>
                    <a:bodyPr/>
                    <a:lstStyle/>
                    <a:p>
                      <a:pPr marL="440055" marR="401320" indent="-344805" algn="just">
                        <a:lnSpc>
                          <a:spcPts val="2160"/>
                        </a:lnSpc>
                        <a:spcBef>
                          <a:spcPts val="409"/>
                        </a:spcBef>
                        <a:buFont typeface="Arial MT"/>
                        <a:buChar char="•"/>
                        <a:tabLst>
                          <a:tab pos="440690" algn="l"/>
                        </a:tabLst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lies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caudal to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pharyngeal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tube </a:t>
                      </a:r>
                      <a:r>
                        <a:rPr sz="2000" spc="-4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extends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as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far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caudally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as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2000" spc="-4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liver</a:t>
                      </a:r>
                      <a:r>
                        <a:rPr sz="20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outgrowth.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solidFill>
                      <a:srgbClr val="CFD6E7"/>
                    </a:solidFill>
                  </a:tcPr>
                </a:tc>
                <a:tc>
                  <a:txBody>
                    <a:bodyPr/>
                    <a:lstStyle/>
                    <a:p>
                      <a:pPr marL="94615" marR="28448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spc="-20" dirty="0">
                          <a:latin typeface="Arial MT"/>
                          <a:cs typeface="Arial MT"/>
                        </a:rPr>
                        <a:t>Lower</a:t>
                      </a:r>
                      <a:r>
                        <a:rPr sz="14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respiratory</a:t>
                      </a:r>
                      <a:r>
                        <a:rPr sz="1400" spc="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system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Esophgaus</a:t>
                      </a:r>
                      <a:r>
                        <a:rPr sz="140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stomach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Duodenum(</a:t>
                      </a:r>
                      <a:r>
                        <a:rPr sz="14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proximal</a:t>
                      </a:r>
                      <a:r>
                        <a:rPr sz="14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the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439420" marR="304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opening</a:t>
                      </a:r>
                      <a:r>
                        <a:rPr sz="14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bile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duct)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439420" marR="488315" indent="-344805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Liver,</a:t>
                      </a:r>
                      <a:r>
                        <a:rPr sz="1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billiary</a:t>
                      </a:r>
                      <a:r>
                        <a:rPr sz="1400" spc="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apparatus</a:t>
                      </a:r>
                      <a:r>
                        <a:rPr sz="1400" spc="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( </a:t>
                      </a:r>
                      <a:r>
                        <a:rPr sz="1400" spc="-3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hepatic</a:t>
                      </a:r>
                      <a:r>
                        <a:rPr sz="14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ducts,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gallbladder,and</a:t>
                      </a:r>
                      <a:r>
                        <a:rPr sz="14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bile </a:t>
                      </a:r>
                      <a:r>
                        <a:rPr sz="1400" spc="-3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duct) and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pancreas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59690" marB="0">
                    <a:solidFill>
                      <a:srgbClr val="CFD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3791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800" b="1" i="1" spc="-5" dirty="0">
                          <a:latin typeface="Calibri"/>
                          <a:cs typeface="Calibri"/>
                        </a:rPr>
                        <a:t>midd</a:t>
                      </a:r>
                      <a:r>
                        <a:rPr sz="1800" b="1" i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i="1" dirty="0">
                          <a:latin typeface="Calibri"/>
                          <a:cs typeface="Calibri"/>
                        </a:rPr>
                        <a:t>gut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 marL="440055" marR="478155" indent="-344805">
                        <a:lnSpc>
                          <a:spcPct val="89900"/>
                        </a:lnSpc>
                        <a:spcBef>
                          <a:spcPts val="400"/>
                        </a:spcBef>
                        <a:buFont typeface="Arial MT"/>
                        <a:buChar char="•"/>
                        <a:tabLst>
                          <a:tab pos="440055" algn="l"/>
                          <a:tab pos="440690" algn="l"/>
                        </a:tabLst>
                      </a:pPr>
                      <a:r>
                        <a:rPr sz="1900" spc="-5" dirty="0">
                          <a:latin typeface="Calibri"/>
                          <a:cs typeface="Calibri"/>
                        </a:rPr>
                        <a:t>begins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caudal </a:t>
                      </a:r>
                      <a:r>
                        <a:rPr sz="1900" spc="-10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the liver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bud and </a:t>
                      </a:r>
                      <a:r>
                        <a:rPr sz="19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10" dirty="0">
                          <a:latin typeface="Calibri"/>
                          <a:cs typeface="Calibri"/>
                        </a:rPr>
                        <a:t>extends</a:t>
                      </a:r>
                      <a:r>
                        <a:rPr sz="19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1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 the</a:t>
                      </a:r>
                      <a:r>
                        <a:rPr sz="19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junction</a:t>
                      </a:r>
                      <a:r>
                        <a:rPr sz="19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9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9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right </a:t>
                      </a:r>
                      <a:r>
                        <a:rPr sz="1900" spc="-4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two-thirds</a:t>
                      </a:r>
                      <a:r>
                        <a:rPr sz="19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9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10" dirty="0">
                          <a:latin typeface="Calibri"/>
                          <a:cs typeface="Calibri"/>
                        </a:rPr>
                        <a:t>left</a:t>
                      </a:r>
                      <a:r>
                        <a:rPr sz="19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third</a:t>
                      </a:r>
                      <a:r>
                        <a:rPr sz="19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9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transverse</a:t>
                      </a:r>
                      <a:r>
                        <a:rPr sz="19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colon</a:t>
                      </a:r>
                      <a:r>
                        <a:rPr sz="19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9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adult.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 marL="439420" marR="186055" indent="-34480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Small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intestine,</a:t>
                      </a:r>
                      <a:r>
                        <a:rPr sz="14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including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duodenum</a:t>
                      </a:r>
                      <a:r>
                        <a:rPr sz="1400" spc="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(distal</a:t>
                      </a:r>
                      <a:r>
                        <a:rPr sz="1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the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opening</a:t>
                      </a:r>
                      <a:r>
                        <a:rPr sz="14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bile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duct)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439420" marR="104139" indent="-344805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Caecum,</a:t>
                      </a:r>
                      <a:r>
                        <a:rPr sz="1400" spc="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appendix,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ascending</a:t>
                      </a:r>
                      <a:r>
                        <a:rPr sz="14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colon,</a:t>
                      </a:r>
                      <a:r>
                        <a:rPr sz="14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the </a:t>
                      </a:r>
                      <a:r>
                        <a:rPr sz="1400" spc="-3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right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2/3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transverse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colon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60960" marB="0">
                    <a:solidFill>
                      <a:srgbClr val="E8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410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800" b="1" i="1" spc="-5" dirty="0">
                          <a:latin typeface="Calibri"/>
                          <a:cs typeface="Calibri"/>
                        </a:rPr>
                        <a:t>hind</a:t>
                      </a:r>
                      <a:r>
                        <a:rPr sz="1800" b="1" i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i="1" dirty="0">
                          <a:latin typeface="Calibri"/>
                          <a:cs typeface="Calibri"/>
                        </a:rPr>
                        <a:t>gut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solidFill>
                      <a:srgbClr val="CFD6E7"/>
                    </a:solidFill>
                  </a:tcPr>
                </a:tc>
                <a:tc>
                  <a:txBody>
                    <a:bodyPr/>
                    <a:lstStyle/>
                    <a:p>
                      <a:pPr marL="440055" marR="490220" indent="-344805">
                        <a:lnSpc>
                          <a:spcPct val="90100"/>
                        </a:lnSpc>
                        <a:spcBef>
                          <a:spcPts val="385"/>
                        </a:spcBef>
                        <a:buFont typeface="Arial MT"/>
                        <a:buChar char="•"/>
                        <a:tabLst>
                          <a:tab pos="440055" algn="l"/>
                          <a:tab pos="440690" algn="l"/>
                        </a:tabLst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extends</a:t>
                      </a:r>
                      <a:r>
                        <a:rPr sz="20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20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0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left</a:t>
                      </a:r>
                      <a:r>
                        <a:rPr sz="20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third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2000" spc="-43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transverse</a:t>
                      </a:r>
                      <a:r>
                        <a:rPr sz="2000" spc="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colon</a:t>
                      </a:r>
                      <a:r>
                        <a:rPr sz="2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cloacal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membrane.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solidFill>
                      <a:srgbClr val="CFD6E7"/>
                    </a:solidFill>
                  </a:tcPr>
                </a:tc>
                <a:tc>
                  <a:txBody>
                    <a:bodyPr/>
                    <a:lstStyle/>
                    <a:p>
                      <a:pPr marL="439420" marR="154940" indent="-34480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Left</a:t>
                      </a:r>
                      <a:r>
                        <a:rPr sz="12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1/3</a:t>
                      </a:r>
                      <a:r>
                        <a:rPr sz="1200" baseline="27777" dirty="0">
                          <a:latin typeface="Arial MT"/>
                          <a:cs typeface="Arial MT"/>
                        </a:rPr>
                        <a:t>rd</a:t>
                      </a:r>
                      <a:r>
                        <a:rPr sz="1200" spc="142" baseline="27777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2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transverse</a:t>
                      </a:r>
                      <a:r>
                        <a:rPr sz="12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5" dirty="0">
                          <a:latin typeface="Arial MT"/>
                          <a:cs typeface="Arial MT"/>
                        </a:rPr>
                        <a:t>colon</a:t>
                      </a:r>
                      <a:r>
                        <a:rPr sz="12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, </a:t>
                      </a:r>
                      <a:r>
                        <a:rPr sz="1200" spc="-3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the descending colon, </a:t>
                      </a:r>
                      <a:r>
                        <a:rPr sz="12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sigmoid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colon ,the rectum </a:t>
                      </a:r>
                      <a:r>
                        <a:rPr sz="12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and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the superior part of the </a:t>
                      </a:r>
                      <a:r>
                        <a:rPr sz="12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anal</a:t>
                      </a:r>
                      <a:r>
                        <a:rPr sz="12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canal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439420" indent="-344805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2439670" algn="l"/>
                        </a:tabLst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The epithelium of the urinary </a:t>
                      </a:r>
                      <a:r>
                        <a:rPr sz="12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bladder</a:t>
                      </a:r>
                      <a:r>
                        <a:rPr sz="12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2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most</a:t>
                      </a:r>
                      <a:r>
                        <a:rPr sz="1200" spc="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20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the </a:t>
                      </a:r>
                      <a:r>
                        <a:rPr sz="12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u</a:t>
                      </a:r>
                      <a:r>
                        <a:rPr sz="1200" spc="5" dirty="0">
                          <a:latin typeface="Arial MT"/>
                          <a:cs typeface="Arial MT"/>
                        </a:rPr>
                        <a:t>r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et</a:t>
                      </a:r>
                      <a:r>
                        <a:rPr sz="1200" spc="5" dirty="0">
                          <a:latin typeface="Arial MT"/>
                          <a:cs typeface="Arial MT"/>
                        </a:rPr>
                        <a:t>hr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a	</a:t>
                      </a:r>
                      <a:r>
                        <a:rPr sz="1800" baseline="27777" dirty="0">
                          <a:solidFill>
                            <a:srgbClr val="878787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 baseline="27777">
                        <a:latin typeface="Calibri"/>
                        <a:cs typeface="Calibri"/>
                      </a:endParaRPr>
                    </a:p>
                  </a:txBody>
                  <a:tcPr marL="0" marR="0" marT="62865" marB="0">
                    <a:solidFill>
                      <a:srgbClr val="CFD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9143" y="304800"/>
            <a:ext cx="7441856" cy="59271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7400" y="453149"/>
            <a:ext cx="3937761" cy="71942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>
                <a:solidFill>
                  <a:srgbClr val="3E6796"/>
                </a:solidFill>
              </a:rPr>
              <a:t>Mesenteries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524" y="1612773"/>
            <a:ext cx="4629785" cy="43967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400"/>
              </a:lnSpc>
              <a:spcBef>
                <a:spcPts val="105"/>
              </a:spcBef>
              <a:buFont typeface="Arial MT"/>
              <a:buChar char="•"/>
              <a:tabLst>
                <a:tab pos="286385" algn="l"/>
                <a:tab pos="287020" algn="l"/>
              </a:tabLst>
            </a:pPr>
            <a:r>
              <a:rPr sz="2550" b="1" dirty="0">
                <a:latin typeface="Calibri"/>
                <a:cs typeface="Calibri"/>
              </a:rPr>
              <a:t>mesenteries, double layers </a:t>
            </a:r>
            <a:r>
              <a:rPr sz="2550" b="1" spc="10" dirty="0">
                <a:latin typeface="Calibri"/>
                <a:cs typeface="Calibri"/>
              </a:rPr>
              <a:t>of </a:t>
            </a:r>
            <a:r>
              <a:rPr sz="2550" b="1" spc="15" dirty="0">
                <a:latin typeface="Calibri"/>
                <a:cs typeface="Calibri"/>
              </a:rPr>
              <a:t> </a:t>
            </a:r>
            <a:r>
              <a:rPr sz="2550" b="1" dirty="0">
                <a:latin typeface="Calibri"/>
                <a:cs typeface="Calibri"/>
              </a:rPr>
              <a:t>peritoneum that enclose </a:t>
            </a:r>
            <a:r>
              <a:rPr sz="2550" spc="5" dirty="0">
                <a:latin typeface="Calibri"/>
                <a:cs typeface="Calibri"/>
              </a:rPr>
              <a:t>an </a:t>
            </a:r>
            <a:r>
              <a:rPr sz="2550" spc="10" dirty="0">
                <a:latin typeface="Calibri"/>
                <a:cs typeface="Calibri"/>
              </a:rPr>
              <a:t> </a:t>
            </a:r>
            <a:r>
              <a:rPr sz="2550" dirty="0">
                <a:latin typeface="Calibri"/>
                <a:cs typeface="Calibri"/>
              </a:rPr>
              <a:t>organ and connect </a:t>
            </a:r>
            <a:r>
              <a:rPr sz="2550" spc="5" dirty="0">
                <a:latin typeface="Calibri"/>
                <a:cs typeface="Calibri"/>
              </a:rPr>
              <a:t>it to the </a:t>
            </a:r>
            <a:r>
              <a:rPr sz="2550" dirty="0">
                <a:latin typeface="Calibri"/>
                <a:cs typeface="Calibri"/>
              </a:rPr>
              <a:t>body </a:t>
            </a:r>
            <a:r>
              <a:rPr sz="2550" spc="-565" dirty="0">
                <a:latin typeface="Calibri"/>
                <a:cs typeface="Calibri"/>
              </a:rPr>
              <a:t> </a:t>
            </a:r>
            <a:r>
              <a:rPr sz="2550" spc="5" dirty="0">
                <a:latin typeface="Calibri"/>
                <a:cs typeface="Calibri"/>
              </a:rPr>
              <a:t>wall, </a:t>
            </a:r>
            <a:r>
              <a:rPr sz="2550" dirty="0">
                <a:latin typeface="Calibri"/>
                <a:cs typeface="Calibri"/>
              </a:rPr>
              <a:t>Such </a:t>
            </a:r>
            <a:r>
              <a:rPr sz="2550" spc="-5" dirty="0">
                <a:latin typeface="Calibri"/>
                <a:cs typeface="Calibri"/>
              </a:rPr>
              <a:t>organs </a:t>
            </a:r>
            <a:r>
              <a:rPr sz="2550" dirty="0">
                <a:latin typeface="Calibri"/>
                <a:cs typeface="Calibri"/>
              </a:rPr>
              <a:t>are </a:t>
            </a:r>
            <a:r>
              <a:rPr sz="2550" spc="5" dirty="0">
                <a:latin typeface="Calibri"/>
                <a:cs typeface="Calibri"/>
              </a:rPr>
              <a:t>called </a:t>
            </a:r>
            <a:r>
              <a:rPr sz="2550" spc="10" dirty="0">
                <a:latin typeface="Calibri"/>
                <a:cs typeface="Calibri"/>
              </a:rPr>
              <a:t> </a:t>
            </a:r>
            <a:r>
              <a:rPr sz="2550" b="1" dirty="0">
                <a:latin typeface="Calibri"/>
                <a:cs typeface="Calibri"/>
              </a:rPr>
              <a:t>intraperitoneal.</a:t>
            </a:r>
            <a:endParaRPr sz="2550">
              <a:latin typeface="Calibri"/>
              <a:cs typeface="Calibri"/>
            </a:endParaRPr>
          </a:p>
          <a:p>
            <a:pPr marL="286385" marR="118110" indent="-274320">
              <a:lnSpc>
                <a:spcPct val="100400"/>
              </a:lnSpc>
              <a:spcBef>
                <a:spcPts val="600"/>
              </a:spcBef>
              <a:buFont typeface="Arial MT"/>
              <a:buChar char="•"/>
              <a:tabLst>
                <a:tab pos="286385" algn="l"/>
                <a:tab pos="287020" algn="l"/>
              </a:tabLst>
            </a:pPr>
            <a:r>
              <a:rPr sz="2550" dirty="0">
                <a:latin typeface="Calibri"/>
                <a:cs typeface="Calibri"/>
              </a:rPr>
              <a:t>organs that </a:t>
            </a:r>
            <a:r>
              <a:rPr sz="2550" spc="5" dirty="0">
                <a:latin typeface="Calibri"/>
                <a:cs typeface="Calibri"/>
              </a:rPr>
              <a:t>lie against the </a:t>
            </a:r>
            <a:r>
              <a:rPr sz="2550" spc="10" dirty="0">
                <a:latin typeface="Calibri"/>
                <a:cs typeface="Calibri"/>
              </a:rPr>
              <a:t> </a:t>
            </a:r>
            <a:r>
              <a:rPr sz="2550" dirty="0">
                <a:latin typeface="Calibri"/>
                <a:cs typeface="Calibri"/>
              </a:rPr>
              <a:t>posterior body wall and are </a:t>
            </a:r>
            <a:r>
              <a:rPr sz="2550" spc="5" dirty="0">
                <a:latin typeface="Calibri"/>
                <a:cs typeface="Calibri"/>
              </a:rPr>
              <a:t> </a:t>
            </a:r>
            <a:r>
              <a:rPr sz="2550" dirty="0">
                <a:latin typeface="Calibri"/>
                <a:cs typeface="Calibri"/>
              </a:rPr>
              <a:t>covered </a:t>
            </a:r>
            <a:r>
              <a:rPr sz="2550" spc="5" dirty="0">
                <a:latin typeface="Calibri"/>
                <a:cs typeface="Calibri"/>
              </a:rPr>
              <a:t>by </a:t>
            </a:r>
            <a:r>
              <a:rPr sz="2550" dirty="0">
                <a:latin typeface="Calibri"/>
                <a:cs typeface="Calibri"/>
              </a:rPr>
              <a:t>peritoneum on </a:t>
            </a:r>
            <a:r>
              <a:rPr sz="2550" spc="5" dirty="0">
                <a:latin typeface="Calibri"/>
                <a:cs typeface="Calibri"/>
              </a:rPr>
              <a:t>their </a:t>
            </a:r>
            <a:r>
              <a:rPr sz="2550" spc="-565" dirty="0">
                <a:latin typeface="Calibri"/>
                <a:cs typeface="Calibri"/>
              </a:rPr>
              <a:t> </a:t>
            </a:r>
            <a:r>
              <a:rPr sz="2550" dirty="0">
                <a:latin typeface="Calibri"/>
                <a:cs typeface="Calibri"/>
              </a:rPr>
              <a:t>anterior surface only (e.g., </a:t>
            </a:r>
            <a:r>
              <a:rPr sz="2550" spc="5" dirty="0">
                <a:latin typeface="Calibri"/>
                <a:cs typeface="Calibri"/>
              </a:rPr>
              <a:t>the </a:t>
            </a:r>
            <a:r>
              <a:rPr sz="2550" spc="10" dirty="0">
                <a:latin typeface="Calibri"/>
                <a:cs typeface="Calibri"/>
              </a:rPr>
              <a:t> </a:t>
            </a:r>
            <a:r>
              <a:rPr sz="2550" dirty="0">
                <a:latin typeface="Calibri"/>
                <a:cs typeface="Calibri"/>
              </a:rPr>
              <a:t>kidneys) are considered </a:t>
            </a:r>
            <a:r>
              <a:rPr sz="2550" spc="5" dirty="0">
                <a:latin typeface="Calibri"/>
                <a:cs typeface="Calibri"/>
              </a:rPr>
              <a:t> </a:t>
            </a:r>
            <a:r>
              <a:rPr sz="2550" b="1" dirty="0">
                <a:latin typeface="Calibri"/>
                <a:cs typeface="Calibri"/>
              </a:rPr>
              <a:t>retroperitoneal.</a:t>
            </a:r>
            <a:endParaRPr sz="25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1264" y="1901951"/>
            <a:ext cx="3397632" cy="30540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524" y="289686"/>
            <a:ext cx="7533640" cy="1903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0" marR="5080" indent="-21653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29235" algn="l"/>
              </a:tabLst>
            </a:pPr>
            <a:r>
              <a:rPr sz="2400" b="1" spc="-5" dirty="0">
                <a:latin typeface="Calibri"/>
                <a:cs typeface="Calibri"/>
              </a:rPr>
              <a:t>Peritoneal ligaments are </a:t>
            </a:r>
            <a:r>
              <a:rPr sz="2400" b="1" dirty="0">
                <a:latin typeface="Calibri"/>
                <a:cs typeface="Calibri"/>
              </a:rPr>
              <a:t>double </a:t>
            </a:r>
            <a:r>
              <a:rPr sz="2400" b="1" spc="-5" dirty="0">
                <a:latin typeface="Calibri"/>
                <a:cs typeface="Calibri"/>
              </a:rPr>
              <a:t>layers </a:t>
            </a:r>
            <a:r>
              <a:rPr sz="2400" b="1" dirty="0">
                <a:latin typeface="Calibri"/>
                <a:cs typeface="Calibri"/>
              </a:rPr>
              <a:t>of peritoneum 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(mesenteries)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pass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organ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another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 </a:t>
            </a:r>
            <a:r>
              <a:rPr sz="2400" dirty="0">
                <a:latin typeface="Calibri"/>
                <a:cs typeface="Calibri"/>
              </a:rPr>
              <a:t>from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organ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body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wall.</a:t>
            </a:r>
            <a:endParaRPr sz="2400" dirty="0">
              <a:latin typeface="Calibri"/>
              <a:cs typeface="Calibri"/>
            </a:endParaRPr>
          </a:p>
          <a:p>
            <a:pPr marL="228600" marR="457200" indent="-216535">
              <a:lnSpc>
                <a:spcPct val="100000"/>
              </a:lnSpc>
              <a:spcBef>
                <a:spcPts val="390"/>
              </a:spcBef>
              <a:buFont typeface="Arial MT"/>
              <a:buChar char="•"/>
              <a:tabLst>
                <a:tab pos="295910" algn="l"/>
                <a:tab pos="296545" algn="l"/>
              </a:tabLst>
            </a:pPr>
            <a:r>
              <a:rPr dirty="0"/>
              <a:t>	</a:t>
            </a:r>
            <a:r>
              <a:rPr sz="2400" dirty="0">
                <a:latin typeface="Calibri"/>
                <a:cs typeface="Calibri"/>
              </a:rPr>
              <a:t>Mesenteries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provide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pathways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vessels,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nerves, and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lymphatics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abdominal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viscera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179" y="2193416"/>
            <a:ext cx="8229600" cy="41208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524" y="378079"/>
            <a:ext cx="7814309" cy="1168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500" spc="-5" dirty="0">
                <a:latin typeface="Calibri"/>
                <a:cs typeface="Calibri"/>
              </a:rPr>
              <a:t>Initially </a:t>
            </a:r>
            <a:r>
              <a:rPr sz="2500" dirty="0">
                <a:latin typeface="Calibri"/>
                <a:cs typeface="Calibri"/>
              </a:rPr>
              <a:t>the </a:t>
            </a:r>
            <a:r>
              <a:rPr sz="2500" spc="-5" dirty="0">
                <a:latin typeface="Calibri"/>
                <a:cs typeface="Calibri"/>
              </a:rPr>
              <a:t>foregut, midgut, </a:t>
            </a:r>
            <a:r>
              <a:rPr sz="2500" dirty="0">
                <a:latin typeface="Calibri"/>
                <a:cs typeface="Calibri"/>
              </a:rPr>
              <a:t>and hindgut </a:t>
            </a:r>
            <a:r>
              <a:rPr sz="2500" spc="-5" dirty="0">
                <a:latin typeface="Calibri"/>
                <a:cs typeface="Calibri"/>
              </a:rPr>
              <a:t>are in broad </a:t>
            </a:r>
            <a:r>
              <a:rPr sz="2500" dirty="0">
                <a:latin typeface="Calibri"/>
                <a:cs typeface="Calibri"/>
              </a:rPr>
              <a:t> contact</a:t>
            </a:r>
            <a:r>
              <a:rPr sz="2500" spc="-5" dirty="0">
                <a:latin typeface="Calibri"/>
                <a:cs typeface="Calibri"/>
              </a:rPr>
              <a:t> with</a:t>
            </a:r>
            <a:r>
              <a:rPr sz="2500" spc="2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5" dirty="0">
                <a:latin typeface="Calibri"/>
                <a:cs typeface="Calibri"/>
              </a:rPr>
              <a:t> mesenchyme</a:t>
            </a:r>
            <a:r>
              <a:rPr sz="2500" spc="2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of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5" dirty="0">
                <a:latin typeface="Calibri"/>
                <a:cs typeface="Calibri"/>
              </a:rPr>
              <a:t> posterior</a:t>
            </a:r>
            <a:r>
              <a:rPr sz="2500" spc="-15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abdominal </a:t>
            </a:r>
            <a:r>
              <a:rPr sz="2500" spc="-55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wall.</a:t>
            </a:r>
            <a:endParaRPr sz="25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0971" y="2414838"/>
            <a:ext cx="6368142" cy="371164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22750" y="453149"/>
            <a:ext cx="4464050" cy="71942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5" dirty="0">
                <a:solidFill>
                  <a:srgbClr val="3E6796"/>
                </a:solidFill>
              </a:rPr>
              <a:t>By</a:t>
            </a:r>
            <a:r>
              <a:rPr spc="-20" dirty="0">
                <a:solidFill>
                  <a:srgbClr val="3E6796"/>
                </a:solidFill>
              </a:rPr>
              <a:t> </a:t>
            </a:r>
            <a:r>
              <a:rPr spc="-5" dirty="0">
                <a:solidFill>
                  <a:srgbClr val="3E6796"/>
                </a:solidFill>
              </a:rPr>
              <a:t>the</a:t>
            </a:r>
            <a:r>
              <a:rPr spc="-30" dirty="0">
                <a:solidFill>
                  <a:srgbClr val="3E6796"/>
                </a:solidFill>
              </a:rPr>
              <a:t> </a:t>
            </a:r>
            <a:r>
              <a:rPr spc="-10" dirty="0">
                <a:solidFill>
                  <a:srgbClr val="3E6796"/>
                </a:solidFill>
              </a:rPr>
              <a:t>fifth</a:t>
            </a:r>
            <a:r>
              <a:rPr spc="-20" dirty="0">
                <a:solidFill>
                  <a:srgbClr val="3E6796"/>
                </a:solidFill>
              </a:rPr>
              <a:t> </a:t>
            </a:r>
            <a:r>
              <a:rPr spc="-5" dirty="0">
                <a:solidFill>
                  <a:srgbClr val="3E6796"/>
                </a:solidFill>
              </a:rPr>
              <a:t>week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47699" y="3201949"/>
            <a:ext cx="152400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80"/>
              </a:lnSpc>
            </a:pPr>
            <a:r>
              <a:rPr sz="2400" dirty="0">
                <a:latin typeface="Calibri"/>
                <a:cs typeface="Calibri"/>
              </a:rPr>
              <a:t>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0524" y="195198"/>
            <a:ext cx="2969260" cy="571881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238125" marR="185420" indent="8890">
              <a:lnSpc>
                <a:spcPct val="70000"/>
              </a:lnSpc>
              <a:spcBef>
                <a:spcPts val="960"/>
              </a:spcBef>
            </a:pPr>
            <a:r>
              <a:rPr sz="2400" b="1" spc="-5" dirty="0">
                <a:latin typeface="Calibri"/>
                <a:cs typeface="Calibri"/>
              </a:rPr>
              <a:t>Dorsal mesentery</a:t>
            </a:r>
            <a:r>
              <a:rPr sz="2400" b="1" i="1" spc="-5" dirty="0">
                <a:latin typeface="Calibri"/>
                <a:cs typeface="Calibri"/>
              </a:rPr>
              <a:t>, </a:t>
            </a:r>
            <a:r>
              <a:rPr sz="2400" b="1" i="1" dirty="0">
                <a:latin typeface="Calibri"/>
                <a:cs typeface="Calibri"/>
              </a:rPr>
              <a:t> which </a:t>
            </a:r>
            <a:r>
              <a:rPr sz="2400" b="1" i="1" spc="-5" dirty="0">
                <a:latin typeface="Calibri"/>
                <a:cs typeface="Calibri"/>
              </a:rPr>
              <a:t>extends </a:t>
            </a:r>
            <a:r>
              <a:rPr sz="2400" dirty="0">
                <a:latin typeface="Calibri"/>
                <a:cs typeface="Calibri"/>
              </a:rPr>
              <a:t>from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lower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end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esophagus to the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cloacal </a:t>
            </a:r>
            <a:r>
              <a:rPr sz="2400" dirty="0">
                <a:latin typeface="Calibri"/>
                <a:cs typeface="Calibri"/>
              </a:rPr>
              <a:t>region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hindgut.</a:t>
            </a:r>
            <a:endParaRPr sz="2400">
              <a:latin typeface="Calibri"/>
              <a:cs typeface="Calibri"/>
            </a:endParaRPr>
          </a:p>
          <a:p>
            <a:pPr marL="238125" marR="58419" indent="-226060">
              <a:lnSpc>
                <a:spcPct val="70000"/>
              </a:lnSpc>
              <a:spcBef>
                <a:spcPts val="409"/>
              </a:spcBef>
              <a:buFont typeface="Arial MT"/>
              <a:buChar char="•"/>
              <a:tabLst>
                <a:tab pos="238760" algn="l"/>
              </a:tabLst>
            </a:pPr>
            <a:r>
              <a:rPr sz="2400" dirty="0">
                <a:latin typeface="Calibri"/>
                <a:cs typeface="Calibri"/>
              </a:rPr>
              <a:t>In the region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stomach it forms the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dorsal </a:t>
            </a:r>
            <a:r>
              <a:rPr sz="2400" b="1" spc="-5" dirty="0">
                <a:latin typeface="Calibri"/>
                <a:cs typeface="Calibri"/>
              </a:rPr>
              <a:t>mesogastrium </a:t>
            </a:r>
            <a:r>
              <a:rPr sz="2400" b="1" spc="-5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or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greater </a:t>
            </a:r>
            <a:r>
              <a:rPr sz="2400" b="1" dirty="0">
                <a:latin typeface="Calibri"/>
                <a:cs typeface="Calibri"/>
              </a:rPr>
              <a:t>omentum.</a:t>
            </a:r>
            <a:endParaRPr sz="2400">
              <a:latin typeface="Calibri"/>
              <a:cs typeface="Calibri"/>
            </a:endParaRPr>
          </a:p>
          <a:p>
            <a:pPr marL="238125" marR="5080" indent="-226060">
              <a:lnSpc>
                <a:spcPct val="70000"/>
              </a:lnSpc>
              <a:spcBef>
                <a:spcPts val="385"/>
              </a:spcBef>
              <a:buFont typeface="Arial MT"/>
              <a:buChar char="•"/>
              <a:tabLst>
                <a:tab pos="238760" algn="l"/>
              </a:tabLst>
            </a:pPr>
            <a:r>
              <a:rPr sz="2400" dirty="0">
                <a:latin typeface="Calibri"/>
                <a:cs typeface="Calibri"/>
              </a:rPr>
              <a:t>in the region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5" dirty="0">
                <a:latin typeface="Calibri"/>
                <a:cs typeface="Calibri"/>
              </a:rPr>
              <a:t> duodenum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dorsal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mesoduodenum.</a:t>
            </a:r>
            <a:endParaRPr sz="2400">
              <a:latin typeface="Calibri"/>
              <a:cs typeface="Calibri"/>
            </a:endParaRPr>
          </a:p>
          <a:p>
            <a:pPr marL="238125" marR="344805" indent="-226060">
              <a:lnSpc>
                <a:spcPct val="70000"/>
              </a:lnSpc>
              <a:spcBef>
                <a:spcPts val="409"/>
              </a:spcBef>
              <a:buFont typeface="Arial MT"/>
              <a:buChar char="•"/>
              <a:tabLst>
                <a:tab pos="23876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region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colon </a:t>
            </a:r>
            <a:r>
              <a:rPr sz="2400" dirty="0">
                <a:latin typeface="Calibri"/>
                <a:cs typeface="Calibri"/>
              </a:rPr>
              <a:t>it forms the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dorsal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mesocolon.</a:t>
            </a:r>
            <a:endParaRPr sz="2400">
              <a:latin typeface="Calibri"/>
              <a:cs typeface="Calibri"/>
            </a:endParaRPr>
          </a:p>
          <a:p>
            <a:pPr marL="238125" marR="219075" indent="-226060">
              <a:lnSpc>
                <a:spcPct val="70000"/>
              </a:lnSpc>
              <a:spcBef>
                <a:spcPts val="409"/>
              </a:spcBef>
              <a:buFont typeface="Arial MT"/>
              <a:buChar char="•"/>
              <a:tabLst>
                <a:tab pos="238760" algn="l"/>
              </a:tabLst>
            </a:pPr>
            <a:r>
              <a:rPr sz="2400" spc="-5" dirty="0">
                <a:latin typeface="Calibri"/>
                <a:cs typeface="Calibri"/>
              </a:rPr>
              <a:t>Dorsal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mesentery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jejunal and ileal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loops forms the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mesentery </a:t>
            </a:r>
            <a:r>
              <a:rPr sz="2400" b="1" dirty="0">
                <a:latin typeface="Calibri"/>
                <a:cs typeface="Calibri"/>
              </a:rPr>
              <a:t>proper.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98878" y="1657213"/>
            <a:ext cx="5445121" cy="489598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524" y="1609420"/>
            <a:ext cx="7895590" cy="2464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5080" indent="-344805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200" b="1" spc="-10" dirty="0">
                <a:latin typeface="Calibri"/>
                <a:cs typeface="Calibri"/>
              </a:rPr>
              <a:t>Ventral</a:t>
            </a:r>
            <a:r>
              <a:rPr sz="3200" b="1" spc="2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mesentery,</a:t>
            </a:r>
            <a:r>
              <a:rPr sz="3200" b="1" spc="3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which</a:t>
            </a:r>
            <a:r>
              <a:rPr sz="3200" b="1" spc="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exists</a:t>
            </a:r>
            <a:r>
              <a:rPr sz="3200" b="1" spc="30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only</a:t>
            </a:r>
            <a:r>
              <a:rPr sz="3200" b="1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in</a:t>
            </a:r>
            <a:r>
              <a:rPr sz="3200" b="1" dirty="0">
                <a:latin typeface="Calibri"/>
                <a:cs typeface="Calibri"/>
              </a:rPr>
              <a:t> </a:t>
            </a:r>
            <a:r>
              <a:rPr sz="3200" b="1" spc="-15" dirty="0">
                <a:latin typeface="Calibri"/>
                <a:cs typeface="Calibri"/>
              </a:rPr>
              <a:t>the </a:t>
            </a:r>
            <a:r>
              <a:rPr sz="3200" b="1" spc="-10" dirty="0">
                <a:latin typeface="Calibri"/>
                <a:cs typeface="Calibri"/>
              </a:rPr>
              <a:t> region</a:t>
            </a:r>
            <a:r>
              <a:rPr sz="3200" b="1" spc="5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of </a:t>
            </a:r>
            <a:r>
              <a:rPr sz="3200" b="1" spc="-10" dirty="0">
                <a:latin typeface="Calibri"/>
                <a:cs typeface="Calibri"/>
              </a:rPr>
              <a:t>the</a:t>
            </a:r>
            <a:r>
              <a:rPr sz="3200" b="1" spc="2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terminal</a:t>
            </a:r>
            <a:r>
              <a:rPr sz="3200" b="1" spc="2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part</a:t>
            </a:r>
            <a:r>
              <a:rPr sz="3200" b="1" spc="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of</a:t>
            </a:r>
            <a:r>
              <a:rPr sz="3200" spc="-5" dirty="0">
                <a:latin typeface="Calibri"/>
                <a:cs typeface="Calibri"/>
              </a:rPr>
              <a:t> the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esophagus, </a:t>
            </a:r>
            <a:r>
              <a:rPr sz="3200" spc="-70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-10" dirty="0">
                <a:latin typeface="Calibri"/>
                <a:cs typeface="Calibri"/>
              </a:rPr>
              <a:t> stomach,</a:t>
            </a:r>
            <a:r>
              <a:rPr sz="3200" spc="6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and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upper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part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of</a:t>
            </a:r>
            <a:r>
              <a:rPr sz="3200" spc="-5" dirty="0">
                <a:latin typeface="Calibri"/>
                <a:cs typeface="Calibri"/>
              </a:rPr>
              <a:t> the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duodenum,</a:t>
            </a:r>
            <a:r>
              <a:rPr sz="3200" spc="4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is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derived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from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6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septum </a:t>
            </a:r>
            <a:r>
              <a:rPr sz="3200" b="1" spc="-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transversum.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524" y="1911858"/>
            <a:ext cx="8114665" cy="402971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47980" marR="24765" indent="-335280" algn="just">
              <a:lnSpc>
                <a:spcPts val="3770"/>
              </a:lnSpc>
              <a:spcBef>
                <a:spcPts val="225"/>
              </a:spcBef>
              <a:buFont typeface="Arial MT"/>
              <a:buChar char="•"/>
              <a:tabLst>
                <a:tab pos="347345" algn="l"/>
                <a:tab pos="347980" algn="l"/>
              </a:tabLst>
            </a:pPr>
            <a:r>
              <a:rPr sz="3150" spc="-5" dirty="0">
                <a:latin typeface="Calibri"/>
                <a:cs typeface="Calibri"/>
              </a:rPr>
              <a:t>Growth</a:t>
            </a:r>
            <a:r>
              <a:rPr sz="3150" spc="-65" dirty="0">
                <a:latin typeface="Calibri"/>
                <a:cs typeface="Calibri"/>
              </a:rPr>
              <a:t> </a:t>
            </a:r>
            <a:r>
              <a:rPr sz="3150" spc="-5" dirty="0">
                <a:latin typeface="Calibri"/>
                <a:cs typeface="Calibri"/>
              </a:rPr>
              <a:t>of</a:t>
            </a:r>
            <a:r>
              <a:rPr sz="3150" spc="-20" dirty="0">
                <a:latin typeface="Calibri"/>
                <a:cs typeface="Calibri"/>
              </a:rPr>
              <a:t> </a:t>
            </a:r>
            <a:r>
              <a:rPr sz="3150" spc="-5" dirty="0">
                <a:latin typeface="Calibri"/>
                <a:cs typeface="Calibri"/>
              </a:rPr>
              <a:t>the</a:t>
            </a:r>
            <a:r>
              <a:rPr sz="3150" spc="5" dirty="0">
                <a:latin typeface="Calibri"/>
                <a:cs typeface="Calibri"/>
              </a:rPr>
              <a:t> </a:t>
            </a:r>
            <a:r>
              <a:rPr sz="3150" spc="-10" dirty="0">
                <a:latin typeface="Calibri"/>
                <a:cs typeface="Calibri"/>
              </a:rPr>
              <a:t>liver</a:t>
            </a:r>
            <a:r>
              <a:rPr sz="3150" spc="-15" dirty="0">
                <a:latin typeface="Calibri"/>
                <a:cs typeface="Calibri"/>
              </a:rPr>
              <a:t> </a:t>
            </a:r>
            <a:r>
              <a:rPr sz="3150" spc="-5" dirty="0">
                <a:latin typeface="Calibri"/>
                <a:cs typeface="Calibri"/>
              </a:rPr>
              <a:t>into the</a:t>
            </a:r>
            <a:r>
              <a:rPr sz="3150" spc="-15" dirty="0">
                <a:latin typeface="Calibri"/>
                <a:cs typeface="Calibri"/>
              </a:rPr>
              <a:t> </a:t>
            </a:r>
            <a:r>
              <a:rPr sz="3150" spc="-10" dirty="0">
                <a:latin typeface="Calibri"/>
                <a:cs typeface="Calibri"/>
              </a:rPr>
              <a:t>mesenchyme</a:t>
            </a:r>
            <a:r>
              <a:rPr sz="3150" spc="-20" dirty="0">
                <a:latin typeface="Calibri"/>
                <a:cs typeface="Calibri"/>
              </a:rPr>
              <a:t> </a:t>
            </a:r>
            <a:r>
              <a:rPr sz="3150" spc="-5" dirty="0">
                <a:latin typeface="Calibri"/>
                <a:cs typeface="Calibri"/>
              </a:rPr>
              <a:t>of</a:t>
            </a:r>
            <a:r>
              <a:rPr sz="3150" spc="-20" dirty="0">
                <a:latin typeface="Calibri"/>
                <a:cs typeface="Calibri"/>
              </a:rPr>
              <a:t> </a:t>
            </a:r>
            <a:r>
              <a:rPr sz="3150" spc="-5" dirty="0">
                <a:latin typeface="Calibri"/>
                <a:cs typeface="Calibri"/>
              </a:rPr>
              <a:t>the </a:t>
            </a:r>
            <a:r>
              <a:rPr sz="3150" spc="-695" dirty="0">
                <a:latin typeface="Calibri"/>
                <a:cs typeface="Calibri"/>
              </a:rPr>
              <a:t> </a:t>
            </a:r>
            <a:r>
              <a:rPr sz="3150" spc="-10" dirty="0">
                <a:latin typeface="Calibri"/>
                <a:cs typeface="Calibri"/>
              </a:rPr>
              <a:t>septum </a:t>
            </a:r>
            <a:r>
              <a:rPr sz="3150" spc="-5" dirty="0">
                <a:latin typeface="Calibri"/>
                <a:cs typeface="Calibri"/>
              </a:rPr>
              <a:t>transversum </a:t>
            </a:r>
            <a:r>
              <a:rPr sz="3150" spc="-10" dirty="0">
                <a:latin typeface="Calibri"/>
                <a:cs typeface="Calibri"/>
              </a:rPr>
              <a:t>divides </a:t>
            </a:r>
            <a:r>
              <a:rPr sz="3150" spc="-5" dirty="0">
                <a:latin typeface="Calibri"/>
                <a:cs typeface="Calibri"/>
              </a:rPr>
              <a:t>the ventral </a:t>
            </a:r>
            <a:r>
              <a:rPr sz="3150" dirty="0">
                <a:latin typeface="Calibri"/>
                <a:cs typeface="Calibri"/>
              </a:rPr>
              <a:t> </a:t>
            </a:r>
            <a:r>
              <a:rPr sz="3150" spc="-10" dirty="0">
                <a:latin typeface="Calibri"/>
                <a:cs typeface="Calibri"/>
              </a:rPr>
              <a:t>mesentery</a:t>
            </a:r>
            <a:r>
              <a:rPr sz="3150" spc="-55" dirty="0">
                <a:latin typeface="Calibri"/>
                <a:cs typeface="Calibri"/>
              </a:rPr>
              <a:t> </a:t>
            </a:r>
            <a:r>
              <a:rPr sz="3150" spc="-5" dirty="0">
                <a:latin typeface="Calibri"/>
                <a:cs typeface="Calibri"/>
              </a:rPr>
              <a:t>into:</a:t>
            </a:r>
            <a:endParaRPr sz="3150" dirty="0">
              <a:latin typeface="Calibri"/>
              <a:cs typeface="Calibri"/>
            </a:endParaRPr>
          </a:p>
          <a:p>
            <a:pPr marL="347980" marR="44450" indent="-335280" algn="just">
              <a:lnSpc>
                <a:spcPct val="99400"/>
              </a:lnSpc>
              <a:spcBef>
                <a:spcPts val="585"/>
              </a:spcBef>
              <a:buFont typeface="Arial MT"/>
              <a:buChar char="•"/>
              <a:tabLst>
                <a:tab pos="347980" algn="l"/>
              </a:tabLst>
            </a:pPr>
            <a:r>
              <a:rPr sz="3150" b="1" spc="-10" dirty="0">
                <a:latin typeface="Calibri"/>
                <a:cs typeface="Calibri"/>
              </a:rPr>
              <a:t>The lesser omentum, </a:t>
            </a:r>
            <a:r>
              <a:rPr sz="3150" spc="-5" dirty="0">
                <a:latin typeface="Calibri"/>
                <a:cs typeface="Calibri"/>
              </a:rPr>
              <a:t>extending </a:t>
            </a:r>
            <a:r>
              <a:rPr sz="3150" spc="-10" dirty="0">
                <a:latin typeface="Calibri"/>
                <a:cs typeface="Calibri"/>
              </a:rPr>
              <a:t>from </a:t>
            </a:r>
            <a:r>
              <a:rPr sz="3150" spc="-5" dirty="0">
                <a:latin typeface="Calibri"/>
                <a:cs typeface="Calibri"/>
              </a:rPr>
              <a:t>the lower </a:t>
            </a:r>
            <a:r>
              <a:rPr sz="3150" spc="-700" dirty="0">
                <a:latin typeface="Calibri"/>
                <a:cs typeface="Calibri"/>
              </a:rPr>
              <a:t> </a:t>
            </a:r>
            <a:r>
              <a:rPr sz="3150" spc="-5" dirty="0">
                <a:latin typeface="Calibri"/>
                <a:cs typeface="Calibri"/>
              </a:rPr>
              <a:t>portion of the </a:t>
            </a:r>
            <a:r>
              <a:rPr sz="3150" spc="-10" dirty="0">
                <a:latin typeface="Calibri"/>
                <a:cs typeface="Calibri"/>
              </a:rPr>
              <a:t>esophagus, </a:t>
            </a:r>
            <a:r>
              <a:rPr sz="3150" spc="-5" dirty="0">
                <a:latin typeface="Calibri"/>
                <a:cs typeface="Calibri"/>
              </a:rPr>
              <a:t>the </a:t>
            </a:r>
            <a:r>
              <a:rPr sz="3150" spc="-10" dirty="0">
                <a:latin typeface="Calibri"/>
                <a:cs typeface="Calibri"/>
              </a:rPr>
              <a:t>stomach, </a:t>
            </a:r>
            <a:r>
              <a:rPr sz="3150" spc="-5" dirty="0">
                <a:latin typeface="Calibri"/>
                <a:cs typeface="Calibri"/>
              </a:rPr>
              <a:t>and the </a:t>
            </a:r>
            <a:r>
              <a:rPr sz="3150" spc="-700" dirty="0">
                <a:latin typeface="Calibri"/>
                <a:cs typeface="Calibri"/>
              </a:rPr>
              <a:t> </a:t>
            </a:r>
            <a:r>
              <a:rPr sz="3150" spc="-5" dirty="0">
                <a:latin typeface="Calibri"/>
                <a:cs typeface="Calibri"/>
              </a:rPr>
              <a:t>upper</a:t>
            </a:r>
            <a:r>
              <a:rPr sz="3150" spc="-45" dirty="0">
                <a:latin typeface="Calibri"/>
                <a:cs typeface="Calibri"/>
              </a:rPr>
              <a:t> </a:t>
            </a:r>
            <a:r>
              <a:rPr sz="3150" spc="-5" dirty="0">
                <a:latin typeface="Calibri"/>
                <a:cs typeface="Calibri"/>
              </a:rPr>
              <a:t>portion</a:t>
            </a:r>
            <a:r>
              <a:rPr sz="3150" spc="-40" dirty="0">
                <a:latin typeface="Calibri"/>
                <a:cs typeface="Calibri"/>
              </a:rPr>
              <a:t> </a:t>
            </a:r>
            <a:r>
              <a:rPr sz="3150" spc="-5" dirty="0">
                <a:latin typeface="Calibri"/>
                <a:cs typeface="Calibri"/>
              </a:rPr>
              <a:t>of</a:t>
            </a:r>
            <a:r>
              <a:rPr sz="3150" spc="-10" dirty="0">
                <a:latin typeface="Calibri"/>
                <a:cs typeface="Calibri"/>
              </a:rPr>
              <a:t> </a:t>
            </a:r>
            <a:r>
              <a:rPr sz="3150" dirty="0">
                <a:latin typeface="Calibri"/>
                <a:cs typeface="Calibri"/>
              </a:rPr>
              <a:t>the</a:t>
            </a:r>
            <a:r>
              <a:rPr sz="3150" spc="-25" dirty="0">
                <a:latin typeface="Calibri"/>
                <a:cs typeface="Calibri"/>
              </a:rPr>
              <a:t> </a:t>
            </a:r>
            <a:r>
              <a:rPr sz="3150" spc="-5" dirty="0">
                <a:latin typeface="Calibri"/>
                <a:cs typeface="Calibri"/>
              </a:rPr>
              <a:t>duodenum</a:t>
            </a:r>
            <a:r>
              <a:rPr sz="3150" spc="-35" dirty="0">
                <a:latin typeface="Calibri"/>
                <a:cs typeface="Calibri"/>
              </a:rPr>
              <a:t> </a:t>
            </a:r>
            <a:r>
              <a:rPr sz="3150" spc="-5" dirty="0">
                <a:latin typeface="Calibri"/>
                <a:cs typeface="Calibri"/>
              </a:rPr>
              <a:t>to</a:t>
            </a:r>
            <a:r>
              <a:rPr sz="3150" spc="-20" dirty="0">
                <a:latin typeface="Calibri"/>
                <a:cs typeface="Calibri"/>
              </a:rPr>
              <a:t> </a:t>
            </a:r>
            <a:r>
              <a:rPr sz="3150" spc="-5" dirty="0">
                <a:latin typeface="Calibri"/>
                <a:cs typeface="Calibri"/>
              </a:rPr>
              <a:t>the</a:t>
            </a:r>
            <a:r>
              <a:rPr sz="3150" spc="-25" dirty="0">
                <a:latin typeface="Calibri"/>
                <a:cs typeface="Calibri"/>
              </a:rPr>
              <a:t> </a:t>
            </a:r>
            <a:r>
              <a:rPr sz="3150" spc="-5" dirty="0">
                <a:latin typeface="Calibri"/>
                <a:cs typeface="Calibri"/>
              </a:rPr>
              <a:t>liver.</a:t>
            </a:r>
            <a:endParaRPr sz="3150" dirty="0">
              <a:latin typeface="Calibri"/>
              <a:cs typeface="Calibri"/>
            </a:endParaRPr>
          </a:p>
          <a:p>
            <a:pPr marL="347980" marR="5080" indent="-335280" algn="just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347980" algn="l"/>
              </a:tabLst>
            </a:pPr>
            <a:r>
              <a:rPr sz="3150" spc="-10" dirty="0">
                <a:latin typeface="Calibri"/>
                <a:cs typeface="Calibri"/>
              </a:rPr>
              <a:t>The </a:t>
            </a:r>
            <a:r>
              <a:rPr sz="3150" b="1" spc="-10" dirty="0">
                <a:latin typeface="Calibri"/>
                <a:cs typeface="Calibri"/>
              </a:rPr>
              <a:t>falciformligament, </a:t>
            </a:r>
            <a:r>
              <a:rPr sz="3150" spc="-5" dirty="0">
                <a:latin typeface="Calibri"/>
                <a:cs typeface="Calibri"/>
              </a:rPr>
              <a:t>extending </a:t>
            </a:r>
            <a:r>
              <a:rPr sz="3150" spc="-10" dirty="0">
                <a:latin typeface="Calibri"/>
                <a:cs typeface="Calibri"/>
              </a:rPr>
              <a:t>from </a:t>
            </a:r>
            <a:r>
              <a:rPr sz="3150" spc="-5" dirty="0">
                <a:latin typeface="Calibri"/>
                <a:cs typeface="Calibri"/>
              </a:rPr>
              <a:t>the liver </a:t>
            </a:r>
            <a:r>
              <a:rPr sz="3150" spc="-700" dirty="0">
                <a:latin typeface="Calibri"/>
                <a:cs typeface="Calibri"/>
              </a:rPr>
              <a:t> </a:t>
            </a:r>
            <a:r>
              <a:rPr sz="3150" spc="-5" dirty="0">
                <a:latin typeface="Calibri"/>
                <a:cs typeface="Calibri"/>
              </a:rPr>
              <a:t>to</a:t>
            </a:r>
            <a:r>
              <a:rPr sz="3150" spc="-20" dirty="0">
                <a:latin typeface="Calibri"/>
                <a:cs typeface="Calibri"/>
              </a:rPr>
              <a:t> </a:t>
            </a:r>
            <a:r>
              <a:rPr sz="3150" spc="-5" dirty="0">
                <a:latin typeface="Calibri"/>
                <a:cs typeface="Calibri"/>
              </a:rPr>
              <a:t>the</a:t>
            </a:r>
            <a:r>
              <a:rPr sz="3150" spc="-15" dirty="0">
                <a:latin typeface="Calibri"/>
                <a:cs typeface="Calibri"/>
              </a:rPr>
              <a:t> </a:t>
            </a:r>
            <a:r>
              <a:rPr sz="3150" spc="-5" dirty="0">
                <a:latin typeface="Calibri"/>
                <a:cs typeface="Calibri"/>
              </a:rPr>
              <a:t>ventral</a:t>
            </a:r>
            <a:r>
              <a:rPr sz="3150" spc="-15" dirty="0">
                <a:latin typeface="Calibri"/>
                <a:cs typeface="Calibri"/>
              </a:rPr>
              <a:t> </a:t>
            </a:r>
            <a:r>
              <a:rPr sz="3150" spc="-5" dirty="0">
                <a:latin typeface="Calibri"/>
                <a:cs typeface="Calibri"/>
              </a:rPr>
              <a:t>bodywall</a:t>
            </a:r>
            <a:endParaRPr sz="31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83584" y="453149"/>
            <a:ext cx="3150616" cy="71942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5" dirty="0"/>
              <a:t>foregut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524" y="1519794"/>
            <a:ext cx="6856095" cy="281876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80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200" spc="-10" dirty="0">
                <a:latin typeface="Calibri"/>
                <a:cs typeface="Calibri"/>
              </a:rPr>
              <a:t>Esophagus</a:t>
            </a:r>
            <a:endParaRPr sz="3200" dirty="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200" spc="-10" dirty="0">
                <a:latin typeface="Calibri"/>
                <a:cs typeface="Calibri"/>
              </a:rPr>
              <a:t>Stomach</a:t>
            </a:r>
            <a:endParaRPr sz="3200" dirty="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200" spc="-10" dirty="0">
                <a:latin typeface="Calibri"/>
                <a:cs typeface="Calibri"/>
              </a:rPr>
              <a:t>Duodenum</a:t>
            </a:r>
            <a:endParaRPr sz="3200" dirty="0">
              <a:latin typeface="Calibri"/>
              <a:cs typeface="Calibri"/>
            </a:endParaRPr>
          </a:p>
          <a:p>
            <a:pPr marL="356870" marR="5080" indent="-344805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200" spc="-5" dirty="0">
                <a:latin typeface="Calibri"/>
                <a:cs typeface="Calibri"/>
              </a:rPr>
              <a:t>glands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of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foregut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(liver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and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gall</a:t>
            </a:r>
            <a:r>
              <a:rPr sz="3200" spc="-5" dirty="0">
                <a:latin typeface="Calibri"/>
                <a:cs typeface="Calibri"/>
              </a:rPr>
              <a:t> bladder </a:t>
            </a:r>
            <a:r>
              <a:rPr sz="3200" spc="-7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pancreas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)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8800" y="453149"/>
            <a:ext cx="3960875" cy="71942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>
                <a:solidFill>
                  <a:srgbClr val="548ED4"/>
                </a:solidFill>
              </a:rPr>
              <a:t>Esophagus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524" y="1575892"/>
            <a:ext cx="8145780" cy="3846438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356870" marR="102870" indent="-344805" algn="just">
              <a:lnSpc>
                <a:spcPct val="89500"/>
              </a:lnSpc>
              <a:spcBef>
                <a:spcPts val="47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900" spc="-5" dirty="0">
                <a:latin typeface="Times New Roman"/>
                <a:cs typeface="Times New Roman"/>
              </a:rPr>
              <a:t>When</a:t>
            </a:r>
            <a:r>
              <a:rPr sz="2900" spc="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the</a:t>
            </a:r>
            <a:r>
              <a:rPr sz="2900" spc="-55" dirty="0">
                <a:latin typeface="Times New Roman"/>
                <a:cs typeface="Times New Roman"/>
              </a:rPr>
              <a:t> </a:t>
            </a:r>
            <a:r>
              <a:rPr sz="2900" spc="-5" dirty="0">
                <a:latin typeface="Times New Roman"/>
                <a:cs typeface="Times New Roman"/>
              </a:rPr>
              <a:t>embryo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is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approximately</a:t>
            </a:r>
            <a:r>
              <a:rPr sz="2900" spc="-3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4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Times New Roman"/>
                <a:cs typeface="Times New Roman"/>
              </a:rPr>
              <a:t>weeks</a:t>
            </a:r>
            <a:r>
              <a:rPr sz="2900" spc="-15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Times New Roman"/>
                <a:cs typeface="Times New Roman"/>
              </a:rPr>
              <a:t>old,</a:t>
            </a:r>
            <a:r>
              <a:rPr sz="2900" spc="-65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Times New Roman"/>
                <a:cs typeface="Times New Roman"/>
              </a:rPr>
              <a:t>the </a:t>
            </a:r>
            <a:r>
              <a:rPr sz="2900" spc="-710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respiratory </a:t>
            </a:r>
            <a:r>
              <a:rPr sz="2900" b="1" spc="-5" dirty="0">
                <a:latin typeface="Times New Roman"/>
                <a:cs typeface="Times New Roman"/>
              </a:rPr>
              <a:t>diverticulum</a:t>
            </a:r>
            <a:r>
              <a:rPr sz="2900" spc="-5" dirty="0">
                <a:latin typeface="Times New Roman"/>
                <a:cs typeface="Times New Roman"/>
              </a:rPr>
              <a:t>(</a:t>
            </a:r>
            <a:r>
              <a:rPr sz="2900" b="1" spc="-5" dirty="0">
                <a:latin typeface="Times New Roman"/>
                <a:cs typeface="Times New Roman"/>
              </a:rPr>
              <a:t>lung </a:t>
            </a:r>
            <a:r>
              <a:rPr sz="2900" b="1" spc="-10" dirty="0">
                <a:latin typeface="Times New Roman"/>
                <a:cs typeface="Times New Roman"/>
              </a:rPr>
              <a:t>bud) </a:t>
            </a:r>
            <a:r>
              <a:rPr sz="2900" spc="5" dirty="0">
                <a:latin typeface="Times New Roman"/>
                <a:cs typeface="Times New Roman"/>
              </a:rPr>
              <a:t>appears </a:t>
            </a:r>
            <a:r>
              <a:rPr sz="2900" dirty="0">
                <a:latin typeface="Times New Roman"/>
                <a:cs typeface="Times New Roman"/>
              </a:rPr>
              <a:t>at </a:t>
            </a:r>
            <a:r>
              <a:rPr sz="2900" spc="5" dirty="0">
                <a:latin typeface="Times New Roman"/>
                <a:cs typeface="Times New Roman"/>
              </a:rPr>
              <a:t>the </a:t>
            </a:r>
            <a:r>
              <a:rPr sz="2900" spc="-7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ventral wall </a:t>
            </a:r>
            <a:r>
              <a:rPr sz="2900" spc="5" dirty="0">
                <a:latin typeface="Times New Roman"/>
                <a:cs typeface="Times New Roman"/>
              </a:rPr>
              <a:t>of the </a:t>
            </a:r>
            <a:r>
              <a:rPr sz="2900" dirty="0">
                <a:latin typeface="Times New Roman"/>
                <a:cs typeface="Times New Roman"/>
              </a:rPr>
              <a:t>foregut at </a:t>
            </a:r>
            <a:r>
              <a:rPr sz="2900" spc="5" dirty="0">
                <a:latin typeface="Times New Roman"/>
                <a:cs typeface="Times New Roman"/>
              </a:rPr>
              <a:t>the </a:t>
            </a:r>
            <a:r>
              <a:rPr sz="2900" dirty="0">
                <a:latin typeface="Times New Roman"/>
                <a:cs typeface="Times New Roman"/>
              </a:rPr>
              <a:t>border with </a:t>
            </a:r>
            <a:r>
              <a:rPr sz="2900" spc="5" dirty="0">
                <a:latin typeface="Times New Roman"/>
                <a:cs typeface="Times New Roman"/>
              </a:rPr>
              <a:t>the </a:t>
            </a:r>
            <a:r>
              <a:rPr sz="2900" spc="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pharyngeal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Times New Roman"/>
                <a:cs typeface="Times New Roman"/>
              </a:rPr>
              <a:t>gut</a:t>
            </a:r>
            <a:endParaRPr sz="2900" dirty="0">
              <a:latin typeface="Times New Roman"/>
              <a:cs typeface="Times New Roman"/>
            </a:endParaRPr>
          </a:p>
          <a:p>
            <a:pPr marL="356870" marR="5080" indent="-344805" algn="just">
              <a:lnSpc>
                <a:spcPts val="3070"/>
              </a:lnSpc>
              <a:spcBef>
                <a:spcPts val="75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900" spc="5" dirty="0">
                <a:latin typeface="Times New Roman"/>
                <a:cs typeface="Times New Roman"/>
              </a:rPr>
              <a:t>The</a:t>
            </a:r>
            <a:r>
              <a:rPr sz="2900" spc="-1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tracheoesophageal</a:t>
            </a:r>
            <a:r>
              <a:rPr sz="2900" b="1" spc="-8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septum</a:t>
            </a:r>
            <a:r>
              <a:rPr sz="2900" b="1" spc="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gradually</a:t>
            </a:r>
            <a:r>
              <a:rPr sz="2900" spc="-6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partitions </a:t>
            </a:r>
            <a:r>
              <a:rPr sz="2900" spc="-7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this</a:t>
            </a:r>
            <a:r>
              <a:rPr sz="2900" spc="-5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diverticulum</a:t>
            </a:r>
            <a:r>
              <a:rPr sz="2900" spc="-8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from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the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dorsal</a:t>
            </a:r>
            <a:r>
              <a:rPr sz="2900" spc="-4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part</a:t>
            </a:r>
            <a:r>
              <a:rPr sz="2900" spc="-50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Times New Roman"/>
                <a:cs typeface="Times New Roman"/>
              </a:rPr>
              <a:t>of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Times New Roman"/>
                <a:cs typeface="Times New Roman"/>
              </a:rPr>
              <a:t>the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foregut</a:t>
            </a:r>
          </a:p>
          <a:p>
            <a:pPr marL="356870" marR="130175" indent="-344805" algn="just">
              <a:lnSpc>
                <a:spcPct val="90000"/>
              </a:lnSpc>
              <a:spcBef>
                <a:spcPts val="63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900" dirty="0">
                <a:latin typeface="Times New Roman"/>
                <a:cs typeface="Times New Roman"/>
              </a:rPr>
              <a:t>In </a:t>
            </a:r>
            <a:r>
              <a:rPr sz="2900" spc="5" dirty="0">
                <a:latin typeface="Times New Roman"/>
                <a:cs typeface="Times New Roman"/>
              </a:rPr>
              <a:t>this </a:t>
            </a:r>
            <a:r>
              <a:rPr sz="2900" spc="-5" dirty="0">
                <a:latin typeface="Times New Roman"/>
                <a:cs typeface="Times New Roman"/>
              </a:rPr>
              <a:t>manner </a:t>
            </a:r>
            <a:r>
              <a:rPr sz="2900" spc="5" dirty="0">
                <a:latin typeface="Times New Roman"/>
                <a:cs typeface="Times New Roman"/>
              </a:rPr>
              <a:t>the foregut divides into </a:t>
            </a:r>
            <a:r>
              <a:rPr sz="2900" dirty="0">
                <a:latin typeface="Times New Roman"/>
                <a:cs typeface="Times New Roman"/>
              </a:rPr>
              <a:t>a </a:t>
            </a:r>
            <a:r>
              <a:rPr sz="2900" spc="5" dirty="0">
                <a:latin typeface="Times New Roman"/>
                <a:cs typeface="Times New Roman"/>
              </a:rPr>
              <a:t>ventral </a:t>
            </a:r>
            <a:r>
              <a:rPr sz="2900" spc="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portion,</a:t>
            </a:r>
            <a:r>
              <a:rPr sz="2900" spc="-55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Times New Roman"/>
                <a:cs typeface="Times New Roman"/>
              </a:rPr>
              <a:t>the</a:t>
            </a:r>
            <a:r>
              <a:rPr sz="2900" spc="-30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respiratory</a:t>
            </a:r>
            <a:r>
              <a:rPr sz="2900" b="1" spc="-50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primordium,</a:t>
            </a:r>
            <a:r>
              <a:rPr sz="2900" b="1" spc="-80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and</a:t>
            </a:r>
            <a:r>
              <a:rPr sz="2900" b="1" spc="-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a</a:t>
            </a:r>
            <a:r>
              <a:rPr sz="2900" b="1" spc="3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dorsal </a:t>
            </a:r>
            <a:r>
              <a:rPr sz="2900" spc="-7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portion,</a:t>
            </a:r>
            <a:r>
              <a:rPr sz="2900" spc="-65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Times New Roman"/>
                <a:cs typeface="Times New Roman"/>
              </a:rPr>
              <a:t>the</a:t>
            </a:r>
            <a:r>
              <a:rPr sz="2900" spc="-3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esophagus</a:t>
            </a:r>
            <a:r>
              <a:rPr sz="2900" b="1" spc="-4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.</a:t>
            </a:r>
            <a:endParaRPr sz="29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366" y="784746"/>
            <a:ext cx="8531633" cy="576845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5124" y="549350"/>
            <a:ext cx="8069276" cy="50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200" spc="10" dirty="0">
                <a:solidFill>
                  <a:srgbClr val="548ED4"/>
                </a:solidFill>
              </a:rPr>
              <a:t>Stages</a:t>
            </a:r>
            <a:r>
              <a:rPr sz="3200" spc="15" dirty="0">
                <a:solidFill>
                  <a:srgbClr val="548ED4"/>
                </a:solidFill>
              </a:rPr>
              <a:t> </a:t>
            </a:r>
            <a:r>
              <a:rPr sz="3200" spc="5" dirty="0">
                <a:solidFill>
                  <a:srgbClr val="548ED4"/>
                </a:solidFill>
              </a:rPr>
              <a:t>in</a:t>
            </a:r>
            <a:r>
              <a:rPr sz="3200" spc="15" dirty="0">
                <a:solidFill>
                  <a:srgbClr val="548ED4"/>
                </a:solidFill>
              </a:rPr>
              <a:t> the</a:t>
            </a:r>
            <a:r>
              <a:rPr sz="3200" spc="10" dirty="0">
                <a:solidFill>
                  <a:srgbClr val="548ED4"/>
                </a:solidFill>
              </a:rPr>
              <a:t> Development</a:t>
            </a:r>
            <a:r>
              <a:rPr sz="3200" spc="60" dirty="0">
                <a:solidFill>
                  <a:srgbClr val="548ED4"/>
                </a:solidFill>
              </a:rPr>
              <a:t> </a:t>
            </a:r>
            <a:r>
              <a:rPr sz="3200" spc="10" dirty="0">
                <a:solidFill>
                  <a:srgbClr val="548ED4"/>
                </a:solidFill>
              </a:rPr>
              <a:t>of</a:t>
            </a:r>
            <a:r>
              <a:rPr sz="3200" spc="-5" dirty="0">
                <a:solidFill>
                  <a:srgbClr val="548ED4"/>
                </a:solidFill>
              </a:rPr>
              <a:t> </a:t>
            </a:r>
            <a:r>
              <a:rPr sz="3200" spc="10" dirty="0">
                <a:solidFill>
                  <a:srgbClr val="548ED4"/>
                </a:solidFill>
              </a:rPr>
              <a:t>the</a:t>
            </a:r>
            <a:r>
              <a:rPr sz="3200" spc="20" dirty="0">
                <a:solidFill>
                  <a:srgbClr val="548ED4"/>
                </a:solidFill>
              </a:rPr>
              <a:t> </a:t>
            </a:r>
            <a:r>
              <a:rPr sz="3200" spc="10" dirty="0">
                <a:solidFill>
                  <a:srgbClr val="548ED4"/>
                </a:solidFill>
              </a:rPr>
              <a:t>Oesophagus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465124" y="1548765"/>
            <a:ext cx="8167370" cy="376047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78435" marR="210820" indent="-178435">
              <a:lnSpc>
                <a:spcPct val="79200"/>
              </a:lnSpc>
              <a:spcBef>
                <a:spcPts val="720"/>
              </a:spcBef>
              <a:buClr>
                <a:srgbClr val="000000"/>
              </a:buClr>
              <a:buSzPct val="84000"/>
              <a:buFont typeface="Calibri"/>
              <a:buChar char="•"/>
              <a:tabLst>
                <a:tab pos="178435" algn="l"/>
              </a:tabLst>
            </a:pPr>
            <a:r>
              <a:rPr sz="2500" spc="-5" dirty="0">
                <a:solidFill>
                  <a:srgbClr val="C0504D"/>
                </a:solidFill>
                <a:latin typeface="Times New Roman"/>
                <a:cs typeface="Times New Roman"/>
              </a:rPr>
              <a:t>Elongation</a:t>
            </a:r>
            <a:r>
              <a:rPr sz="2500" spc="30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:occurs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during</a:t>
            </a:r>
            <a:r>
              <a:rPr sz="2500" spc="3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15" dirty="0">
                <a:latin typeface="Times New Roman"/>
                <a:cs typeface="Times New Roman"/>
              </a:rPr>
              <a:t>2</a:t>
            </a:r>
            <a:r>
              <a:rPr sz="2475" spc="-22" baseline="25252" dirty="0">
                <a:latin typeface="Times New Roman"/>
                <a:cs typeface="Times New Roman"/>
              </a:rPr>
              <a:t>nd</a:t>
            </a:r>
            <a:r>
              <a:rPr sz="2475" spc="375" baseline="25252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month;</a:t>
            </a:r>
            <a:r>
              <a:rPr sz="2500" spc="5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by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8th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week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proliferating</a:t>
            </a:r>
            <a:r>
              <a:rPr sz="2500" spc="4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epithelium</a:t>
            </a:r>
            <a:r>
              <a:rPr sz="2500" spc="5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has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partly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occluded</a:t>
            </a:r>
            <a:r>
              <a:rPr sz="2500" spc="4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lumen.</a:t>
            </a:r>
            <a:endParaRPr sz="2500" dirty="0">
              <a:latin typeface="Times New Roman"/>
              <a:cs typeface="Times New Roman"/>
            </a:endParaRPr>
          </a:p>
          <a:p>
            <a:pPr marL="149860" marR="318135" indent="-149860">
              <a:lnSpc>
                <a:spcPct val="79200"/>
              </a:lnSpc>
              <a:spcBef>
                <a:spcPts val="650"/>
              </a:spcBef>
              <a:buClr>
                <a:srgbClr val="000000"/>
              </a:buClr>
              <a:buSzPct val="96000"/>
              <a:buChar char="•"/>
              <a:tabLst>
                <a:tab pos="149860" algn="l"/>
              </a:tabLst>
            </a:pPr>
            <a:r>
              <a:rPr sz="2500" spc="-5" dirty="0">
                <a:solidFill>
                  <a:srgbClr val="C0504D"/>
                </a:solidFill>
                <a:latin typeface="Times New Roman"/>
                <a:cs typeface="Times New Roman"/>
              </a:rPr>
              <a:t>Recanalization</a:t>
            </a:r>
            <a:r>
              <a:rPr lang="en-US" sz="2500" spc="-5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2500" spc="-5" dirty="0">
                <a:solidFill>
                  <a:srgbClr val="C0504D"/>
                </a:solidFill>
                <a:latin typeface="Times New Roman"/>
                <a:cs typeface="Times New Roman"/>
              </a:rPr>
              <a:t>occurs</a:t>
            </a:r>
            <a:r>
              <a:rPr sz="2500" spc="114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during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</a:t>
            </a:r>
            <a:r>
              <a:rPr sz="2500" dirty="0">
                <a:latin typeface="Times New Roman"/>
                <a:cs typeface="Times New Roman"/>
              </a:rPr>
              <a:t> 3</a:t>
            </a:r>
            <a:r>
              <a:rPr sz="2475" baseline="25252" dirty="0">
                <a:latin typeface="Times New Roman"/>
                <a:cs typeface="Times New Roman"/>
              </a:rPr>
              <a:t>rd</a:t>
            </a:r>
            <a:r>
              <a:rPr sz="2475" spc="337" baseline="25252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month</a:t>
            </a:r>
            <a:r>
              <a:rPr sz="2500" spc="5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by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vacuolation</a:t>
            </a:r>
            <a:r>
              <a:rPr sz="2500" spc="4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in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multilayered</a:t>
            </a:r>
            <a:r>
              <a:rPr sz="2500" spc="8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columnar</a:t>
            </a:r>
            <a:r>
              <a:rPr sz="2500" spc="4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epithelium.</a:t>
            </a:r>
            <a:endParaRPr sz="2500" dirty="0">
              <a:latin typeface="Times New Roman"/>
              <a:cs typeface="Times New Roman"/>
            </a:endParaRPr>
          </a:p>
          <a:p>
            <a:pPr marL="149860" marR="30480" indent="-149860">
              <a:lnSpc>
                <a:spcPct val="79200"/>
              </a:lnSpc>
              <a:spcBef>
                <a:spcPts val="650"/>
              </a:spcBef>
              <a:buClr>
                <a:srgbClr val="000000"/>
              </a:buClr>
              <a:buSzPct val="96000"/>
              <a:buChar char="•"/>
              <a:tabLst>
                <a:tab pos="149860" algn="l"/>
              </a:tabLst>
            </a:pPr>
            <a:r>
              <a:rPr sz="2500" spc="-5" dirty="0">
                <a:solidFill>
                  <a:srgbClr val="C0504D"/>
                </a:solidFill>
                <a:latin typeface="Times New Roman"/>
                <a:cs typeface="Times New Roman"/>
              </a:rPr>
              <a:t>Differentiation</a:t>
            </a:r>
            <a:r>
              <a:rPr lang="en-US" sz="2500" spc="-5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of</a:t>
            </a:r>
            <a:r>
              <a:rPr sz="2500" spc="1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stratified</a:t>
            </a:r>
            <a:r>
              <a:rPr sz="2500" spc="7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squamous</a:t>
            </a:r>
            <a:r>
              <a:rPr sz="2500" spc="6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epithelium</a:t>
            </a:r>
            <a:r>
              <a:rPr sz="2500" spc="5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occurs</a:t>
            </a:r>
            <a:r>
              <a:rPr sz="2500" spc="4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during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4</a:t>
            </a:r>
            <a:r>
              <a:rPr sz="2475" baseline="25252" dirty="0">
                <a:latin typeface="Times New Roman"/>
                <a:cs typeface="Times New Roman"/>
              </a:rPr>
              <a:t>th</a:t>
            </a:r>
            <a:r>
              <a:rPr sz="2475" spc="330" baseline="25252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month.</a:t>
            </a:r>
            <a:endParaRPr sz="2500" dirty="0">
              <a:latin typeface="Times New Roman"/>
              <a:cs typeface="Times New Roman"/>
            </a:endParaRPr>
          </a:p>
          <a:p>
            <a:pPr marL="149860" marR="252095" indent="-149860">
              <a:lnSpc>
                <a:spcPct val="79700"/>
              </a:lnSpc>
              <a:spcBef>
                <a:spcPts val="635"/>
              </a:spcBef>
              <a:buClr>
                <a:srgbClr val="000000"/>
              </a:buClr>
              <a:buSzPct val="96000"/>
              <a:buChar char="•"/>
              <a:tabLst>
                <a:tab pos="149860" algn="l"/>
              </a:tabLst>
            </a:pPr>
            <a:r>
              <a:rPr sz="2500" spc="-5" dirty="0">
                <a:solidFill>
                  <a:srgbClr val="C0504D"/>
                </a:solidFill>
                <a:latin typeface="Times New Roman"/>
                <a:cs typeface="Times New Roman"/>
              </a:rPr>
              <a:t>Induction</a:t>
            </a:r>
            <a:r>
              <a:rPr lang="en-US" sz="2500" spc="-5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2500" spc="-5" dirty="0">
                <a:solidFill>
                  <a:srgbClr val="C0504D"/>
                </a:solidFill>
                <a:latin typeface="Times New Roman"/>
                <a:cs typeface="Times New Roman"/>
              </a:rPr>
              <a:t>of</a:t>
            </a:r>
            <a:r>
              <a:rPr sz="2500" spc="30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C0504D"/>
                </a:solidFill>
                <a:latin typeface="Times New Roman"/>
                <a:cs typeface="Times New Roman"/>
              </a:rPr>
              <a:t>muscle</a:t>
            </a:r>
            <a:r>
              <a:rPr sz="2500" spc="65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C0504D"/>
                </a:solidFill>
                <a:latin typeface="Times New Roman"/>
                <a:cs typeface="Times New Roman"/>
              </a:rPr>
              <a:t>formation</a:t>
            </a:r>
            <a:r>
              <a:rPr sz="2500" spc="95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in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splanchnic</a:t>
            </a:r>
            <a:r>
              <a:rPr sz="2500" spc="6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mesoderm </a:t>
            </a:r>
            <a:r>
              <a:rPr sz="2500" spc="-5" dirty="0">
                <a:latin typeface="Times New Roman"/>
                <a:cs typeface="Times New Roman"/>
              </a:rPr>
              <a:t> occurs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during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2</a:t>
            </a:r>
            <a:r>
              <a:rPr sz="2475" baseline="25252" dirty="0">
                <a:latin typeface="Times New Roman"/>
                <a:cs typeface="Times New Roman"/>
              </a:rPr>
              <a:t>nd</a:t>
            </a:r>
            <a:r>
              <a:rPr sz="2475" spc="337" baseline="25252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month</a:t>
            </a:r>
            <a:r>
              <a:rPr sz="2500" spc="4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in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response</a:t>
            </a:r>
            <a:r>
              <a:rPr sz="2500" spc="6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to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signals</a:t>
            </a:r>
            <a:r>
              <a:rPr sz="2500" spc="3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from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endoderm.</a:t>
            </a:r>
            <a:r>
              <a:rPr sz="2500" spc="4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Initially</a:t>
            </a:r>
            <a:r>
              <a:rPr sz="2500" spc="5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only </a:t>
            </a:r>
            <a:r>
              <a:rPr sz="2500" spc="-10" dirty="0">
                <a:latin typeface="Times New Roman"/>
                <a:cs typeface="Times New Roman"/>
              </a:rPr>
              <a:t>smooth</a:t>
            </a:r>
            <a:r>
              <a:rPr sz="2500" spc="4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muscle</a:t>
            </a:r>
            <a:r>
              <a:rPr sz="2500" spc="6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forms.</a:t>
            </a:r>
            <a:endParaRPr sz="2500" dirty="0">
              <a:latin typeface="Times New Roman"/>
              <a:cs typeface="Times New Roman"/>
            </a:endParaRPr>
          </a:p>
          <a:p>
            <a:pPr marL="149860" marR="121285" indent="-149860">
              <a:lnSpc>
                <a:spcPts val="2400"/>
              </a:lnSpc>
              <a:spcBef>
                <a:spcPts val="605"/>
              </a:spcBef>
              <a:buClr>
                <a:srgbClr val="000000"/>
              </a:buClr>
              <a:buSzPct val="96000"/>
              <a:buChar char="•"/>
              <a:tabLst>
                <a:tab pos="149860" algn="l"/>
              </a:tabLst>
            </a:pPr>
            <a:r>
              <a:rPr sz="2500" spc="-5" dirty="0">
                <a:solidFill>
                  <a:srgbClr val="C0504D"/>
                </a:solidFill>
                <a:latin typeface="Times New Roman"/>
                <a:cs typeface="Times New Roman"/>
              </a:rPr>
              <a:t>Trans</a:t>
            </a:r>
            <a:r>
              <a:rPr lang="en-US" sz="2500" spc="-5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2500" spc="-5" dirty="0">
                <a:solidFill>
                  <a:srgbClr val="C0504D"/>
                </a:solidFill>
                <a:latin typeface="Times New Roman"/>
                <a:cs typeface="Times New Roman"/>
              </a:rPr>
              <a:t>differentiation</a:t>
            </a:r>
            <a:r>
              <a:rPr sz="2500" spc="130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of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smooth</a:t>
            </a:r>
            <a:r>
              <a:rPr sz="2500" spc="5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to</a:t>
            </a:r>
            <a:r>
              <a:rPr sz="2500" spc="3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skeletalmuscle</a:t>
            </a:r>
            <a:r>
              <a:rPr sz="2500" spc="1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occurs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in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upper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two-thirds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of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 oesophagus</a:t>
            </a:r>
            <a:endParaRPr sz="25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453149"/>
            <a:ext cx="6629400" cy="71942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5" dirty="0">
                <a:solidFill>
                  <a:srgbClr val="548ED4"/>
                </a:solidFill>
              </a:rPr>
              <a:t>Esophageal</a:t>
            </a:r>
            <a:r>
              <a:rPr lang="en-US" spc="-5" dirty="0">
                <a:solidFill>
                  <a:srgbClr val="548ED4"/>
                </a:solidFill>
              </a:rPr>
              <a:t> </a:t>
            </a:r>
            <a:r>
              <a:rPr spc="-5" dirty="0">
                <a:solidFill>
                  <a:srgbClr val="548ED4"/>
                </a:solidFill>
              </a:rPr>
              <a:t>abnormality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524" y="1530476"/>
            <a:ext cx="8119109" cy="4157979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56870" marR="590550" indent="-344805" algn="just">
              <a:lnSpc>
                <a:spcPts val="2780"/>
              </a:lnSpc>
              <a:spcBef>
                <a:spcPts val="780"/>
              </a:spcBef>
            </a:pPr>
            <a:r>
              <a:rPr sz="2900" spc="-5" dirty="0">
                <a:latin typeface="Calibri"/>
                <a:cs typeface="Calibri"/>
              </a:rPr>
              <a:t>1- </a:t>
            </a:r>
            <a:r>
              <a:rPr sz="2900" b="1" dirty="0">
                <a:latin typeface="Calibri"/>
                <a:cs typeface="Calibri"/>
              </a:rPr>
              <a:t>Esophageal atresia and/or </a:t>
            </a:r>
            <a:r>
              <a:rPr sz="2900" b="1" spc="-5" dirty="0">
                <a:latin typeface="Calibri"/>
                <a:cs typeface="Calibri"/>
              </a:rPr>
              <a:t>tracheo-esophageal </a:t>
            </a:r>
            <a:r>
              <a:rPr sz="2900" b="1" spc="-645" dirty="0">
                <a:latin typeface="Calibri"/>
                <a:cs typeface="Calibri"/>
              </a:rPr>
              <a:t> </a:t>
            </a:r>
            <a:r>
              <a:rPr sz="2900" b="1" spc="-5" dirty="0">
                <a:latin typeface="Calibri"/>
                <a:cs typeface="Calibri"/>
              </a:rPr>
              <a:t>fistula.</a:t>
            </a:r>
            <a:endParaRPr sz="2900" dirty="0">
              <a:latin typeface="Calibri"/>
              <a:cs typeface="Calibri"/>
            </a:endParaRPr>
          </a:p>
          <a:p>
            <a:pPr marL="356870" marR="5080" indent="-344805" algn="just">
              <a:lnSpc>
                <a:spcPct val="80000"/>
              </a:lnSpc>
              <a:spcBef>
                <a:spcPts val="63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900" spc="-5" dirty="0">
                <a:latin typeface="Calibri"/>
                <a:cs typeface="Calibri"/>
              </a:rPr>
              <a:t>results</a:t>
            </a:r>
            <a:r>
              <a:rPr sz="2900" spc="-10" dirty="0">
                <a:latin typeface="Calibri"/>
                <a:cs typeface="Calibri"/>
              </a:rPr>
              <a:t> </a:t>
            </a:r>
            <a:r>
              <a:rPr sz="2900" spc="5" dirty="0">
                <a:latin typeface="Calibri"/>
                <a:cs typeface="Calibri"/>
              </a:rPr>
              <a:t>either</a:t>
            </a:r>
            <a:r>
              <a:rPr sz="2900" spc="-35" dirty="0">
                <a:latin typeface="Calibri"/>
                <a:cs typeface="Calibri"/>
              </a:rPr>
              <a:t> </a:t>
            </a:r>
            <a:r>
              <a:rPr sz="2900" spc="-5" dirty="0">
                <a:latin typeface="Calibri"/>
                <a:cs typeface="Calibri"/>
              </a:rPr>
              <a:t>from</a:t>
            </a:r>
            <a:r>
              <a:rPr sz="2900" spc="-2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spontaneous</a:t>
            </a:r>
            <a:r>
              <a:rPr sz="2900" spc="-70" dirty="0">
                <a:latin typeface="Calibri"/>
                <a:cs typeface="Calibri"/>
              </a:rPr>
              <a:t> </a:t>
            </a:r>
            <a:r>
              <a:rPr sz="2900" spc="-5" dirty="0">
                <a:latin typeface="Calibri"/>
                <a:cs typeface="Calibri"/>
              </a:rPr>
              <a:t>posterior</a:t>
            </a:r>
            <a:r>
              <a:rPr sz="2900" spc="-2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deviation </a:t>
            </a:r>
            <a:r>
              <a:rPr sz="2900" spc="-645" dirty="0">
                <a:latin typeface="Calibri"/>
                <a:cs typeface="Calibri"/>
              </a:rPr>
              <a:t> </a:t>
            </a:r>
            <a:r>
              <a:rPr sz="2900" spc="-5" dirty="0">
                <a:latin typeface="Calibri"/>
                <a:cs typeface="Calibri"/>
              </a:rPr>
              <a:t>of </a:t>
            </a:r>
            <a:r>
              <a:rPr sz="2900" spc="5" dirty="0">
                <a:latin typeface="Calibri"/>
                <a:cs typeface="Calibri"/>
              </a:rPr>
              <a:t>the </a:t>
            </a:r>
            <a:r>
              <a:rPr sz="2900" b="1" dirty="0">
                <a:latin typeface="Calibri"/>
                <a:cs typeface="Calibri"/>
              </a:rPr>
              <a:t>tracheoesophageal septum or </a:t>
            </a:r>
            <a:r>
              <a:rPr sz="2900" b="1" spc="-5" dirty="0">
                <a:latin typeface="Calibri"/>
                <a:cs typeface="Calibri"/>
              </a:rPr>
              <a:t>from </a:t>
            </a:r>
            <a:r>
              <a:rPr sz="2900" dirty="0">
                <a:latin typeface="Calibri"/>
                <a:cs typeface="Calibri"/>
              </a:rPr>
              <a:t>some </a:t>
            </a:r>
            <a:r>
              <a:rPr sz="2900" spc="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mechanical factor pushing the </a:t>
            </a:r>
            <a:r>
              <a:rPr sz="2900" spc="-5" dirty="0">
                <a:latin typeface="Calibri"/>
                <a:cs typeface="Calibri"/>
              </a:rPr>
              <a:t>dorsal </a:t>
            </a:r>
            <a:r>
              <a:rPr sz="2900" dirty="0">
                <a:latin typeface="Calibri"/>
                <a:cs typeface="Calibri"/>
              </a:rPr>
              <a:t>wall of the </a:t>
            </a:r>
            <a:r>
              <a:rPr sz="2900" spc="5" dirty="0">
                <a:latin typeface="Calibri"/>
                <a:cs typeface="Calibri"/>
              </a:rPr>
              <a:t> </a:t>
            </a:r>
            <a:r>
              <a:rPr sz="2900" spc="-5" dirty="0">
                <a:latin typeface="Calibri"/>
                <a:cs typeface="Calibri"/>
              </a:rPr>
              <a:t>foregut</a:t>
            </a:r>
            <a:r>
              <a:rPr sz="2900" spc="-2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anteriorly.</a:t>
            </a:r>
          </a:p>
          <a:p>
            <a:pPr marL="356870" marR="17780" indent="-344805" algn="just">
              <a:lnSpc>
                <a:spcPct val="80000"/>
              </a:lnSpc>
              <a:spcBef>
                <a:spcPts val="60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900" spc="-5" dirty="0">
                <a:latin typeface="Calibri"/>
                <a:cs typeface="Calibri"/>
              </a:rPr>
              <a:t>In </a:t>
            </a:r>
            <a:r>
              <a:rPr sz="2900" spc="5" dirty="0">
                <a:latin typeface="Calibri"/>
                <a:cs typeface="Calibri"/>
              </a:rPr>
              <a:t>its </a:t>
            </a:r>
            <a:r>
              <a:rPr sz="2900" dirty="0">
                <a:latin typeface="Calibri"/>
                <a:cs typeface="Calibri"/>
              </a:rPr>
              <a:t>most common </a:t>
            </a:r>
            <a:r>
              <a:rPr sz="2900" spc="-5" dirty="0">
                <a:latin typeface="Calibri"/>
                <a:cs typeface="Calibri"/>
              </a:rPr>
              <a:t>form </a:t>
            </a:r>
            <a:r>
              <a:rPr sz="2900" dirty="0">
                <a:latin typeface="Calibri"/>
                <a:cs typeface="Calibri"/>
              </a:rPr>
              <a:t>the proximal part of </a:t>
            </a:r>
            <a:r>
              <a:rPr sz="2900" spc="5" dirty="0">
                <a:latin typeface="Calibri"/>
                <a:cs typeface="Calibri"/>
              </a:rPr>
              <a:t>the </a:t>
            </a:r>
            <a:r>
              <a:rPr sz="2900" spc="1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esophagus </a:t>
            </a:r>
            <a:r>
              <a:rPr sz="2900" spc="5" dirty="0">
                <a:latin typeface="Calibri"/>
                <a:cs typeface="Calibri"/>
              </a:rPr>
              <a:t>ends </a:t>
            </a:r>
            <a:r>
              <a:rPr sz="2900" dirty="0">
                <a:latin typeface="Calibri"/>
                <a:cs typeface="Calibri"/>
              </a:rPr>
              <a:t>as a blind </a:t>
            </a:r>
            <a:r>
              <a:rPr sz="2900" spc="-5" dirty="0">
                <a:latin typeface="Calibri"/>
                <a:cs typeface="Calibri"/>
              </a:rPr>
              <a:t>sac, </a:t>
            </a:r>
            <a:r>
              <a:rPr sz="2900" dirty="0">
                <a:latin typeface="Calibri"/>
                <a:cs typeface="Calibri"/>
              </a:rPr>
              <a:t>and </a:t>
            </a:r>
            <a:r>
              <a:rPr sz="2900" spc="5" dirty="0">
                <a:latin typeface="Calibri"/>
                <a:cs typeface="Calibri"/>
              </a:rPr>
              <a:t>the </a:t>
            </a:r>
            <a:r>
              <a:rPr sz="2900" dirty="0">
                <a:latin typeface="Calibri"/>
                <a:cs typeface="Calibri"/>
              </a:rPr>
              <a:t>distal part is </a:t>
            </a:r>
            <a:r>
              <a:rPr sz="2900" spc="-64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connected </a:t>
            </a:r>
            <a:r>
              <a:rPr sz="2900" spc="5" dirty="0">
                <a:latin typeface="Calibri"/>
                <a:cs typeface="Calibri"/>
              </a:rPr>
              <a:t>to </a:t>
            </a:r>
            <a:r>
              <a:rPr sz="2900" dirty="0">
                <a:latin typeface="Calibri"/>
                <a:cs typeface="Calibri"/>
              </a:rPr>
              <a:t>the trachea by a </a:t>
            </a:r>
            <a:r>
              <a:rPr sz="2900" spc="-5" dirty="0">
                <a:latin typeface="Calibri"/>
                <a:cs typeface="Calibri"/>
              </a:rPr>
              <a:t>narrow </a:t>
            </a:r>
            <a:r>
              <a:rPr sz="2900" dirty="0">
                <a:latin typeface="Calibri"/>
                <a:cs typeface="Calibri"/>
              </a:rPr>
              <a:t>canal </a:t>
            </a:r>
            <a:r>
              <a:rPr sz="2900" spc="-5" dirty="0">
                <a:latin typeface="Calibri"/>
                <a:cs typeface="Calibri"/>
              </a:rPr>
              <a:t>just </a:t>
            </a:r>
            <a:r>
              <a:rPr sz="2900" dirty="0">
                <a:latin typeface="Calibri"/>
                <a:cs typeface="Calibri"/>
              </a:rPr>
              <a:t> above</a:t>
            </a:r>
            <a:r>
              <a:rPr sz="2900" spc="-35" dirty="0">
                <a:latin typeface="Calibri"/>
                <a:cs typeface="Calibri"/>
              </a:rPr>
              <a:t> </a:t>
            </a:r>
            <a:r>
              <a:rPr sz="2900" spc="5" dirty="0">
                <a:latin typeface="Calibri"/>
                <a:cs typeface="Calibri"/>
              </a:rPr>
              <a:t>the</a:t>
            </a:r>
            <a:r>
              <a:rPr sz="2900" spc="-3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bifurcation</a:t>
            </a:r>
            <a:r>
              <a:rPr sz="2900" spc="-50" dirty="0">
                <a:latin typeface="Calibri"/>
                <a:cs typeface="Calibri"/>
              </a:rPr>
              <a:t> </a:t>
            </a:r>
            <a:r>
              <a:rPr sz="2900" i="1" dirty="0">
                <a:latin typeface="Calibri"/>
                <a:cs typeface="Calibri"/>
              </a:rPr>
              <a:t>.</a:t>
            </a:r>
            <a:r>
              <a:rPr sz="2900" i="1" spc="10" dirty="0">
                <a:latin typeface="Calibri"/>
                <a:cs typeface="Calibri"/>
              </a:rPr>
              <a:t> </a:t>
            </a:r>
            <a:r>
              <a:rPr sz="2900" i="1" spc="-5" dirty="0">
                <a:latin typeface="Calibri"/>
                <a:cs typeface="Calibri"/>
              </a:rPr>
              <a:t>Other</a:t>
            </a:r>
            <a:r>
              <a:rPr sz="2900" i="1" spc="-10" dirty="0">
                <a:latin typeface="Calibri"/>
                <a:cs typeface="Calibri"/>
              </a:rPr>
              <a:t> </a:t>
            </a:r>
            <a:r>
              <a:rPr sz="2900" i="1" dirty="0">
                <a:latin typeface="Calibri"/>
                <a:cs typeface="Calibri"/>
              </a:rPr>
              <a:t>types</a:t>
            </a:r>
            <a:r>
              <a:rPr sz="2900" i="1" spc="-5" dirty="0">
                <a:latin typeface="Calibri"/>
                <a:cs typeface="Calibri"/>
              </a:rPr>
              <a:t> of defects</a:t>
            </a:r>
            <a:r>
              <a:rPr sz="2900" i="1" spc="-30" dirty="0">
                <a:latin typeface="Calibri"/>
                <a:cs typeface="Calibri"/>
              </a:rPr>
              <a:t> </a:t>
            </a:r>
            <a:r>
              <a:rPr sz="2900" i="1" dirty="0">
                <a:latin typeface="Calibri"/>
                <a:cs typeface="Calibri"/>
              </a:rPr>
              <a:t>in</a:t>
            </a:r>
            <a:r>
              <a:rPr sz="2900" i="1" spc="-5" dirty="0">
                <a:latin typeface="Calibri"/>
                <a:cs typeface="Calibri"/>
              </a:rPr>
              <a:t> this </a:t>
            </a:r>
            <a:r>
              <a:rPr sz="2900" i="1" spc="-645" dirty="0">
                <a:latin typeface="Calibri"/>
                <a:cs typeface="Calibri"/>
              </a:rPr>
              <a:t> </a:t>
            </a:r>
            <a:r>
              <a:rPr sz="2900" i="1" dirty="0">
                <a:latin typeface="Calibri"/>
                <a:cs typeface="Calibri"/>
              </a:rPr>
              <a:t>region</a:t>
            </a:r>
            <a:r>
              <a:rPr sz="2900" i="1" spc="-20" dirty="0">
                <a:latin typeface="Calibri"/>
                <a:cs typeface="Calibri"/>
              </a:rPr>
              <a:t> </a:t>
            </a:r>
            <a:r>
              <a:rPr sz="2900" i="1" spc="-5" dirty="0">
                <a:latin typeface="Calibri"/>
                <a:cs typeface="Calibri"/>
              </a:rPr>
              <a:t>occur</a:t>
            </a:r>
            <a:r>
              <a:rPr sz="2900" i="1" spc="15" dirty="0">
                <a:latin typeface="Calibri"/>
                <a:cs typeface="Calibri"/>
              </a:rPr>
              <a:t> </a:t>
            </a:r>
            <a:r>
              <a:rPr sz="2900" i="1" dirty="0">
                <a:latin typeface="Calibri"/>
                <a:cs typeface="Calibri"/>
              </a:rPr>
              <a:t>much</a:t>
            </a:r>
            <a:r>
              <a:rPr sz="2900" i="1" spc="-20" dirty="0">
                <a:latin typeface="Calibri"/>
                <a:cs typeface="Calibri"/>
              </a:rPr>
              <a:t> </a:t>
            </a:r>
            <a:r>
              <a:rPr sz="2900" spc="-5" dirty="0">
                <a:latin typeface="Calibri"/>
                <a:cs typeface="Calibri"/>
              </a:rPr>
              <a:t>less</a:t>
            </a:r>
            <a:r>
              <a:rPr sz="2900" dirty="0">
                <a:latin typeface="Calibri"/>
                <a:cs typeface="Calibri"/>
              </a:rPr>
              <a:t> frequently</a:t>
            </a:r>
            <a:r>
              <a:rPr sz="2900" i="1" dirty="0">
                <a:latin typeface="Calibri"/>
                <a:cs typeface="Calibri"/>
              </a:rPr>
              <a:t>.</a:t>
            </a:r>
            <a:endParaRPr sz="29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4448" y="500062"/>
            <a:ext cx="7961534" cy="605313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4461" y="499315"/>
            <a:ext cx="7959090" cy="6270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0" b="1" spc="-5" dirty="0">
                <a:solidFill>
                  <a:srgbClr val="548ED4"/>
                </a:solidFill>
                <a:latin typeface="Calibri"/>
                <a:cs typeface="Calibri"/>
              </a:rPr>
              <a:t>2-</a:t>
            </a:r>
            <a:r>
              <a:rPr sz="4000" b="1" spc="5" dirty="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548ED4"/>
                </a:solidFill>
                <a:latin typeface="Calibri"/>
                <a:cs typeface="Calibri"/>
              </a:rPr>
              <a:t>Esophageal</a:t>
            </a:r>
            <a:r>
              <a:rPr sz="4000" b="1" spc="50" dirty="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548ED4"/>
                </a:solidFill>
                <a:latin typeface="Calibri"/>
                <a:cs typeface="Calibri"/>
              </a:rPr>
              <a:t>atresia</a:t>
            </a:r>
            <a:r>
              <a:rPr sz="4000" b="1" spc="55" dirty="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sz="4000" b="1" spc="-5" dirty="0">
                <a:solidFill>
                  <a:srgbClr val="548ED4"/>
                </a:solidFill>
                <a:latin typeface="Calibri"/>
                <a:cs typeface="Calibri"/>
              </a:rPr>
              <a:t>and</a:t>
            </a:r>
            <a:r>
              <a:rPr sz="4000" b="1" spc="15" dirty="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548ED4"/>
                </a:solidFill>
                <a:latin typeface="Calibri"/>
                <a:cs typeface="Calibri"/>
              </a:rPr>
              <a:t>stenosis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524" y="1575892"/>
            <a:ext cx="8101330" cy="420433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356870" marR="5080" indent="-344805" algn="just">
              <a:lnSpc>
                <a:spcPct val="89500"/>
              </a:lnSpc>
              <a:spcBef>
                <a:spcPts val="47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900" dirty="0">
                <a:latin typeface="Times New Roman"/>
                <a:cs typeface="Times New Roman"/>
              </a:rPr>
              <a:t>Atresia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Times New Roman"/>
                <a:cs typeface="Times New Roman"/>
              </a:rPr>
              <a:t>of</a:t>
            </a:r>
            <a:r>
              <a:rPr sz="2900" spc="-40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Times New Roman"/>
                <a:cs typeface="Times New Roman"/>
              </a:rPr>
              <a:t>the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esophagus</a:t>
            </a:r>
            <a:r>
              <a:rPr sz="2900" spc="-80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Times New Roman"/>
                <a:cs typeface="Times New Roman"/>
              </a:rPr>
              <a:t>prevents</a:t>
            </a:r>
            <a:r>
              <a:rPr sz="2900" spc="-75" dirty="0">
                <a:latin typeface="Times New Roman"/>
                <a:cs typeface="Times New Roman"/>
              </a:rPr>
              <a:t> </a:t>
            </a:r>
            <a:r>
              <a:rPr sz="2900" spc="-5" dirty="0">
                <a:latin typeface="Times New Roman"/>
                <a:cs typeface="Times New Roman"/>
              </a:rPr>
              <a:t>normal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passage</a:t>
            </a:r>
            <a:r>
              <a:rPr sz="2900" spc="-50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Times New Roman"/>
                <a:cs typeface="Times New Roman"/>
              </a:rPr>
              <a:t>of </a:t>
            </a:r>
            <a:r>
              <a:rPr sz="2900" spc="-7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amniotic fluid </a:t>
            </a:r>
            <a:r>
              <a:rPr sz="2900" spc="5" dirty="0">
                <a:latin typeface="Times New Roman"/>
                <a:cs typeface="Times New Roman"/>
              </a:rPr>
              <a:t>into the </a:t>
            </a:r>
            <a:r>
              <a:rPr sz="2900" dirty="0">
                <a:latin typeface="Times New Roman"/>
                <a:cs typeface="Times New Roman"/>
              </a:rPr>
              <a:t>intestinal tract, resulting in </a:t>
            </a:r>
            <a:r>
              <a:rPr sz="2900" spc="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accumulation </a:t>
            </a:r>
            <a:r>
              <a:rPr sz="2900" spc="5" dirty="0">
                <a:latin typeface="Times New Roman"/>
                <a:cs typeface="Times New Roman"/>
              </a:rPr>
              <a:t>of excess </a:t>
            </a:r>
            <a:r>
              <a:rPr sz="2900" dirty="0">
                <a:latin typeface="Times New Roman"/>
                <a:cs typeface="Times New Roman"/>
              </a:rPr>
              <a:t>fluid in </a:t>
            </a:r>
            <a:r>
              <a:rPr sz="2900" spc="5" dirty="0">
                <a:latin typeface="Times New Roman"/>
                <a:cs typeface="Times New Roman"/>
              </a:rPr>
              <a:t>the </a:t>
            </a:r>
            <a:r>
              <a:rPr sz="2900" dirty="0">
                <a:latin typeface="Times New Roman"/>
                <a:cs typeface="Times New Roman"/>
              </a:rPr>
              <a:t>amniotic sac </a:t>
            </a:r>
            <a:r>
              <a:rPr sz="2900" spc="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(polyhydramnios).</a:t>
            </a:r>
            <a:endParaRPr sz="2900" dirty="0">
              <a:latin typeface="Times New Roman"/>
              <a:cs typeface="Times New Roman"/>
            </a:endParaRPr>
          </a:p>
          <a:p>
            <a:pPr marL="356870" marR="59055" indent="-344805" algn="just">
              <a:lnSpc>
                <a:spcPct val="89000"/>
              </a:lnSpc>
              <a:spcBef>
                <a:spcPts val="695"/>
              </a:spcBef>
              <a:buFont typeface="Arial MT"/>
              <a:buChar char="•"/>
              <a:tabLst>
                <a:tab pos="448309" algn="l"/>
                <a:tab pos="448945" algn="l"/>
              </a:tabLst>
            </a:pPr>
            <a:r>
              <a:rPr dirty="0"/>
              <a:t>	</a:t>
            </a:r>
            <a:r>
              <a:rPr sz="2900" dirty="0">
                <a:latin typeface="Times New Roman"/>
                <a:cs typeface="Times New Roman"/>
              </a:rPr>
              <a:t>In addition to atresias, </a:t>
            </a:r>
            <a:r>
              <a:rPr sz="2900" spc="5" dirty="0">
                <a:latin typeface="Times New Roman"/>
                <a:cs typeface="Times New Roman"/>
              </a:rPr>
              <a:t>the </a:t>
            </a:r>
            <a:r>
              <a:rPr sz="2900" spc="-5" dirty="0">
                <a:latin typeface="Times New Roman"/>
                <a:cs typeface="Times New Roman"/>
              </a:rPr>
              <a:t>lumen </a:t>
            </a:r>
            <a:r>
              <a:rPr sz="2900" spc="5" dirty="0">
                <a:latin typeface="Times New Roman"/>
                <a:cs typeface="Times New Roman"/>
              </a:rPr>
              <a:t>of the </a:t>
            </a:r>
            <a:r>
              <a:rPr sz="2900" dirty="0">
                <a:latin typeface="Times New Roman"/>
                <a:cs typeface="Times New Roman"/>
              </a:rPr>
              <a:t>esophagus </a:t>
            </a:r>
            <a:r>
              <a:rPr sz="2900" spc="5" dirty="0">
                <a:latin typeface="Times New Roman"/>
                <a:cs typeface="Times New Roman"/>
              </a:rPr>
              <a:t> </a:t>
            </a:r>
            <a:r>
              <a:rPr sz="2900" spc="-10" dirty="0">
                <a:latin typeface="Times New Roman"/>
                <a:cs typeface="Times New Roman"/>
              </a:rPr>
              <a:t>may</a:t>
            </a:r>
            <a:r>
              <a:rPr sz="2900" spc="20" dirty="0">
                <a:latin typeface="Times New Roman"/>
                <a:cs typeface="Times New Roman"/>
              </a:rPr>
              <a:t> </a:t>
            </a:r>
            <a:r>
              <a:rPr sz="2900" spc="-5" dirty="0">
                <a:latin typeface="Times New Roman"/>
                <a:cs typeface="Times New Roman"/>
              </a:rPr>
              <a:t>narrow, </a:t>
            </a:r>
            <a:r>
              <a:rPr sz="2900" dirty="0">
                <a:latin typeface="Times New Roman"/>
                <a:cs typeface="Times New Roman"/>
              </a:rPr>
              <a:t>producing</a:t>
            </a:r>
            <a:r>
              <a:rPr sz="2900" spc="-90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Times New Roman"/>
                <a:cs typeface="Times New Roman"/>
              </a:rPr>
              <a:t>esophageal</a:t>
            </a:r>
            <a:r>
              <a:rPr sz="2900" spc="-9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stenosis,</a:t>
            </a:r>
            <a:r>
              <a:rPr sz="2900" spc="-70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Times New Roman"/>
                <a:cs typeface="Times New Roman"/>
              </a:rPr>
              <a:t>usually </a:t>
            </a:r>
            <a:r>
              <a:rPr sz="2900" spc="-7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in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Times New Roman"/>
                <a:cs typeface="Times New Roman"/>
              </a:rPr>
              <a:t>the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lower</a:t>
            </a:r>
            <a:r>
              <a:rPr sz="2900" spc="-40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Times New Roman"/>
                <a:cs typeface="Times New Roman"/>
              </a:rPr>
              <a:t>third.</a:t>
            </a:r>
            <a:endParaRPr sz="2900" dirty="0">
              <a:latin typeface="Times New Roman"/>
              <a:cs typeface="Times New Roman"/>
            </a:endParaRPr>
          </a:p>
          <a:p>
            <a:pPr marL="356870" marR="214629" indent="-344805" algn="just">
              <a:lnSpc>
                <a:spcPct val="90100"/>
              </a:lnSpc>
              <a:spcBef>
                <a:spcPts val="68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900" dirty="0">
                <a:latin typeface="Times New Roman"/>
                <a:cs typeface="Times New Roman"/>
              </a:rPr>
              <a:t>Stenosis </a:t>
            </a:r>
            <a:r>
              <a:rPr sz="2900" spc="-10" dirty="0">
                <a:latin typeface="Times New Roman"/>
                <a:cs typeface="Times New Roman"/>
              </a:rPr>
              <a:t>may </a:t>
            </a:r>
            <a:r>
              <a:rPr sz="2900" dirty="0">
                <a:latin typeface="Times New Roman"/>
                <a:cs typeface="Times New Roman"/>
              </a:rPr>
              <a:t>be caused </a:t>
            </a:r>
            <a:r>
              <a:rPr sz="2900" spc="5" dirty="0">
                <a:latin typeface="Times New Roman"/>
                <a:cs typeface="Times New Roman"/>
              </a:rPr>
              <a:t>by </a:t>
            </a:r>
            <a:r>
              <a:rPr sz="2900" dirty="0">
                <a:latin typeface="Times New Roman"/>
                <a:cs typeface="Times New Roman"/>
              </a:rPr>
              <a:t>incomplete </a:t>
            </a:r>
            <a:r>
              <a:rPr sz="2900" spc="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recanalization,</a:t>
            </a:r>
            <a:r>
              <a:rPr sz="2900" spc="-80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Times New Roman"/>
                <a:cs typeface="Times New Roman"/>
              </a:rPr>
              <a:t>vascular</a:t>
            </a:r>
            <a:r>
              <a:rPr sz="2900" spc="-9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abnormalities,</a:t>
            </a:r>
            <a:r>
              <a:rPr sz="2900" spc="-80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Times New Roman"/>
                <a:cs typeface="Times New Roman"/>
              </a:rPr>
              <a:t>or</a:t>
            </a:r>
            <a:r>
              <a:rPr sz="2900" spc="-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accidents </a:t>
            </a:r>
            <a:r>
              <a:rPr sz="2900" spc="-710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Times New Roman"/>
                <a:cs typeface="Times New Roman"/>
              </a:rPr>
              <a:t>that</a:t>
            </a:r>
            <a:r>
              <a:rPr sz="2900" spc="-50" dirty="0">
                <a:latin typeface="Times New Roman"/>
                <a:cs typeface="Times New Roman"/>
              </a:rPr>
              <a:t> </a:t>
            </a:r>
            <a:r>
              <a:rPr sz="2900" spc="-5" dirty="0">
                <a:latin typeface="Times New Roman"/>
                <a:cs typeface="Times New Roman"/>
              </a:rPr>
              <a:t>compromise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Times New Roman"/>
                <a:cs typeface="Times New Roman"/>
              </a:rPr>
              <a:t>blood</a:t>
            </a:r>
            <a:r>
              <a:rPr sz="2900" spc="-7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flow.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453149"/>
            <a:ext cx="6810247" cy="71942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b="1" spc="-10" dirty="0">
                <a:solidFill>
                  <a:srgbClr val="548ED4"/>
                </a:solidFill>
                <a:latin typeface="Calibri"/>
                <a:cs typeface="Calibri"/>
              </a:rPr>
              <a:t>3-Congenital</a:t>
            </a:r>
            <a:r>
              <a:rPr b="1" spc="35" dirty="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548ED4"/>
                </a:solidFill>
                <a:latin typeface="Calibri"/>
                <a:cs typeface="Calibri"/>
              </a:rPr>
              <a:t>hiatus</a:t>
            </a:r>
            <a:r>
              <a:rPr b="1" spc="10" dirty="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b="1" spc="-5" dirty="0">
                <a:solidFill>
                  <a:srgbClr val="548ED4"/>
                </a:solidFill>
                <a:latin typeface="Calibri"/>
                <a:cs typeface="Calibri"/>
              </a:rPr>
              <a:t>hernia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524" y="1609420"/>
            <a:ext cx="8029575" cy="148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200" spc="-5" dirty="0">
                <a:latin typeface="Calibri"/>
                <a:cs typeface="Calibri"/>
              </a:rPr>
              <a:t>Occasionally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spc="-10" dirty="0">
                <a:latin typeface="Calibri"/>
                <a:cs typeface="Calibri"/>
              </a:rPr>
              <a:t>esophagus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fails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lengthen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sufficiently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and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spc="-10" dirty="0">
                <a:latin typeface="Calibri"/>
                <a:cs typeface="Calibri"/>
              </a:rPr>
              <a:t>stomach</a:t>
            </a:r>
            <a:r>
              <a:rPr sz="3200" spc="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5" dirty="0">
                <a:latin typeface="Calibri"/>
                <a:cs typeface="Calibri"/>
              </a:rPr>
              <a:t> pulled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up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into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esophageal</a:t>
            </a:r>
            <a:r>
              <a:rPr sz="3200" spc="4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hiatus</a:t>
            </a:r>
            <a:r>
              <a:rPr sz="3200" spc="-10" dirty="0">
                <a:latin typeface="Calibri"/>
                <a:cs typeface="Calibri"/>
              </a:rPr>
              <a:t> through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diaphragm.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6845" y="3361944"/>
            <a:ext cx="5782998" cy="307238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3000" y="289305"/>
            <a:ext cx="6009513" cy="541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350" spc="10" dirty="0">
                <a:solidFill>
                  <a:srgbClr val="548ED4"/>
                </a:solidFill>
              </a:rPr>
              <a:t>Development</a:t>
            </a:r>
            <a:r>
              <a:rPr sz="3350" spc="60" dirty="0">
                <a:solidFill>
                  <a:srgbClr val="548ED4"/>
                </a:solidFill>
              </a:rPr>
              <a:t> </a:t>
            </a:r>
            <a:r>
              <a:rPr sz="3350" spc="10" dirty="0">
                <a:solidFill>
                  <a:srgbClr val="548ED4"/>
                </a:solidFill>
              </a:rPr>
              <a:t>of</a:t>
            </a:r>
            <a:r>
              <a:rPr sz="3350" spc="-5" dirty="0">
                <a:solidFill>
                  <a:srgbClr val="548ED4"/>
                </a:solidFill>
              </a:rPr>
              <a:t> </a:t>
            </a:r>
            <a:r>
              <a:rPr sz="3350" spc="15" dirty="0">
                <a:solidFill>
                  <a:srgbClr val="548ED4"/>
                </a:solidFill>
              </a:rPr>
              <a:t>the</a:t>
            </a:r>
            <a:r>
              <a:rPr sz="3350" spc="5" dirty="0">
                <a:solidFill>
                  <a:srgbClr val="548ED4"/>
                </a:solidFill>
              </a:rPr>
              <a:t> </a:t>
            </a:r>
            <a:r>
              <a:rPr sz="3350" spc="15" dirty="0">
                <a:solidFill>
                  <a:srgbClr val="548ED4"/>
                </a:solidFill>
              </a:rPr>
              <a:t>Stomach</a:t>
            </a:r>
            <a:endParaRPr sz="3350" dirty="0"/>
          </a:p>
        </p:txBody>
      </p:sp>
      <p:sp>
        <p:nvSpPr>
          <p:cNvPr id="3" name="object 3"/>
          <p:cNvSpPr txBox="1"/>
          <p:nvPr/>
        </p:nvSpPr>
        <p:spPr>
          <a:xfrm>
            <a:off x="490524" y="2096001"/>
            <a:ext cx="6594475" cy="233172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200" spc="-5" dirty="0">
                <a:latin typeface="Calibri"/>
                <a:cs typeface="Calibri"/>
              </a:rPr>
              <a:t>This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will </a:t>
            </a:r>
            <a:r>
              <a:rPr sz="3200" spc="-5" dirty="0">
                <a:latin typeface="Calibri"/>
                <a:cs typeface="Calibri"/>
              </a:rPr>
              <a:t>be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considered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under</a:t>
            </a:r>
            <a:r>
              <a:rPr sz="3200" spc="7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3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aspects:</a:t>
            </a:r>
            <a:endParaRPr sz="3200">
              <a:latin typeface="Calibri"/>
              <a:cs typeface="Calibri"/>
            </a:endParaRPr>
          </a:p>
          <a:p>
            <a:pPr marL="214629" indent="-202565">
              <a:lnSpc>
                <a:spcPct val="100000"/>
              </a:lnSpc>
              <a:spcBef>
                <a:spcPts val="700"/>
              </a:spcBef>
              <a:buSzPct val="96875"/>
              <a:buChar char="•"/>
              <a:tabLst>
                <a:tab pos="215265" algn="l"/>
              </a:tabLst>
            </a:pPr>
            <a:r>
              <a:rPr sz="3200" spc="-10" dirty="0">
                <a:latin typeface="Calibri"/>
                <a:cs typeface="Calibri"/>
              </a:rPr>
              <a:t>Growth</a:t>
            </a:r>
            <a:endParaRPr sz="3200">
              <a:latin typeface="Calibri"/>
              <a:cs typeface="Calibri"/>
            </a:endParaRPr>
          </a:p>
          <a:p>
            <a:pPr marL="214629" indent="-202565">
              <a:lnSpc>
                <a:spcPct val="100000"/>
              </a:lnSpc>
              <a:spcBef>
                <a:spcPts val="695"/>
              </a:spcBef>
              <a:buSzPct val="96875"/>
              <a:buChar char="•"/>
              <a:tabLst>
                <a:tab pos="215265" algn="l"/>
              </a:tabLst>
            </a:pPr>
            <a:r>
              <a:rPr sz="3200" spc="-5" dirty="0">
                <a:latin typeface="Calibri"/>
                <a:cs typeface="Calibri"/>
              </a:rPr>
              <a:t>Histological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differentiation</a:t>
            </a:r>
            <a:endParaRPr sz="3200">
              <a:latin typeface="Calibri"/>
              <a:cs typeface="Calibri"/>
            </a:endParaRPr>
          </a:p>
          <a:p>
            <a:pPr marL="214629" indent="-202565">
              <a:lnSpc>
                <a:spcPct val="100000"/>
              </a:lnSpc>
              <a:spcBef>
                <a:spcPts val="700"/>
              </a:spcBef>
              <a:buSzPct val="96875"/>
              <a:buChar char="•"/>
              <a:tabLst>
                <a:tab pos="215265" algn="l"/>
              </a:tabLst>
            </a:pPr>
            <a:r>
              <a:rPr sz="3200" spc="-5" dirty="0">
                <a:latin typeface="Calibri"/>
                <a:cs typeface="Calibri"/>
              </a:rPr>
              <a:t>Position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adjustment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381000"/>
            <a:ext cx="6096000" cy="71942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5" dirty="0"/>
              <a:t>growth</a:t>
            </a:r>
            <a:r>
              <a:rPr spc="1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5" dirty="0"/>
              <a:t>the</a:t>
            </a:r>
            <a:r>
              <a:rPr spc="5" dirty="0"/>
              <a:t> </a:t>
            </a:r>
            <a:r>
              <a:rPr spc="-5" dirty="0"/>
              <a:t>stomach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524" y="1340942"/>
            <a:ext cx="3082925" cy="499808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53365" marR="279400" indent="-241300">
              <a:lnSpc>
                <a:spcPct val="101899"/>
              </a:lnSpc>
              <a:spcBef>
                <a:spcPts val="85"/>
              </a:spcBef>
              <a:buFont typeface="Arial MT"/>
              <a:buChar char="•"/>
              <a:tabLst>
                <a:tab pos="253365" algn="l"/>
                <a:tab pos="254000" algn="l"/>
              </a:tabLst>
            </a:pPr>
            <a:r>
              <a:rPr sz="2200" b="1" spc="10" dirty="0">
                <a:latin typeface="Calibri"/>
                <a:cs typeface="Calibri"/>
              </a:rPr>
              <a:t>4-8wk</a:t>
            </a:r>
            <a:r>
              <a:rPr sz="2200" b="1" spc="35" dirty="0">
                <a:latin typeface="Calibri"/>
                <a:cs typeface="Calibri"/>
              </a:rPr>
              <a:t> </a:t>
            </a:r>
            <a:r>
              <a:rPr sz="2200" spc="15" dirty="0">
                <a:latin typeface="Calibri"/>
                <a:cs typeface="Calibri"/>
              </a:rPr>
              <a:t>the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developing </a:t>
            </a:r>
            <a:r>
              <a:rPr sz="2200" spc="-480" dirty="0">
                <a:latin typeface="Calibri"/>
                <a:cs typeface="Calibri"/>
              </a:rPr>
              <a:t> </a:t>
            </a:r>
            <a:r>
              <a:rPr sz="2200" spc="10" dirty="0">
                <a:latin typeface="Calibri"/>
                <a:cs typeface="Calibri"/>
              </a:rPr>
              <a:t>stomach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spc="10" dirty="0">
                <a:latin typeface="Calibri"/>
                <a:cs typeface="Calibri"/>
              </a:rPr>
              <a:t>grows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in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all 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direction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spc="10" dirty="0">
                <a:latin typeface="Calibri"/>
                <a:cs typeface="Calibri"/>
              </a:rPr>
              <a:t>to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10" dirty="0">
                <a:latin typeface="Calibri"/>
                <a:cs typeface="Calibri"/>
              </a:rPr>
              <a:t>become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spc="15" dirty="0">
                <a:latin typeface="Calibri"/>
                <a:cs typeface="Calibri"/>
              </a:rPr>
              <a:t>a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10" dirty="0">
                <a:latin typeface="Calibri"/>
                <a:cs typeface="Calibri"/>
              </a:rPr>
              <a:t>sac </a:t>
            </a:r>
            <a:r>
              <a:rPr sz="2200" dirty="0">
                <a:latin typeface="Calibri"/>
                <a:cs typeface="Calibri"/>
              </a:rPr>
              <a:t>like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structure</a:t>
            </a:r>
            <a:endParaRPr sz="2200">
              <a:latin typeface="Calibri"/>
              <a:cs typeface="Calibri"/>
            </a:endParaRPr>
          </a:p>
          <a:p>
            <a:pPr marL="253365" marR="99060" indent="-241300">
              <a:lnSpc>
                <a:spcPct val="101899"/>
              </a:lnSpc>
              <a:spcBef>
                <a:spcPts val="500"/>
              </a:spcBef>
              <a:buFont typeface="Arial MT"/>
              <a:buChar char="•"/>
              <a:tabLst>
                <a:tab pos="253365" algn="l"/>
                <a:tab pos="254000" algn="l"/>
              </a:tabLst>
            </a:pPr>
            <a:r>
              <a:rPr sz="2200" b="1" spc="15" dirty="0">
                <a:latin typeface="Calibri"/>
                <a:cs typeface="Calibri"/>
              </a:rPr>
              <a:t>5 wk</a:t>
            </a:r>
            <a:r>
              <a:rPr sz="2200" b="1" spc="30" dirty="0">
                <a:latin typeface="Calibri"/>
                <a:cs typeface="Calibri"/>
              </a:rPr>
              <a:t> </a:t>
            </a:r>
            <a:r>
              <a:rPr sz="2200" spc="15" dirty="0">
                <a:latin typeface="Calibri"/>
                <a:cs typeface="Calibri"/>
              </a:rPr>
              <a:t>the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dorsal border </a:t>
            </a:r>
            <a:r>
              <a:rPr sz="2200" spc="10" dirty="0">
                <a:latin typeface="Calibri"/>
                <a:cs typeface="Calibri"/>
              </a:rPr>
              <a:t> grows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faster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15" dirty="0">
                <a:latin typeface="Calibri"/>
                <a:cs typeface="Calibri"/>
              </a:rPr>
              <a:t>than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10" dirty="0">
                <a:latin typeface="Calibri"/>
                <a:cs typeface="Calibri"/>
              </a:rPr>
              <a:t>the 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ventral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10" dirty="0">
                <a:latin typeface="Calibri"/>
                <a:cs typeface="Calibri"/>
              </a:rPr>
              <a:t>border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giving 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rise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spc="10" dirty="0">
                <a:latin typeface="Calibri"/>
                <a:cs typeface="Calibri"/>
              </a:rPr>
              <a:t>to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10" dirty="0">
                <a:latin typeface="Calibri"/>
                <a:cs typeface="Calibri"/>
              </a:rPr>
              <a:t>grater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15" dirty="0">
                <a:latin typeface="Calibri"/>
                <a:cs typeface="Calibri"/>
              </a:rPr>
              <a:t>and</a:t>
            </a:r>
            <a:r>
              <a:rPr sz="2200" dirty="0">
                <a:latin typeface="Calibri"/>
                <a:cs typeface="Calibri"/>
              </a:rPr>
              <a:t> lesser </a:t>
            </a:r>
            <a:r>
              <a:rPr sz="2200" spc="-480" dirty="0">
                <a:latin typeface="Calibri"/>
                <a:cs typeface="Calibri"/>
              </a:rPr>
              <a:t> </a:t>
            </a:r>
            <a:r>
              <a:rPr sz="2200" spc="10" dirty="0">
                <a:latin typeface="Calibri"/>
                <a:cs typeface="Calibri"/>
              </a:rPr>
              <a:t>curvature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respectively</a:t>
            </a:r>
            <a:endParaRPr sz="2200">
              <a:latin typeface="Calibri"/>
              <a:cs typeface="Calibri"/>
            </a:endParaRPr>
          </a:p>
          <a:p>
            <a:pPr marL="253365" marR="518795" indent="-241300">
              <a:lnSpc>
                <a:spcPct val="101899"/>
              </a:lnSpc>
              <a:spcBef>
                <a:spcPts val="505"/>
              </a:spcBef>
              <a:buFont typeface="Arial MT"/>
              <a:buChar char="•"/>
              <a:tabLst>
                <a:tab pos="253365" algn="l"/>
                <a:tab pos="254000" algn="l"/>
              </a:tabLst>
            </a:pPr>
            <a:r>
              <a:rPr sz="2200" b="1" spc="10" dirty="0">
                <a:latin typeface="Calibri"/>
                <a:cs typeface="Calibri"/>
              </a:rPr>
              <a:t>8wk</a:t>
            </a:r>
            <a:r>
              <a:rPr sz="2200" b="1" spc="30" dirty="0">
                <a:latin typeface="Calibri"/>
                <a:cs typeface="Calibri"/>
              </a:rPr>
              <a:t> </a:t>
            </a:r>
            <a:r>
              <a:rPr sz="2200" spc="10" dirty="0">
                <a:latin typeface="Calibri"/>
                <a:cs typeface="Calibri"/>
              </a:rPr>
              <a:t>the stomach 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acquires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its 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characteristic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10" dirty="0">
                <a:latin typeface="Calibri"/>
                <a:cs typeface="Calibri"/>
              </a:rPr>
              <a:t>shape</a:t>
            </a:r>
            <a:endParaRPr sz="2200">
              <a:latin typeface="Calibri"/>
              <a:cs typeface="Calibri"/>
            </a:endParaRPr>
          </a:p>
          <a:p>
            <a:pPr marL="253365" marR="5080" indent="-241300">
              <a:lnSpc>
                <a:spcPct val="101800"/>
              </a:lnSpc>
              <a:spcBef>
                <a:spcPts val="505"/>
              </a:spcBef>
              <a:buFont typeface="Arial MT"/>
              <a:buChar char="•"/>
              <a:tabLst>
                <a:tab pos="253365" algn="l"/>
                <a:tab pos="254000" algn="l"/>
              </a:tabLst>
            </a:pPr>
            <a:r>
              <a:rPr sz="2200" dirty="0">
                <a:latin typeface="Calibri"/>
                <a:cs typeface="Calibri"/>
              </a:rPr>
              <a:t>differential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spc="10" dirty="0">
                <a:latin typeface="Calibri"/>
                <a:cs typeface="Calibri"/>
              </a:rPr>
              <a:t>growth gives </a:t>
            </a:r>
            <a:r>
              <a:rPr sz="2200" spc="-480" dirty="0">
                <a:latin typeface="Calibri"/>
                <a:cs typeface="Calibri"/>
              </a:rPr>
              <a:t> </a:t>
            </a:r>
            <a:r>
              <a:rPr sz="2200" spc="10" dirty="0">
                <a:latin typeface="Calibri"/>
                <a:cs typeface="Calibri"/>
              </a:rPr>
              <a:t>shape to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10" dirty="0">
                <a:latin typeface="Calibri"/>
                <a:cs typeface="Calibri"/>
              </a:rPr>
              <a:t>the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10" dirty="0">
                <a:latin typeface="Calibri"/>
                <a:cs typeface="Calibri"/>
              </a:rPr>
              <a:t>stomach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79028" y="6428638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78787"/>
                </a:solidFill>
                <a:latin typeface="Calibri"/>
                <a:cs typeface="Calibri"/>
              </a:rPr>
              <a:t>23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60647" y="1624583"/>
            <a:ext cx="5434584" cy="466039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79028" y="6428638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78787"/>
                </a:solidFill>
                <a:latin typeface="Calibri"/>
                <a:cs typeface="Calibri"/>
              </a:rPr>
              <a:t>24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13688" y="1265244"/>
            <a:ext cx="1491615" cy="1354455"/>
            <a:chOff x="1313688" y="1265244"/>
            <a:chExt cx="1491615" cy="13544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8145" y="1265244"/>
              <a:ext cx="1357065" cy="135405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3688" y="1557477"/>
              <a:ext cx="1321053" cy="83647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493519" y="1286255"/>
            <a:ext cx="1271270" cy="1268095"/>
          </a:xfrm>
          <a:prstGeom prst="rect">
            <a:avLst/>
          </a:prstGeom>
          <a:solidFill>
            <a:srgbClr val="F79546"/>
          </a:solidFill>
          <a:ln w="24384">
            <a:solidFill>
              <a:srgbClr val="8B3938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2350">
              <a:latin typeface="Times New Roman"/>
              <a:cs typeface="Times New Roman"/>
            </a:endParaRPr>
          </a:p>
          <a:p>
            <a:pPr marL="1270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forgut</a:t>
            </a:r>
            <a:endParaRPr sz="1800">
              <a:latin typeface="Calibri"/>
              <a:cs typeface="Calibri"/>
            </a:endParaRPr>
          </a:p>
          <a:p>
            <a:pPr marL="127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endoderm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289114" y="1259460"/>
            <a:ext cx="1353820" cy="1362710"/>
            <a:chOff x="3289114" y="1259460"/>
            <a:chExt cx="1353820" cy="136271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89114" y="1259460"/>
              <a:ext cx="1353740" cy="136257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334512" y="1286256"/>
              <a:ext cx="1271270" cy="1268095"/>
            </a:xfrm>
            <a:custGeom>
              <a:avLst/>
              <a:gdLst/>
              <a:ahLst/>
              <a:cxnLst/>
              <a:rect l="l" t="t" r="r" b="b"/>
              <a:pathLst>
                <a:path w="1271270" h="1268095">
                  <a:moveTo>
                    <a:pt x="459486" y="0"/>
                  </a:moveTo>
                  <a:lnTo>
                    <a:pt x="459486" y="431165"/>
                  </a:lnTo>
                  <a:lnTo>
                    <a:pt x="0" y="431165"/>
                  </a:lnTo>
                  <a:lnTo>
                    <a:pt x="0" y="836803"/>
                  </a:lnTo>
                  <a:lnTo>
                    <a:pt x="459486" y="836803"/>
                  </a:lnTo>
                  <a:lnTo>
                    <a:pt x="459486" y="1267968"/>
                  </a:lnTo>
                  <a:lnTo>
                    <a:pt x="1271015" y="633984"/>
                  </a:lnTo>
                  <a:lnTo>
                    <a:pt x="459486" y="0"/>
                  </a:lnTo>
                  <a:close/>
                </a:path>
              </a:pathLst>
            </a:custGeom>
            <a:solidFill>
              <a:srgbClr val="F795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334512" y="1286256"/>
              <a:ext cx="1271270" cy="1268095"/>
            </a:xfrm>
            <a:custGeom>
              <a:avLst/>
              <a:gdLst/>
              <a:ahLst/>
              <a:cxnLst/>
              <a:rect l="l" t="t" r="r" b="b"/>
              <a:pathLst>
                <a:path w="1271270" h="1268095">
                  <a:moveTo>
                    <a:pt x="0" y="431165"/>
                  </a:moveTo>
                  <a:lnTo>
                    <a:pt x="459486" y="431165"/>
                  </a:lnTo>
                  <a:lnTo>
                    <a:pt x="459486" y="0"/>
                  </a:lnTo>
                  <a:lnTo>
                    <a:pt x="1271015" y="633984"/>
                  </a:lnTo>
                  <a:lnTo>
                    <a:pt x="459486" y="1267968"/>
                  </a:lnTo>
                  <a:lnTo>
                    <a:pt x="459486" y="836803"/>
                  </a:lnTo>
                  <a:lnTo>
                    <a:pt x="0" y="836803"/>
                  </a:lnTo>
                  <a:lnTo>
                    <a:pt x="0" y="431165"/>
                  </a:lnTo>
                  <a:close/>
                </a:path>
              </a:pathLst>
            </a:custGeom>
            <a:ln w="24384">
              <a:solidFill>
                <a:srgbClr val="8B39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4869484" y="1087987"/>
            <a:ext cx="2799080" cy="1725930"/>
            <a:chOff x="4876800" y="1079330"/>
            <a:chExt cx="2799080" cy="172593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11283" y="1079330"/>
              <a:ext cx="2664478" cy="172588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76800" y="1420304"/>
              <a:ext cx="1525397" cy="111080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056568" y="1100264"/>
              <a:ext cx="2578735" cy="1640205"/>
            </a:xfrm>
            <a:custGeom>
              <a:avLst/>
              <a:gdLst/>
              <a:ahLst/>
              <a:cxnLst/>
              <a:rect l="l" t="t" r="r" b="b"/>
              <a:pathLst>
                <a:path w="2578734" h="1640205">
                  <a:moveTo>
                    <a:pt x="1289303" y="0"/>
                  </a:moveTo>
                  <a:lnTo>
                    <a:pt x="1239826" y="600"/>
                  </a:lnTo>
                  <a:lnTo>
                    <a:pt x="1190407" y="2402"/>
                  </a:lnTo>
                  <a:lnTo>
                    <a:pt x="1141106" y="5404"/>
                  </a:lnTo>
                  <a:lnTo>
                    <a:pt x="1091981" y="9608"/>
                  </a:lnTo>
                  <a:lnTo>
                    <a:pt x="1043090" y="15013"/>
                  </a:lnTo>
                  <a:lnTo>
                    <a:pt x="994492" y="21619"/>
                  </a:lnTo>
                  <a:lnTo>
                    <a:pt x="946246" y="29427"/>
                  </a:lnTo>
                  <a:lnTo>
                    <a:pt x="898411" y="38435"/>
                  </a:lnTo>
                  <a:lnTo>
                    <a:pt x="851045" y="48644"/>
                  </a:lnTo>
                  <a:lnTo>
                    <a:pt x="804207" y="60055"/>
                  </a:lnTo>
                  <a:lnTo>
                    <a:pt x="757956" y="72666"/>
                  </a:lnTo>
                  <a:lnTo>
                    <a:pt x="712349" y="86479"/>
                  </a:lnTo>
                  <a:lnTo>
                    <a:pt x="667446" y="101493"/>
                  </a:lnTo>
                  <a:lnTo>
                    <a:pt x="623306" y="117708"/>
                  </a:lnTo>
                  <a:lnTo>
                    <a:pt x="579987" y="135124"/>
                  </a:lnTo>
                  <a:lnTo>
                    <a:pt x="537548" y="153741"/>
                  </a:lnTo>
                  <a:lnTo>
                    <a:pt x="496047" y="173559"/>
                  </a:lnTo>
                  <a:lnTo>
                    <a:pt x="455543" y="194578"/>
                  </a:lnTo>
                  <a:lnTo>
                    <a:pt x="416095" y="216799"/>
                  </a:lnTo>
                  <a:lnTo>
                    <a:pt x="377761" y="240220"/>
                  </a:lnTo>
                  <a:lnTo>
                    <a:pt x="334626" y="268976"/>
                  </a:lnTo>
                  <a:lnTo>
                    <a:pt x="294104" y="298705"/>
                  </a:lnTo>
                  <a:lnTo>
                    <a:pt x="256198" y="329345"/>
                  </a:lnTo>
                  <a:lnTo>
                    <a:pt x="220905" y="360835"/>
                  </a:lnTo>
                  <a:lnTo>
                    <a:pt x="188227" y="393115"/>
                  </a:lnTo>
                  <a:lnTo>
                    <a:pt x="158163" y="426125"/>
                  </a:lnTo>
                  <a:lnTo>
                    <a:pt x="130713" y="459802"/>
                  </a:lnTo>
                  <a:lnTo>
                    <a:pt x="105877" y="494087"/>
                  </a:lnTo>
                  <a:lnTo>
                    <a:pt x="83656" y="528919"/>
                  </a:lnTo>
                  <a:lnTo>
                    <a:pt x="64049" y="564236"/>
                  </a:lnTo>
                  <a:lnTo>
                    <a:pt x="47056" y="599979"/>
                  </a:lnTo>
                  <a:lnTo>
                    <a:pt x="32678" y="636086"/>
                  </a:lnTo>
                  <a:lnTo>
                    <a:pt x="20914" y="672497"/>
                  </a:lnTo>
                  <a:lnTo>
                    <a:pt x="5228" y="745985"/>
                  </a:lnTo>
                  <a:lnTo>
                    <a:pt x="0" y="819959"/>
                  </a:lnTo>
                  <a:lnTo>
                    <a:pt x="1307" y="856976"/>
                  </a:lnTo>
                  <a:lnTo>
                    <a:pt x="11764" y="930765"/>
                  </a:lnTo>
                  <a:lnTo>
                    <a:pt x="32678" y="1003824"/>
                  </a:lnTo>
                  <a:lnTo>
                    <a:pt x="47056" y="1039927"/>
                  </a:lnTo>
                  <a:lnTo>
                    <a:pt x="64049" y="1075666"/>
                  </a:lnTo>
                  <a:lnTo>
                    <a:pt x="83656" y="1110978"/>
                  </a:lnTo>
                  <a:lnTo>
                    <a:pt x="105877" y="1145804"/>
                  </a:lnTo>
                  <a:lnTo>
                    <a:pt x="130713" y="1180083"/>
                  </a:lnTo>
                  <a:lnTo>
                    <a:pt x="158163" y="1213754"/>
                  </a:lnTo>
                  <a:lnTo>
                    <a:pt x="188227" y="1246755"/>
                  </a:lnTo>
                  <a:lnTo>
                    <a:pt x="220905" y="1279027"/>
                  </a:lnTo>
                  <a:lnTo>
                    <a:pt x="256198" y="1310509"/>
                  </a:lnTo>
                  <a:lnTo>
                    <a:pt x="294104" y="1341139"/>
                  </a:lnTo>
                  <a:lnTo>
                    <a:pt x="334626" y="1370858"/>
                  </a:lnTo>
                  <a:lnTo>
                    <a:pt x="377761" y="1399603"/>
                  </a:lnTo>
                  <a:lnTo>
                    <a:pt x="416095" y="1423024"/>
                  </a:lnTo>
                  <a:lnTo>
                    <a:pt x="455543" y="1445245"/>
                  </a:lnTo>
                  <a:lnTo>
                    <a:pt x="496047" y="1466264"/>
                  </a:lnTo>
                  <a:lnTo>
                    <a:pt x="537548" y="1486082"/>
                  </a:lnTo>
                  <a:lnTo>
                    <a:pt x="579987" y="1504699"/>
                  </a:lnTo>
                  <a:lnTo>
                    <a:pt x="623306" y="1522115"/>
                  </a:lnTo>
                  <a:lnTo>
                    <a:pt x="667446" y="1538330"/>
                  </a:lnTo>
                  <a:lnTo>
                    <a:pt x="712349" y="1553344"/>
                  </a:lnTo>
                  <a:lnTo>
                    <a:pt x="757956" y="1567157"/>
                  </a:lnTo>
                  <a:lnTo>
                    <a:pt x="804207" y="1579768"/>
                  </a:lnTo>
                  <a:lnTo>
                    <a:pt x="851045" y="1591179"/>
                  </a:lnTo>
                  <a:lnTo>
                    <a:pt x="898411" y="1601388"/>
                  </a:lnTo>
                  <a:lnTo>
                    <a:pt x="946246" y="1610396"/>
                  </a:lnTo>
                  <a:lnTo>
                    <a:pt x="994492" y="1618204"/>
                  </a:lnTo>
                  <a:lnTo>
                    <a:pt x="1043090" y="1624810"/>
                  </a:lnTo>
                  <a:lnTo>
                    <a:pt x="1091981" y="1630215"/>
                  </a:lnTo>
                  <a:lnTo>
                    <a:pt x="1141106" y="1634419"/>
                  </a:lnTo>
                  <a:lnTo>
                    <a:pt x="1190407" y="1637421"/>
                  </a:lnTo>
                  <a:lnTo>
                    <a:pt x="1239826" y="1639223"/>
                  </a:lnTo>
                  <a:lnTo>
                    <a:pt x="1289304" y="1639824"/>
                  </a:lnTo>
                  <a:lnTo>
                    <a:pt x="1338781" y="1639223"/>
                  </a:lnTo>
                  <a:lnTo>
                    <a:pt x="1388200" y="1637421"/>
                  </a:lnTo>
                  <a:lnTo>
                    <a:pt x="1437501" y="1634419"/>
                  </a:lnTo>
                  <a:lnTo>
                    <a:pt x="1486626" y="1630215"/>
                  </a:lnTo>
                  <a:lnTo>
                    <a:pt x="1535517" y="1624810"/>
                  </a:lnTo>
                  <a:lnTo>
                    <a:pt x="1584115" y="1618204"/>
                  </a:lnTo>
                  <a:lnTo>
                    <a:pt x="1632361" y="1610396"/>
                  </a:lnTo>
                  <a:lnTo>
                    <a:pt x="1680196" y="1601388"/>
                  </a:lnTo>
                  <a:lnTo>
                    <a:pt x="1727562" y="1591179"/>
                  </a:lnTo>
                  <a:lnTo>
                    <a:pt x="1774400" y="1579768"/>
                  </a:lnTo>
                  <a:lnTo>
                    <a:pt x="1820651" y="1567157"/>
                  </a:lnTo>
                  <a:lnTo>
                    <a:pt x="1866258" y="1553344"/>
                  </a:lnTo>
                  <a:lnTo>
                    <a:pt x="1911161" y="1538330"/>
                  </a:lnTo>
                  <a:lnTo>
                    <a:pt x="1955301" y="1522115"/>
                  </a:lnTo>
                  <a:lnTo>
                    <a:pt x="1998620" y="1504699"/>
                  </a:lnTo>
                  <a:lnTo>
                    <a:pt x="2041059" y="1486082"/>
                  </a:lnTo>
                  <a:lnTo>
                    <a:pt x="2082560" y="1466264"/>
                  </a:lnTo>
                  <a:lnTo>
                    <a:pt x="2123064" y="1445245"/>
                  </a:lnTo>
                  <a:lnTo>
                    <a:pt x="2162512" y="1423024"/>
                  </a:lnTo>
                  <a:lnTo>
                    <a:pt x="2200846" y="1399603"/>
                  </a:lnTo>
                  <a:lnTo>
                    <a:pt x="2243971" y="1370858"/>
                  </a:lnTo>
                  <a:lnTo>
                    <a:pt x="2284481" y="1341139"/>
                  </a:lnTo>
                  <a:lnTo>
                    <a:pt x="2322379" y="1310509"/>
                  </a:lnTo>
                  <a:lnTo>
                    <a:pt x="2357662" y="1279027"/>
                  </a:lnTo>
                  <a:lnTo>
                    <a:pt x="2390333" y="1246755"/>
                  </a:lnTo>
                  <a:lnTo>
                    <a:pt x="2420389" y="1213754"/>
                  </a:lnTo>
                  <a:lnTo>
                    <a:pt x="2447832" y="1180083"/>
                  </a:lnTo>
                  <a:lnTo>
                    <a:pt x="2472661" y="1145804"/>
                  </a:lnTo>
                  <a:lnTo>
                    <a:pt x="2494877" y="1110978"/>
                  </a:lnTo>
                  <a:lnTo>
                    <a:pt x="2514479" y="1075666"/>
                  </a:lnTo>
                  <a:lnTo>
                    <a:pt x="2531467" y="1039927"/>
                  </a:lnTo>
                  <a:lnTo>
                    <a:pt x="2545842" y="1003824"/>
                  </a:lnTo>
                  <a:lnTo>
                    <a:pt x="2557603" y="967416"/>
                  </a:lnTo>
                  <a:lnTo>
                    <a:pt x="2573285" y="893932"/>
                  </a:lnTo>
                  <a:lnTo>
                    <a:pt x="2578512" y="819959"/>
                  </a:lnTo>
                  <a:lnTo>
                    <a:pt x="2577205" y="782942"/>
                  </a:lnTo>
                  <a:lnTo>
                    <a:pt x="2566751" y="709150"/>
                  </a:lnTo>
                  <a:lnTo>
                    <a:pt x="2545842" y="636086"/>
                  </a:lnTo>
                  <a:lnTo>
                    <a:pt x="2531467" y="599979"/>
                  </a:lnTo>
                  <a:lnTo>
                    <a:pt x="2514479" y="564236"/>
                  </a:lnTo>
                  <a:lnTo>
                    <a:pt x="2494877" y="528919"/>
                  </a:lnTo>
                  <a:lnTo>
                    <a:pt x="2472661" y="494087"/>
                  </a:lnTo>
                  <a:lnTo>
                    <a:pt x="2447832" y="459802"/>
                  </a:lnTo>
                  <a:lnTo>
                    <a:pt x="2420389" y="426125"/>
                  </a:lnTo>
                  <a:lnTo>
                    <a:pt x="2390333" y="393115"/>
                  </a:lnTo>
                  <a:lnTo>
                    <a:pt x="2357662" y="360835"/>
                  </a:lnTo>
                  <a:lnTo>
                    <a:pt x="2322379" y="329345"/>
                  </a:lnTo>
                  <a:lnTo>
                    <a:pt x="2284481" y="298705"/>
                  </a:lnTo>
                  <a:lnTo>
                    <a:pt x="2243971" y="268976"/>
                  </a:lnTo>
                  <a:lnTo>
                    <a:pt x="2200846" y="240220"/>
                  </a:lnTo>
                  <a:lnTo>
                    <a:pt x="2162512" y="216799"/>
                  </a:lnTo>
                  <a:lnTo>
                    <a:pt x="2123064" y="194578"/>
                  </a:lnTo>
                  <a:lnTo>
                    <a:pt x="2082560" y="173559"/>
                  </a:lnTo>
                  <a:lnTo>
                    <a:pt x="2041059" y="153741"/>
                  </a:lnTo>
                  <a:lnTo>
                    <a:pt x="1998620" y="135124"/>
                  </a:lnTo>
                  <a:lnTo>
                    <a:pt x="1955301" y="117708"/>
                  </a:lnTo>
                  <a:lnTo>
                    <a:pt x="1911161" y="101493"/>
                  </a:lnTo>
                  <a:lnTo>
                    <a:pt x="1866258" y="86479"/>
                  </a:lnTo>
                  <a:lnTo>
                    <a:pt x="1820651" y="72666"/>
                  </a:lnTo>
                  <a:lnTo>
                    <a:pt x="1774400" y="60055"/>
                  </a:lnTo>
                  <a:lnTo>
                    <a:pt x="1727562" y="48644"/>
                  </a:lnTo>
                  <a:lnTo>
                    <a:pt x="1680196" y="38435"/>
                  </a:lnTo>
                  <a:lnTo>
                    <a:pt x="1632361" y="29427"/>
                  </a:lnTo>
                  <a:lnTo>
                    <a:pt x="1584115" y="21619"/>
                  </a:lnTo>
                  <a:lnTo>
                    <a:pt x="1535517" y="15013"/>
                  </a:lnTo>
                  <a:lnTo>
                    <a:pt x="1486626" y="9608"/>
                  </a:lnTo>
                  <a:lnTo>
                    <a:pt x="1437501" y="5404"/>
                  </a:lnTo>
                  <a:lnTo>
                    <a:pt x="1388200" y="2402"/>
                  </a:lnTo>
                  <a:lnTo>
                    <a:pt x="1338781" y="600"/>
                  </a:lnTo>
                  <a:lnTo>
                    <a:pt x="1289303" y="0"/>
                  </a:lnTo>
                  <a:close/>
                </a:path>
              </a:pathLst>
            </a:custGeom>
            <a:solidFill>
              <a:srgbClr val="F795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056568" y="1100264"/>
              <a:ext cx="2578735" cy="1640205"/>
            </a:xfrm>
            <a:custGeom>
              <a:avLst/>
              <a:gdLst/>
              <a:ahLst/>
              <a:cxnLst/>
              <a:rect l="l" t="t" r="r" b="b"/>
              <a:pathLst>
                <a:path w="2578734" h="1640205">
                  <a:moveTo>
                    <a:pt x="2200846" y="240220"/>
                  </a:moveTo>
                  <a:lnTo>
                    <a:pt x="2243971" y="268976"/>
                  </a:lnTo>
                  <a:lnTo>
                    <a:pt x="2284481" y="298705"/>
                  </a:lnTo>
                  <a:lnTo>
                    <a:pt x="2322379" y="329345"/>
                  </a:lnTo>
                  <a:lnTo>
                    <a:pt x="2357662" y="360835"/>
                  </a:lnTo>
                  <a:lnTo>
                    <a:pt x="2390333" y="393115"/>
                  </a:lnTo>
                  <a:lnTo>
                    <a:pt x="2420389" y="426125"/>
                  </a:lnTo>
                  <a:lnTo>
                    <a:pt x="2447832" y="459802"/>
                  </a:lnTo>
                  <a:lnTo>
                    <a:pt x="2472661" y="494087"/>
                  </a:lnTo>
                  <a:lnTo>
                    <a:pt x="2494877" y="528919"/>
                  </a:lnTo>
                  <a:lnTo>
                    <a:pt x="2514479" y="564236"/>
                  </a:lnTo>
                  <a:lnTo>
                    <a:pt x="2531467" y="599979"/>
                  </a:lnTo>
                  <a:lnTo>
                    <a:pt x="2545842" y="636086"/>
                  </a:lnTo>
                  <a:lnTo>
                    <a:pt x="2557603" y="672497"/>
                  </a:lnTo>
                  <a:lnTo>
                    <a:pt x="2573285" y="745985"/>
                  </a:lnTo>
                  <a:lnTo>
                    <a:pt x="2578512" y="819959"/>
                  </a:lnTo>
                  <a:lnTo>
                    <a:pt x="2577205" y="856976"/>
                  </a:lnTo>
                  <a:lnTo>
                    <a:pt x="2566751" y="930765"/>
                  </a:lnTo>
                  <a:lnTo>
                    <a:pt x="2545842" y="1003824"/>
                  </a:lnTo>
                  <a:lnTo>
                    <a:pt x="2531467" y="1039927"/>
                  </a:lnTo>
                  <a:lnTo>
                    <a:pt x="2514479" y="1075666"/>
                  </a:lnTo>
                  <a:lnTo>
                    <a:pt x="2494877" y="1110978"/>
                  </a:lnTo>
                  <a:lnTo>
                    <a:pt x="2472661" y="1145804"/>
                  </a:lnTo>
                  <a:lnTo>
                    <a:pt x="2447832" y="1180083"/>
                  </a:lnTo>
                  <a:lnTo>
                    <a:pt x="2420389" y="1213754"/>
                  </a:lnTo>
                  <a:lnTo>
                    <a:pt x="2390333" y="1246755"/>
                  </a:lnTo>
                  <a:lnTo>
                    <a:pt x="2357662" y="1279027"/>
                  </a:lnTo>
                  <a:lnTo>
                    <a:pt x="2322379" y="1310509"/>
                  </a:lnTo>
                  <a:lnTo>
                    <a:pt x="2284481" y="1341139"/>
                  </a:lnTo>
                  <a:lnTo>
                    <a:pt x="2243971" y="1370858"/>
                  </a:lnTo>
                  <a:lnTo>
                    <a:pt x="2200846" y="1399603"/>
                  </a:lnTo>
                  <a:lnTo>
                    <a:pt x="2162512" y="1423024"/>
                  </a:lnTo>
                  <a:lnTo>
                    <a:pt x="2123064" y="1445245"/>
                  </a:lnTo>
                  <a:lnTo>
                    <a:pt x="2082560" y="1466264"/>
                  </a:lnTo>
                  <a:lnTo>
                    <a:pt x="2041059" y="1486082"/>
                  </a:lnTo>
                  <a:lnTo>
                    <a:pt x="1998620" y="1504699"/>
                  </a:lnTo>
                  <a:lnTo>
                    <a:pt x="1955301" y="1522115"/>
                  </a:lnTo>
                  <a:lnTo>
                    <a:pt x="1911161" y="1538330"/>
                  </a:lnTo>
                  <a:lnTo>
                    <a:pt x="1866258" y="1553344"/>
                  </a:lnTo>
                  <a:lnTo>
                    <a:pt x="1820651" y="1567157"/>
                  </a:lnTo>
                  <a:lnTo>
                    <a:pt x="1774400" y="1579768"/>
                  </a:lnTo>
                  <a:lnTo>
                    <a:pt x="1727562" y="1591179"/>
                  </a:lnTo>
                  <a:lnTo>
                    <a:pt x="1680196" y="1601388"/>
                  </a:lnTo>
                  <a:lnTo>
                    <a:pt x="1632361" y="1610396"/>
                  </a:lnTo>
                  <a:lnTo>
                    <a:pt x="1584115" y="1618204"/>
                  </a:lnTo>
                  <a:lnTo>
                    <a:pt x="1535517" y="1624810"/>
                  </a:lnTo>
                  <a:lnTo>
                    <a:pt x="1486626" y="1630215"/>
                  </a:lnTo>
                  <a:lnTo>
                    <a:pt x="1437501" y="1634419"/>
                  </a:lnTo>
                  <a:lnTo>
                    <a:pt x="1388200" y="1637421"/>
                  </a:lnTo>
                  <a:lnTo>
                    <a:pt x="1338781" y="1639223"/>
                  </a:lnTo>
                  <a:lnTo>
                    <a:pt x="1289304" y="1639824"/>
                  </a:lnTo>
                  <a:lnTo>
                    <a:pt x="1239826" y="1639223"/>
                  </a:lnTo>
                  <a:lnTo>
                    <a:pt x="1190407" y="1637421"/>
                  </a:lnTo>
                  <a:lnTo>
                    <a:pt x="1141106" y="1634419"/>
                  </a:lnTo>
                  <a:lnTo>
                    <a:pt x="1091981" y="1630215"/>
                  </a:lnTo>
                  <a:lnTo>
                    <a:pt x="1043090" y="1624810"/>
                  </a:lnTo>
                  <a:lnTo>
                    <a:pt x="994492" y="1618204"/>
                  </a:lnTo>
                  <a:lnTo>
                    <a:pt x="946246" y="1610396"/>
                  </a:lnTo>
                  <a:lnTo>
                    <a:pt x="898411" y="1601388"/>
                  </a:lnTo>
                  <a:lnTo>
                    <a:pt x="851045" y="1591179"/>
                  </a:lnTo>
                  <a:lnTo>
                    <a:pt x="804207" y="1579768"/>
                  </a:lnTo>
                  <a:lnTo>
                    <a:pt x="757956" y="1567157"/>
                  </a:lnTo>
                  <a:lnTo>
                    <a:pt x="712349" y="1553344"/>
                  </a:lnTo>
                  <a:lnTo>
                    <a:pt x="667446" y="1538330"/>
                  </a:lnTo>
                  <a:lnTo>
                    <a:pt x="623306" y="1522115"/>
                  </a:lnTo>
                  <a:lnTo>
                    <a:pt x="579987" y="1504699"/>
                  </a:lnTo>
                  <a:lnTo>
                    <a:pt x="537548" y="1486082"/>
                  </a:lnTo>
                  <a:lnTo>
                    <a:pt x="496047" y="1466264"/>
                  </a:lnTo>
                  <a:lnTo>
                    <a:pt x="455543" y="1445245"/>
                  </a:lnTo>
                  <a:lnTo>
                    <a:pt x="416095" y="1423024"/>
                  </a:lnTo>
                  <a:lnTo>
                    <a:pt x="377761" y="1399603"/>
                  </a:lnTo>
                  <a:lnTo>
                    <a:pt x="334626" y="1370858"/>
                  </a:lnTo>
                  <a:lnTo>
                    <a:pt x="294104" y="1341139"/>
                  </a:lnTo>
                  <a:lnTo>
                    <a:pt x="256198" y="1310509"/>
                  </a:lnTo>
                  <a:lnTo>
                    <a:pt x="220905" y="1279027"/>
                  </a:lnTo>
                  <a:lnTo>
                    <a:pt x="188227" y="1246755"/>
                  </a:lnTo>
                  <a:lnTo>
                    <a:pt x="158163" y="1213754"/>
                  </a:lnTo>
                  <a:lnTo>
                    <a:pt x="130713" y="1180083"/>
                  </a:lnTo>
                  <a:lnTo>
                    <a:pt x="105877" y="1145804"/>
                  </a:lnTo>
                  <a:lnTo>
                    <a:pt x="83656" y="1110978"/>
                  </a:lnTo>
                  <a:lnTo>
                    <a:pt x="64049" y="1075666"/>
                  </a:lnTo>
                  <a:lnTo>
                    <a:pt x="47056" y="1039927"/>
                  </a:lnTo>
                  <a:lnTo>
                    <a:pt x="32678" y="1003824"/>
                  </a:lnTo>
                  <a:lnTo>
                    <a:pt x="20914" y="967416"/>
                  </a:lnTo>
                  <a:lnTo>
                    <a:pt x="5228" y="893932"/>
                  </a:lnTo>
                  <a:lnTo>
                    <a:pt x="0" y="819959"/>
                  </a:lnTo>
                  <a:lnTo>
                    <a:pt x="1307" y="782942"/>
                  </a:lnTo>
                  <a:lnTo>
                    <a:pt x="11764" y="709150"/>
                  </a:lnTo>
                  <a:lnTo>
                    <a:pt x="32678" y="636086"/>
                  </a:lnTo>
                  <a:lnTo>
                    <a:pt x="47056" y="599979"/>
                  </a:lnTo>
                  <a:lnTo>
                    <a:pt x="64049" y="564236"/>
                  </a:lnTo>
                  <a:lnTo>
                    <a:pt x="83656" y="528919"/>
                  </a:lnTo>
                  <a:lnTo>
                    <a:pt x="105877" y="494087"/>
                  </a:lnTo>
                  <a:lnTo>
                    <a:pt x="130713" y="459802"/>
                  </a:lnTo>
                  <a:lnTo>
                    <a:pt x="158163" y="426125"/>
                  </a:lnTo>
                  <a:lnTo>
                    <a:pt x="188227" y="393115"/>
                  </a:lnTo>
                  <a:lnTo>
                    <a:pt x="220905" y="360835"/>
                  </a:lnTo>
                  <a:lnTo>
                    <a:pt x="256198" y="329345"/>
                  </a:lnTo>
                  <a:lnTo>
                    <a:pt x="294104" y="298705"/>
                  </a:lnTo>
                  <a:lnTo>
                    <a:pt x="334626" y="268976"/>
                  </a:lnTo>
                  <a:lnTo>
                    <a:pt x="377761" y="240220"/>
                  </a:lnTo>
                  <a:lnTo>
                    <a:pt x="416095" y="216799"/>
                  </a:lnTo>
                  <a:lnTo>
                    <a:pt x="455543" y="194578"/>
                  </a:lnTo>
                  <a:lnTo>
                    <a:pt x="496047" y="173559"/>
                  </a:lnTo>
                  <a:lnTo>
                    <a:pt x="537548" y="153741"/>
                  </a:lnTo>
                  <a:lnTo>
                    <a:pt x="579987" y="135124"/>
                  </a:lnTo>
                  <a:lnTo>
                    <a:pt x="623306" y="117708"/>
                  </a:lnTo>
                  <a:lnTo>
                    <a:pt x="667446" y="101493"/>
                  </a:lnTo>
                  <a:lnTo>
                    <a:pt x="712349" y="86479"/>
                  </a:lnTo>
                  <a:lnTo>
                    <a:pt x="757956" y="72666"/>
                  </a:lnTo>
                  <a:lnTo>
                    <a:pt x="804207" y="60055"/>
                  </a:lnTo>
                  <a:lnTo>
                    <a:pt x="851045" y="48644"/>
                  </a:lnTo>
                  <a:lnTo>
                    <a:pt x="898411" y="38435"/>
                  </a:lnTo>
                  <a:lnTo>
                    <a:pt x="946246" y="29427"/>
                  </a:lnTo>
                  <a:lnTo>
                    <a:pt x="994492" y="21619"/>
                  </a:lnTo>
                  <a:lnTo>
                    <a:pt x="1043090" y="15013"/>
                  </a:lnTo>
                  <a:lnTo>
                    <a:pt x="1091981" y="9608"/>
                  </a:lnTo>
                  <a:lnTo>
                    <a:pt x="1141106" y="5404"/>
                  </a:lnTo>
                  <a:lnTo>
                    <a:pt x="1190407" y="2402"/>
                  </a:lnTo>
                  <a:lnTo>
                    <a:pt x="1239826" y="600"/>
                  </a:lnTo>
                  <a:lnTo>
                    <a:pt x="1289303" y="0"/>
                  </a:lnTo>
                  <a:lnTo>
                    <a:pt x="1338781" y="600"/>
                  </a:lnTo>
                  <a:lnTo>
                    <a:pt x="1388200" y="2402"/>
                  </a:lnTo>
                  <a:lnTo>
                    <a:pt x="1437501" y="5404"/>
                  </a:lnTo>
                  <a:lnTo>
                    <a:pt x="1486626" y="9608"/>
                  </a:lnTo>
                  <a:lnTo>
                    <a:pt x="1535517" y="15013"/>
                  </a:lnTo>
                  <a:lnTo>
                    <a:pt x="1584115" y="21619"/>
                  </a:lnTo>
                  <a:lnTo>
                    <a:pt x="1632361" y="29427"/>
                  </a:lnTo>
                  <a:lnTo>
                    <a:pt x="1680196" y="38435"/>
                  </a:lnTo>
                  <a:lnTo>
                    <a:pt x="1727562" y="48644"/>
                  </a:lnTo>
                  <a:lnTo>
                    <a:pt x="1774400" y="60055"/>
                  </a:lnTo>
                  <a:lnTo>
                    <a:pt x="1820651" y="72666"/>
                  </a:lnTo>
                  <a:lnTo>
                    <a:pt x="1866258" y="86479"/>
                  </a:lnTo>
                  <a:lnTo>
                    <a:pt x="1911161" y="101493"/>
                  </a:lnTo>
                  <a:lnTo>
                    <a:pt x="1955301" y="117708"/>
                  </a:lnTo>
                  <a:lnTo>
                    <a:pt x="1998620" y="135124"/>
                  </a:lnTo>
                  <a:lnTo>
                    <a:pt x="2041059" y="153741"/>
                  </a:lnTo>
                  <a:lnTo>
                    <a:pt x="2082560" y="173559"/>
                  </a:lnTo>
                  <a:lnTo>
                    <a:pt x="2123064" y="194578"/>
                  </a:lnTo>
                  <a:lnTo>
                    <a:pt x="2162512" y="216799"/>
                  </a:lnTo>
                  <a:lnTo>
                    <a:pt x="2200846" y="240220"/>
                  </a:lnTo>
                  <a:close/>
                </a:path>
              </a:pathLst>
            </a:custGeom>
            <a:ln w="24383">
              <a:solidFill>
                <a:srgbClr val="8B39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5710275" y="1397339"/>
            <a:ext cx="119761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</a:rPr>
              <a:t>epithelium </a:t>
            </a:r>
            <a:r>
              <a:rPr sz="1800" spc="-5" dirty="0">
                <a:solidFill>
                  <a:srgbClr val="FFFFFF"/>
                </a:solidFill>
              </a:rPr>
              <a:t> gastric</a:t>
            </a:r>
            <a:r>
              <a:rPr sz="1800" spc="5" dirty="0">
                <a:solidFill>
                  <a:srgbClr val="FFFFFF"/>
                </a:solidFill>
              </a:rPr>
              <a:t> </a:t>
            </a:r>
            <a:r>
              <a:rPr sz="1800" spc="-10" dirty="0">
                <a:solidFill>
                  <a:srgbClr val="FFFFFF"/>
                </a:solidFill>
              </a:rPr>
              <a:t>pit </a:t>
            </a:r>
            <a:r>
              <a:rPr sz="1800" spc="-5" dirty="0">
                <a:solidFill>
                  <a:srgbClr val="FFFFFF"/>
                </a:solidFill>
              </a:rPr>
              <a:t> gastric</a:t>
            </a:r>
            <a:r>
              <a:rPr sz="1800" spc="-70" dirty="0">
                <a:solidFill>
                  <a:srgbClr val="FFFFFF"/>
                </a:solidFill>
              </a:rPr>
              <a:t> </a:t>
            </a:r>
            <a:r>
              <a:rPr sz="1800" spc="-5" dirty="0">
                <a:solidFill>
                  <a:srgbClr val="FFFFFF"/>
                </a:solidFill>
              </a:rPr>
              <a:t>gland</a:t>
            </a:r>
            <a:endParaRPr sz="1800" dirty="0"/>
          </a:p>
        </p:txBody>
      </p:sp>
      <p:grpSp>
        <p:nvGrpSpPr>
          <p:cNvPr id="17" name="object 17"/>
          <p:cNvGrpSpPr/>
          <p:nvPr/>
        </p:nvGrpSpPr>
        <p:grpSpPr>
          <a:xfrm>
            <a:off x="1313688" y="2956931"/>
            <a:ext cx="1485900" cy="1341755"/>
            <a:chOff x="1313688" y="2956931"/>
            <a:chExt cx="1485900" cy="1341755"/>
          </a:xfrm>
        </p:grpSpPr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57315" y="2956931"/>
              <a:ext cx="1341647" cy="134164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13688" y="3243008"/>
              <a:ext cx="1388110" cy="833437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495044" y="2970276"/>
            <a:ext cx="1271270" cy="1271270"/>
          </a:xfrm>
          <a:prstGeom prst="rect">
            <a:avLst/>
          </a:prstGeom>
          <a:solidFill>
            <a:srgbClr val="C0504D"/>
          </a:solidFill>
          <a:ln w="9144">
            <a:solidFill>
              <a:srgbClr val="46AAC4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splanchnic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mesoderm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298307" y="2965704"/>
            <a:ext cx="1332230" cy="1326515"/>
            <a:chOff x="3298307" y="2965704"/>
            <a:chExt cx="1332230" cy="1326515"/>
          </a:xfrm>
        </p:grpSpPr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98307" y="2969858"/>
              <a:ext cx="1332132" cy="132225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336035" y="2970276"/>
              <a:ext cx="1268095" cy="1271270"/>
            </a:xfrm>
            <a:custGeom>
              <a:avLst/>
              <a:gdLst/>
              <a:ahLst/>
              <a:cxnLst/>
              <a:rect l="l" t="t" r="r" b="b"/>
              <a:pathLst>
                <a:path w="1268095" h="1271270">
                  <a:moveTo>
                    <a:pt x="456438" y="0"/>
                  </a:moveTo>
                  <a:lnTo>
                    <a:pt x="456438" y="432181"/>
                  </a:lnTo>
                  <a:lnTo>
                    <a:pt x="0" y="432181"/>
                  </a:lnTo>
                  <a:lnTo>
                    <a:pt x="0" y="838835"/>
                  </a:lnTo>
                  <a:lnTo>
                    <a:pt x="456438" y="838835"/>
                  </a:lnTo>
                  <a:lnTo>
                    <a:pt x="456438" y="1271016"/>
                  </a:lnTo>
                  <a:lnTo>
                    <a:pt x="1267967" y="635508"/>
                  </a:lnTo>
                  <a:lnTo>
                    <a:pt x="456438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336035" y="2970276"/>
              <a:ext cx="1268095" cy="1271270"/>
            </a:xfrm>
            <a:custGeom>
              <a:avLst/>
              <a:gdLst/>
              <a:ahLst/>
              <a:cxnLst/>
              <a:rect l="l" t="t" r="r" b="b"/>
              <a:pathLst>
                <a:path w="1268095" h="1271270">
                  <a:moveTo>
                    <a:pt x="0" y="432181"/>
                  </a:moveTo>
                  <a:lnTo>
                    <a:pt x="456438" y="432181"/>
                  </a:lnTo>
                  <a:lnTo>
                    <a:pt x="456438" y="0"/>
                  </a:lnTo>
                  <a:lnTo>
                    <a:pt x="1267967" y="635508"/>
                  </a:lnTo>
                  <a:lnTo>
                    <a:pt x="456438" y="1271016"/>
                  </a:lnTo>
                  <a:lnTo>
                    <a:pt x="456438" y="838835"/>
                  </a:lnTo>
                  <a:lnTo>
                    <a:pt x="0" y="838835"/>
                  </a:lnTo>
                  <a:lnTo>
                    <a:pt x="0" y="432181"/>
                  </a:lnTo>
                  <a:close/>
                </a:path>
              </a:pathLst>
            </a:custGeom>
            <a:ln w="9144">
              <a:solidFill>
                <a:srgbClr val="46AA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4782311" y="3008735"/>
            <a:ext cx="2981960" cy="1463675"/>
            <a:chOff x="4782311" y="3008735"/>
            <a:chExt cx="2981960" cy="1463675"/>
          </a:xfrm>
        </p:grpSpPr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25948" y="3008735"/>
              <a:ext cx="2838197" cy="146359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82311" y="3215576"/>
              <a:ext cx="1961134" cy="1110805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4963636" y="3022149"/>
              <a:ext cx="2767330" cy="1393190"/>
            </a:xfrm>
            <a:custGeom>
              <a:avLst/>
              <a:gdLst/>
              <a:ahLst/>
              <a:cxnLst/>
              <a:rect l="l" t="t" r="r" b="b"/>
              <a:pathLst>
                <a:path w="2767329" h="1393189">
                  <a:moveTo>
                    <a:pt x="1409654" y="0"/>
                  </a:moveTo>
                  <a:lnTo>
                    <a:pt x="1357834" y="0"/>
                  </a:lnTo>
                  <a:lnTo>
                    <a:pt x="1306042" y="970"/>
                  </a:lnTo>
                  <a:lnTo>
                    <a:pt x="1254338" y="2912"/>
                  </a:lnTo>
                  <a:lnTo>
                    <a:pt x="1202780" y="5825"/>
                  </a:lnTo>
                  <a:lnTo>
                    <a:pt x="1151426" y="9709"/>
                  </a:lnTo>
                  <a:lnTo>
                    <a:pt x="1100336" y="14564"/>
                  </a:lnTo>
                  <a:lnTo>
                    <a:pt x="1049566" y="20390"/>
                  </a:lnTo>
                  <a:lnTo>
                    <a:pt x="999177" y="27187"/>
                  </a:lnTo>
                  <a:lnTo>
                    <a:pt x="949226" y="34954"/>
                  </a:lnTo>
                  <a:lnTo>
                    <a:pt x="899771" y="43693"/>
                  </a:lnTo>
                  <a:lnTo>
                    <a:pt x="850872" y="53403"/>
                  </a:lnTo>
                  <a:lnTo>
                    <a:pt x="802587" y="64084"/>
                  </a:lnTo>
                  <a:lnTo>
                    <a:pt x="754974" y="75735"/>
                  </a:lnTo>
                  <a:lnTo>
                    <a:pt x="708092" y="88358"/>
                  </a:lnTo>
                  <a:lnTo>
                    <a:pt x="661999" y="101952"/>
                  </a:lnTo>
                  <a:lnTo>
                    <a:pt x="616753" y="116516"/>
                  </a:lnTo>
                  <a:lnTo>
                    <a:pt x="572414" y="132052"/>
                  </a:lnTo>
                  <a:lnTo>
                    <a:pt x="529040" y="148558"/>
                  </a:lnTo>
                  <a:lnTo>
                    <a:pt x="486688" y="166036"/>
                  </a:lnTo>
                  <a:lnTo>
                    <a:pt x="445418" y="184484"/>
                  </a:lnTo>
                  <a:lnTo>
                    <a:pt x="405288" y="203904"/>
                  </a:lnTo>
                  <a:lnTo>
                    <a:pt x="356210" y="229891"/>
                  </a:lnTo>
                  <a:lnTo>
                    <a:pt x="310299" y="256807"/>
                  </a:lnTo>
                  <a:lnTo>
                    <a:pt x="267553" y="284588"/>
                  </a:lnTo>
                  <a:lnTo>
                    <a:pt x="227974" y="313174"/>
                  </a:lnTo>
                  <a:lnTo>
                    <a:pt x="191562" y="342502"/>
                  </a:lnTo>
                  <a:lnTo>
                    <a:pt x="158315" y="372510"/>
                  </a:lnTo>
                  <a:lnTo>
                    <a:pt x="128235" y="403136"/>
                  </a:lnTo>
                  <a:lnTo>
                    <a:pt x="101322" y="434319"/>
                  </a:lnTo>
                  <a:lnTo>
                    <a:pt x="77574" y="465997"/>
                  </a:lnTo>
                  <a:lnTo>
                    <a:pt x="56993" y="498108"/>
                  </a:lnTo>
                  <a:lnTo>
                    <a:pt x="25330" y="563379"/>
                  </a:lnTo>
                  <a:lnTo>
                    <a:pt x="6332" y="629640"/>
                  </a:lnTo>
                  <a:lnTo>
                    <a:pt x="0" y="696394"/>
                  </a:lnTo>
                  <a:lnTo>
                    <a:pt x="1583" y="729801"/>
                  </a:lnTo>
                  <a:lnTo>
                    <a:pt x="14248" y="796367"/>
                  </a:lnTo>
                  <a:lnTo>
                    <a:pt x="39578" y="862189"/>
                  </a:lnTo>
                  <a:lnTo>
                    <a:pt x="77574" y="926772"/>
                  </a:lnTo>
                  <a:lnTo>
                    <a:pt x="101322" y="958444"/>
                  </a:lnTo>
                  <a:lnTo>
                    <a:pt x="128235" y="989621"/>
                  </a:lnTo>
                  <a:lnTo>
                    <a:pt x="158315" y="1020240"/>
                  </a:lnTo>
                  <a:lnTo>
                    <a:pt x="191562" y="1050241"/>
                  </a:lnTo>
                  <a:lnTo>
                    <a:pt x="227974" y="1079560"/>
                  </a:lnTo>
                  <a:lnTo>
                    <a:pt x="267553" y="1108136"/>
                  </a:lnTo>
                  <a:lnTo>
                    <a:pt x="310299" y="1135908"/>
                  </a:lnTo>
                  <a:lnTo>
                    <a:pt x="356210" y="1162812"/>
                  </a:lnTo>
                  <a:lnTo>
                    <a:pt x="405288" y="1188789"/>
                  </a:lnTo>
                  <a:lnTo>
                    <a:pt x="445418" y="1208208"/>
                  </a:lnTo>
                  <a:lnTo>
                    <a:pt x="486688" y="1226657"/>
                  </a:lnTo>
                  <a:lnTo>
                    <a:pt x="529040" y="1244134"/>
                  </a:lnTo>
                  <a:lnTo>
                    <a:pt x="572414" y="1260641"/>
                  </a:lnTo>
                  <a:lnTo>
                    <a:pt x="616753" y="1276176"/>
                  </a:lnTo>
                  <a:lnTo>
                    <a:pt x="661999" y="1290741"/>
                  </a:lnTo>
                  <a:lnTo>
                    <a:pt x="708092" y="1304334"/>
                  </a:lnTo>
                  <a:lnTo>
                    <a:pt x="754974" y="1316957"/>
                  </a:lnTo>
                  <a:lnTo>
                    <a:pt x="802587" y="1328609"/>
                  </a:lnTo>
                  <a:lnTo>
                    <a:pt x="850872" y="1339289"/>
                  </a:lnTo>
                  <a:lnTo>
                    <a:pt x="899771" y="1348999"/>
                  </a:lnTo>
                  <a:lnTo>
                    <a:pt x="949226" y="1357738"/>
                  </a:lnTo>
                  <a:lnTo>
                    <a:pt x="999177" y="1365506"/>
                  </a:lnTo>
                  <a:lnTo>
                    <a:pt x="1049566" y="1372302"/>
                  </a:lnTo>
                  <a:lnTo>
                    <a:pt x="1100336" y="1378128"/>
                  </a:lnTo>
                  <a:lnTo>
                    <a:pt x="1151426" y="1382983"/>
                  </a:lnTo>
                  <a:lnTo>
                    <a:pt x="1202780" y="1386867"/>
                  </a:lnTo>
                  <a:lnTo>
                    <a:pt x="1254338" y="1389780"/>
                  </a:lnTo>
                  <a:lnTo>
                    <a:pt x="1306042" y="1391722"/>
                  </a:lnTo>
                  <a:lnTo>
                    <a:pt x="1357834" y="1392693"/>
                  </a:lnTo>
                  <a:lnTo>
                    <a:pt x="1409654" y="1392693"/>
                  </a:lnTo>
                  <a:lnTo>
                    <a:pt x="1461445" y="1391722"/>
                  </a:lnTo>
                  <a:lnTo>
                    <a:pt x="1513148" y="1389780"/>
                  </a:lnTo>
                  <a:lnTo>
                    <a:pt x="1564705" y="1386867"/>
                  </a:lnTo>
                  <a:lnTo>
                    <a:pt x="1616057" y="1382983"/>
                  </a:lnTo>
                  <a:lnTo>
                    <a:pt x="1667145" y="1378128"/>
                  </a:lnTo>
                  <a:lnTo>
                    <a:pt x="1717912" y="1372302"/>
                  </a:lnTo>
                  <a:lnTo>
                    <a:pt x="1768298" y="1365506"/>
                  </a:lnTo>
                  <a:lnTo>
                    <a:pt x="1818246" y="1357738"/>
                  </a:lnTo>
                  <a:lnTo>
                    <a:pt x="1867696" y="1348999"/>
                  </a:lnTo>
                  <a:lnTo>
                    <a:pt x="1916590" y="1339289"/>
                  </a:lnTo>
                  <a:lnTo>
                    <a:pt x="1964871" y="1328609"/>
                  </a:lnTo>
                  <a:lnTo>
                    <a:pt x="2012478" y="1316957"/>
                  </a:lnTo>
                  <a:lnTo>
                    <a:pt x="2059355" y="1304334"/>
                  </a:lnTo>
                  <a:lnTo>
                    <a:pt x="2105441" y="1290741"/>
                  </a:lnTo>
                  <a:lnTo>
                    <a:pt x="2150680" y="1276176"/>
                  </a:lnTo>
                  <a:lnTo>
                    <a:pt x="2195012" y="1260641"/>
                  </a:lnTo>
                  <a:lnTo>
                    <a:pt x="2238379" y="1244134"/>
                  </a:lnTo>
                  <a:lnTo>
                    <a:pt x="2280722" y="1226657"/>
                  </a:lnTo>
                  <a:lnTo>
                    <a:pt x="2321983" y="1208208"/>
                  </a:lnTo>
                  <a:lnTo>
                    <a:pt x="2362104" y="1188789"/>
                  </a:lnTo>
                  <a:lnTo>
                    <a:pt x="2409753" y="1163614"/>
                  </a:lnTo>
                  <a:lnTo>
                    <a:pt x="2454423" y="1137564"/>
                  </a:lnTo>
                  <a:lnTo>
                    <a:pt x="2496115" y="1110695"/>
                  </a:lnTo>
                  <a:lnTo>
                    <a:pt x="2534830" y="1083065"/>
                  </a:lnTo>
                  <a:lnTo>
                    <a:pt x="2570566" y="1054728"/>
                  </a:lnTo>
                  <a:lnTo>
                    <a:pt x="2603324" y="1025743"/>
                  </a:lnTo>
                  <a:lnTo>
                    <a:pt x="2633105" y="996165"/>
                  </a:lnTo>
                  <a:lnTo>
                    <a:pt x="2659907" y="966050"/>
                  </a:lnTo>
                  <a:lnTo>
                    <a:pt x="2683731" y="935456"/>
                  </a:lnTo>
                  <a:lnTo>
                    <a:pt x="2722446" y="873053"/>
                  </a:lnTo>
                  <a:lnTo>
                    <a:pt x="2749248" y="809407"/>
                  </a:lnTo>
                  <a:lnTo>
                    <a:pt x="2764138" y="744969"/>
                  </a:lnTo>
                  <a:lnTo>
                    <a:pt x="2767116" y="712595"/>
                  </a:lnTo>
                  <a:lnTo>
                    <a:pt x="2767116" y="680192"/>
                  </a:lnTo>
                  <a:lnTo>
                    <a:pt x="2758182" y="615527"/>
                  </a:lnTo>
                  <a:lnTo>
                    <a:pt x="2737336" y="551424"/>
                  </a:lnTo>
                  <a:lnTo>
                    <a:pt x="2704577" y="488335"/>
                  </a:lnTo>
                  <a:lnTo>
                    <a:pt x="2659907" y="426712"/>
                  </a:lnTo>
                  <a:lnTo>
                    <a:pt x="2633105" y="396591"/>
                  </a:lnTo>
                  <a:lnTo>
                    <a:pt x="2603324" y="367006"/>
                  </a:lnTo>
                  <a:lnTo>
                    <a:pt x="2570566" y="338013"/>
                  </a:lnTo>
                  <a:lnTo>
                    <a:pt x="2534830" y="309668"/>
                  </a:lnTo>
                  <a:lnTo>
                    <a:pt x="2496115" y="282029"/>
                  </a:lnTo>
                  <a:lnTo>
                    <a:pt x="2454423" y="255150"/>
                  </a:lnTo>
                  <a:lnTo>
                    <a:pt x="2409753" y="229090"/>
                  </a:lnTo>
                  <a:lnTo>
                    <a:pt x="2362104" y="203904"/>
                  </a:lnTo>
                  <a:lnTo>
                    <a:pt x="2321983" y="184484"/>
                  </a:lnTo>
                  <a:lnTo>
                    <a:pt x="2280722" y="166036"/>
                  </a:lnTo>
                  <a:lnTo>
                    <a:pt x="2238379" y="148558"/>
                  </a:lnTo>
                  <a:lnTo>
                    <a:pt x="2195012" y="132052"/>
                  </a:lnTo>
                  <a:lnTo>
                    <a:pt x="2150680" y="116516"/>
                  </a:lnTo>
                  <a:lnTo>
                    <a:pt x="2105441" y="101952"/>
                  </a:lnTo>
                  <a:lnTo>
                    <a:pt x="2059355" y="88358"/>
                  </a:lnTo>
                  <a:lnTo>
                    <a:pt x="2012478" y="75735"/>
                  </a:lnTo>
                  <a:lnTo>
                    <a:pt x="1964871" y="64084"/>
                  </a:lnTo>
                  <a:lnTo>
                    <a:pt x="1916590" y="53403"/>
                  </a:lnTo>
                  <a:lnTo>
                    <a:pt x="1867696" y="43693"/>
                  </a:lnTo>
                  <a:lnTo>
                    <a:pt x="1818246" y="34954"/>
                  </a:lnTo>
                  <a:lnTo>
                    <a:pt x="1768298" y="27187"/>
                  </a:lnTo>
                  <a:lnTo>
                    <a:pt x="1717912" y="20390"/>
                  </a:lnTo>
                  <a:lnTo>
                    <a:pt x="1667145" y="14564"/>
                  </a:lnTo>
                  <a:lnTo>
                    <a:pt x="1616057" y="9709"/>
                  </a:lnTo>
                  <a:lnTo>
                    <a:pt x="1564705" y="5825"/>
                  </a:lnTo>
                  <a:lnTo>
                    <a:pt x="1513148" y="2912"/>
                  </a:lnTo>
                  <a:lnTo>
                    <a:pt x="1461445" y="970"/>
                  </a:lnTo>
                  <a:lnTo>
                    <a:pt x="1409654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963636" y="3022149"/>
              <a:ext cx="2767330" cy="1393190"/>
            </a:xfrm>
            <a:custGeom>
              <a:avLst/>
              <a:gdLst/>
              <a:ahLst/>
              <a:cxnLst/>
              <a:rect l="l" t="t" r="r" b="b"/>
              <a:pathLst>
                <a:path w="2767329" h="1393189">
                  <a:moveTo>
                    <a:pt x="2362104" y="203904"/>
                  </a:moveTo>
                  <a:lnTo>
                    <a:pt x="2409753" y="229090"/>
                  </a:lnTo>
                  <a:lnTo>
                    <a:pt x="2454423" y="255150"/>
                  </a:lnTo>
                  <a:lnTo>
                    <a:pt x="2496115" y="282029"/>
                  </a:lnTo>
                  <a:lnTo>
                    <a:pt x="2534830" y="309668"/>
                  </a:lnTo>
                  <a:lnTo>
                    <a:pt x="2570566" y="338013"/>
                  </a:lnTo>
                  <a:lnTo>
                    <a:pt x="2603324" y="367006"/>
                  </a:lnTo>
                  <a:lnTo>
                    <a:pt x="2633105" y="396591"/>
                  </a:lnTo>
                  <a:lnTo>
                    <a:pt x="2659907" y="426712"/>
                  </a:lnTo>
                  <a:lnTo>
                    <a:pt x="2683731" y="457312"/>
                  </a:lnTo>
                  <a:lnTo>
                    <a:pt x="2722446" y="519724"/>
                  </a:lnTo>
                  <a:lnTo>
                    <a:pt x="2749248" y="583377"/>
                  </a:lnTo>
                  <a:lnTo>
                    <a:pt x="2764138" y="647817"/>
                  </a:lnTo>
                  <a:lnTo>
                    <a:pt x="2767116" y="680192"/>
                  </a:lnTo>
                  <a:lnTo>
                    <a:pt x="2767116" y="712595"/>
                  </a:lnTo>
                  <a:lnTo>
                    <a:pt x="2758182" y="777259"/>
                  </a:lnTo>
                  <a:lnTo>
                    <a:pt x="2737336" y="841357"/>
                  </a:lnTo>
                  <a:lnTo>
                    <a:pt x="2704577" y="904438"/>
                  </a:lnTo>
                  <a:lnTo>
                    <a:pt x="2659907" y="966050"/>
                  </a:lnTo>
                  <a:lnTo>
                    <a:pt x="2633105" y="996165"/>
                  </a:lnTo>
                  <a:lnTo>
                    <a:pt x="2603324" y="1025743"/>
                  </a:lnTo>
                  <a:lnTo>
                    <a:pt x="2570566" y="1054728"/>
                  </a:lnTo>
                  <a:lnTo>
                    <a:pt x="2534830" y="1083065"/>
                  </a:lnTo>
                  <a:lnTo>
                    <a:pt x="2496115" y="1110695"/>
                  </a:lnTo>
                  <a:lnTo>
                    <a:pt x="2454423" y="1137564"/>
                  </a:lnTo>
                  <a:lnTo>
                    <a:pt x="2409753" y="1163614"/>
                  </a:lnTo>
                  <a:lnTo>
                    <a:pt x="2362104" y="1188789"/>
                  </a:lnTo>
                  <a:lnTo>
                    <a:pt x="2321983" y="1208208"/>
                  </a:lnTo>
                  <a:lnTo>
                    <a:pt x="2280722" y="1226657"/>
                  </a:lnTo>
                  <a:lnTo>
                    <a:pt x="2238379" y="1244134"/>
                  </a:lnTo>
                  <a:lnTo>
                    <a:pt x="2195012" y="1260641"/>
                  </a:lnTo>
                  <a:lnTo>
                    <a:pt x="2150680" y="1276176"/>
                  </a:lnTo>
                  <a:lnTo>
                    <a:pt x="2105441" y="1290741"/>
                  </a:lnTo>
                  <a:lnTo>
                    <a:pt x="2059355" y="1304334"/>
                  </a:lnTo>
                  <a:lnTo>
                    <a:pt x="2012478" y="1316957"/>
                  </a:lnTo>
                  <a:lnTo>
                    <a:pt x="1964871" y="1328609"/>
                  </a:lnTo>
                  <a:lnTo>
                    <a:pt x="1916590" y="1339289"/>
                  </a:lnTo>
                  <a:lnTo>
                    <a:pt x="1867696" y="1348999"/>
                  </a:lnTo>
                  <a:lnTo>
                    <a:pt x="1818246" y="1357738"/>
                  </a:lnTo>
                  <a:lnTo>
                    <a:pt x="1768298" y="1365506"/>
                  </a:lnTo>
                  <a:lnTo>
                    <a:pt x="1717912" y="1372302"/>
                  </a:lnTo>
                  <a:lnTo>
                    <a:pt x="1667145" y="1378128"/>
                  </a:lnTo>
                  <a:lnTo>
                    <a:pt x="1616057" y="1382983"/>
                  </a:lnTo>
                  <a:lnTo>
                    <a:pt x="1564705" y="1386867"/>
                  </a:lnTo>
                  <a:lnTo>
                    <a:pt x="1513148" y="1389780"/>
                  </a:lnTo>
                  <a:lnTo>
                    <a:pt x="1461445" y="1391722"/>
                  </a:lnTo>
                  <a:lnTo>
                    <a:pt x="1409654" y="1392693"/>
                  </a:lnTo>
                  <a:lnTo>
                    <a:pt x="1357834" y="1392693"/>
                  </a:lnTo>
                  <a:lnTo>
                    <a:pt x="1306042" y="1391722"/>
                  </a:lnTo>
                  <a:lnTo>
                    <a:pt x="1254338" y="1389780"/>
                  </a:lnTo>
                  <a:lnTo>
                    <a:pt x="1202780" y="1386867"/>
                  </a:lnTo>
                  <a:lnTo>
                    <a:pt x="1151426" y="1382983"/>
                  </a:lnTo>
                  <a:lnTo>
                    <a:pt x="1100336" y="1378128"/>
                  </a:lnTo>
                  <a:lnTo>
                    <a:pt x="1049566" y="1372302"/>
                  </a:lnTo>
                  <a:lnTo>
                    <a:pt x="999177" y="1365506"/>
                  </a:lnTo>
                  <a:lnTo>
                    <a:pt x="949226" y="1357738"/>
                  </a:lnTo>
                  <a:lnTo>
                    <a:pt x="899771" y="1348999"/>
                  </a:lnTo>
                  <a:lnTo>
                    <a:pt x="850872" y="1339289"/>
                  </a:lnTo>
                  <a:lnTo>
                    <a:pt x="802587" y="1328609"/>
                  </a:lnTo>
                  <a:lnTo>
                    <a:pt x="754974" y="1316957"/>
                  </a:lnTo>
                  <a:lnTo>
                    <a:pt x="708092" y="1304334"/>
                  </a:lnTo>
                  <a:lnTo>
                    <a:pt x="661999" y="1290741"/>
                  </a:lnTo>
                  <a:lnTo>
                    <a:pt x="616753" y="1276176"/>
                  </a:lnTo>
                  <a:lnTo>
                    <a:pt x="572414" y="1260641"/>
                  </a:lnTo>
                  <a:lnTo>
                    <a:pt x="529040" y="1244134"/>
                  </a:lnTo>
                  <a:lnTo>
                    <a:pt x="486688" y="1226657"/>
                  </a:lnTo>
                  <a:lnTo>
                    <a:pt x="445418" y="1208208"/>
                  </a:lnTo>
                  <a:lnTo>
                    <a:pt x="405288" y="1188789"/>
                  </a:lnTo>
                  <a:lnTo>
                    <a:pt x="356210" y="1162812"/>
                  </a:lnTo>
                  <a:lnTo>
                    <a:pt x="310299" y="1135908"/>
                  </a:lnTo>
                  <a:lnTo>
                    <a:pt x="267553" y="1108136"/>
                  </a:lnTo>
                  <a:lnTo>
                    <a:pt x="227974" y="1079560"/>
                  </a:lnTo>
                  <a:lnTo>
                    <a:pt x="191562" y="1050241"/>
                  </a:lnTo>
                  <a:lnTo>
                    <a:pt x="158315" y="1020240"/>
                  </a:lnTo>
                  <a:lnTo>
                    <a:pt x="128235" y="989621"/>
                  </a:lnTo>
                  <a:lnTo>
                    <a:pt x="101322" y="958444"/>
                  </a:lnTo>
                  <a:lnTo>
                    <a:pt x="77574" y="926772"/>
                  </a:lnTo>
                  <a:lnTo>
                    <a:pt x="56993" y="894667"/>
                  </a:lnTo>
                  <a:lnTo>
                    <a:pt x="25330" y="829402"/>
                  </a:lnTo>
                  <a:lnTo>
                    <a:pt x="6332" y="763146"/>
                  </a:lnTo>
                  <a:lnTo>
                    <a:pt x="0" y="696394"/>
                  </a:lnTo>
                  <a:lnTo>
                    <a:pt x="1583" y="662986"/>
                  </a:lnTo>
                  <a:lnTo>
                    <a:pt x="14248" y="596417"/>
                  </a:lnTo>
                  <a:lnTo>
                    <a:pt x="39578" y="530589"/>
                  </a:lnTo>
                  <a:lnTo>
                    <a:pt x="77574" y="465997"/>
                  </a:lnTo>
                  <a:lnTo>
                    <a:pt x="101322" y="434319"/>
                  </a:lnTo>
                  <a:lnTo>
                    <a:pt x="128235" y="403136"/>
                  </a:lnTo>
                  <a:lnTo>
                    <a:pt x="158315" y="372510"/>
                  </a:lnTo>
                  <a:lnTo>
                    <a:pt x="191562" y="342502"/>
                  </a:lnTo>
                  <a:lnTo>
                    <a:pt x="227974" y="313174"/>
                  </a:lnTo>
                  <a:lnTo>
                    <a:pt x="267553" y="284588"/>
                  </a:lnTo>
                  <a:lnTo>
                    <a:pt x="310299" y="256807"/>
                  </a:lnTo>
                  <a:lnTo>
                    <a:pt x="356210" y="229891"/>
                  </a:lnTo>
                  <a:lnTo>
                    <a:pt x="405288" y="203904"/>
                  </a:lnTo>
                  <a:lnTo>
                    <a:pt x="445418" y="184484"/>
                  </a:lnTo>
                  <a:lnTo>
                    <a:pt x="486688" y="166036"/>
                  </a:lnTo>
                  <a:lnTo>
                    <a:pt x="529040" y="148558"/>
                  </a:lnTo>
                  <a:lnTo>
                    <a:pt x="572414" y="132052"/>
                  </a:lnTo>
                  <a:lnTo>
                    <a:pt x="616753" y="116516"/>
                  </a:lnTo>
                  <a:lnTo>
                    <a:pt x="661999" y="101952"/>
                  </a:lnTo>
                  <a:lnTo>
                    <a:pt x="708092" y="88358"/>
                  </a:lnTo>
                  <a:lnTo>
                    <a:pt x="754974" y="75735"/>
                  </a:lnTo>
                  <a:lnTo>
                    <a:pt x="802587" y="64084"/>
                  </a:lnTo>
                  <a:lnTo>
                    <a:pt x="850872" y="53403"/>
                  </a:lnTo>
                  <a:lnTo>
                    <a:pt x="899771" y="43693"/>
                  </a:lnTo>
                  <a:lnTo>
                    <a:pt x="949226" y="34954"/>
                  </a:lnTo>
                  <a:lnTo>
                    <a:pt x="999177" y="27187"/>
                  </a:lnTo>
                  <a:lnTo>
                    <a:pt x="1049566" y="20390"/>
                  </a:lnTo>
                  <a:lnTo>
                    <a:pt x="1100336" y="14564"/>
                  </a:lnTo>
                  <a:lnTo>
                    <a:pt x="1151426" y="9709"/>
                  </a:lnTo>
                  <a:lnTo>
                    <a:pt x="1202780" y="5825"/>
                  </a:lnTo>
                  <a:lnTo>
                    <a:pt x="1254338" y="2912"/>
                  </a:lnTo>
                  <a:lnTo>
                    <a:pt x="1306042" y="970"/>
                  </a:lnTo>
                  <a:lnTo>
                    <a:pt x="1357834" y="0"/>
                  </a:lnTo>
                  <a:lnTo>
                    <a:pt x="1409654" y="0"/>
                  </a:lnTo>
                  <a:lnTo>
                    <a:pt x="1461445" y="970"/>
                  </a:lnTo>
                  <a:lnTo>
                    <a:pt x="1513148" y="2912"/>
                  </a:lnTo>
                  <a:lnTo>
                    <a:pt x="1564705" y="5825"/>
                  </a:lnTo>
                  <a:lnTo>
                    <a:pt x="1616057" y="9709"/>
                  </a:lnTo>
                  <a:lnTo>
                    <a:pt x="1667145" y="14564"/>
                  </a:lnTo>
                  <a:lnTo>
                    <a:pt x="1717912" y="20390"/>
                  </a:lnTo>
                  <a:lnTo>
                    <a:pt x="1768298" y="27187"/>
                  </a:lnTo>
                  <a:lnTo>
                    <a:pt x="1818246" y="34954"/>
                  </a:lnTo>
                  <a:lnTo>
                    <a:pt x="1867696" y="43693"/>
                  </a:lnTo>
                  <a:lnTo>
                    <a:pt x="1916590" y="53403"/>
                  </a:lnTo>
                  <a:lnTo>
                    <a:pt x="1964871" y="64084"/>
                  </a:lnTo>
                  <a:lnTo>
                    <a:pt x="2012478" y="75735"/>
                  </a:lnTo>
                  <a:lnTo>
                    <a:pt x="2059355" y="88358"/>
                  </a:lnTo>
                  <a:lnTo>
                    <a:pt x="2105441" y="101952"/>
                  </a:lnTo>
                  <a:lnTo>
                    <a:pt x="2150680" y="116516"/>
                  </a:lnTo>
                  <a:lnTo>
                    <a:pt x="2195012" y="132052"/>
                  </a:lnTo>
                  <a:lnTo>
                    <a:pt x="2238379" y="148558"/>
                  </a:lnTo>
                  <a:lnTo>
                    <a:pt x="2280722" y="166036"/>
                  </a:lnTo>
                  <a:lnTo>
                    <a:pt x="2321983" y="184484"/>
                  </a:lnTo>
                  <a:lnTo>
                    <a:pt x="2362104" y="203904"/>
                  </a:lnTo>
                  <a:close/>
                </a:path>
              </a:pathLst>
            </a:custGeom>
            <a:ln w="9144">
              <a:solidFill>
                <a:srgbClr val="46AA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493423" y="3282843"/>
            <a:ext cx="1631314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connective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tissue </a:t>
            </a:r>
            <a:r>
              <a:rPr sz="1800" spc="-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muscle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tissue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blood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vessels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359408" y="4633381"/>
            <a:ext cx="1513205" cy="1341755"/>
            <a:chOff x="1359408" y="4633381"/>
            <a:chExt cx="1513205" cy="1341755"/>
          </a:xfrm>
        </p:grpSpPr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57315" y="4633381"/>
              <a:ext cx="1341647" cy="1341647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59408" y="5056631"/>
              <a:ext cx="1513078" cy="55910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95044" y="4646675"/>
              <a:ext cx="1271016" cy="1271016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1495044" y="4646676"/>
            <a:ext cx="1271270" cy="1271270"/>
          </a:xfrm>
          <a:prstGeom prst="rect">
            <a:avLst/>
          </a:prstGeom>
          <a:ln w="9144">
            <a:solidFill>
              <a:srgbClr val="46AAC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00">
              <a:latin typeface="Times New Roman"/>
              <a:cs typeface="Times New Roman"/>
            </a:endParaRPr>
          </a:p>
          <a:p>
            <a:pPr marL="45085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neural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crest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420227" y="4642103"/>
            <a:ext cx="1332230" cy="1326515"/>
            <a:chOff x="3420227" y="4642103"/>
            <a:chExt cx="1332230" cy="1326515"/>
          </a:xfrm>
        </p:grpSpPr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20227" y="4646308"/>
              <a:ext cx="1332132" cy="1322258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457956" y="4646675"/>
              <a:ext cx="1267968" cy="1271016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3457956" y="4646675"/>
              <a:ext cx="1268095" cy="1271270"/>
            </a:xfrm>
            <a:custGeom>
              <a:avLst/>
              <a:gdLst/>
              <a:ahLst/>
              <a:cxnLst/>
              <a:rect l="l" t="t" r="r" b="b"/>
              <a:pathLst>
                <a:path w="1268095" h="1271270">
                  <a:moveTo>
                    <a:pt x="0" y="432181"/>
                  </a:moveTo>
                  <a:lnTo>
                    <a:pt x="456438" y="432181"/>
                  </a:lnTo>
                  <a:lnTo>
                    <a:pt x="456438" y="0"/>
                  </a:lnTo>
                  <a:lnTo>
                    <a:pt x="1267968" y="635508"/>
                  </a:lnTo>
                  <a:lnTo>
                    <a:pt x="456438" y="1271016"/>
                  </a:lnTo>
                  <a:lnTo>
                    <a:pt x="456438" y="838835"/>
                  </a:lnTo>
                  <a:lnTo>
                    <a:pt x="0" y="838835"/>
                  </a:lnTo>
                  <a:lnTo>
                    <a:pt x="0" y="432181"/>
                  </a:lnTo>
                  <a:close/>
                </a:path>
              </a:pathLst>
            </a:custGeom>
            <a:ln w="9144">
              <a:solidFill>
                <a:srgbClr val="46AA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5245608" y="4673005"/>
            <a:ext cx="2446020" cy="1394460"/>
            <a:chOff x="5245608" y="4673005"/>
            <a:chExt cx="2446020" cy="1394460"/>
          </a:xfrm>
        </p:grpSpPr>
        <p:pic>
          <p:nvPicPr>
            <p:cNvPr id="41" name="object 4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85595" y="4673005"/>
              <a:ext cx="2405414" cy="1341647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245608" y="4681664"/>
              <a:ext cx="2086229" cy="1385189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323332" y="4686299"/>
              <a:ext cx="2334767" cy="1271016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5323332" y="4686299"/>
              <a:ext cx="2334895" cy="1271270"/>
            </a:xfrm>
            <a:custGeom>
              <a:avLst/>
              <a:gdLst/>
              <a:ahLst/>
              <a:cxnLst/>
              <a:rect l="l" t="t" r="r" b="b"/>
              <a:pathLst>
                <a:path w="2334895" h="1271270">
                  <a:moveTo>
                    <a:pt x="0" y="190626"/>
                  </a:moveTo>
                  <a:lnTo>
                    <a:pt x="5034" y="146917"/>
                  </a:lnTo>
                  <a:lnTo>
                    <a:pt x="19375" y="106792"/>
                  </a:lnTo>
                  <a:lnTo>
                    <a:pt x="41877" y="71398"/>
                  </a:lnTo>
                  <a:lnTo>
                    <a:pt x="71398" y="41877"/>
                  </a:lnTo>
                  <a:lnTo>
                    <a:pt x="106792" y="19375"/>
                  </a:lnTo>
                  <a:lnTo>
                    <a:pt x="146917" y="5034"/>
                  </a:lnTo>
                  <a:lnTo>
                    <a:pt x="190626" y="0"/>
                  </a:lnTo>
                  <a:lnTo>
                    <a:pt x="2144141" y="0"/>
                  </a:lnTo>
                  <a:lnTo>
                    <a:pt x="2187850" y="5034"/>
                  </a:lnTo>
                  <a:lnTo>
                    <a:pt x="2227975" y="19375"/>
                  </a:lnTo>
                  <a:lnTo>
                    <a:pt x="2263369" y="41877"/>
                  </a:lnTo>
                  <a:lnTo>
                    <a:pt x="2292890" y="71398"/>
                  </a:lnTo>
                  <a:lnTo>
                    <a:pt x="2315392" y="106792"/>
                  </a:lnTo>
                  <a:lnTo>
                    <a:pt x="2329733" y="146917"/>
                  </a:lnTo>
                  <a:lnTo>
                    <a:pt x="2334767" y="190626"/>
                  </a:lnTo>
                  <a:lnTo>
                    <a:pt x="2334767" y="1080363"/>
                  </a:lnTo>
                  <a:lnTo>
                    <a:pt x="2329733" y="1124078"/>
                  </a:lnTo>
                  <a:lnTo>
                    <a:pt x="2315392" y="1164208"/>
                  </a:lnTo>
                  <a:lnTo>
                    <a:pt x="2292890" y="1199607"/>
                  </a:lnTo>
                  <a:lnTo>
                    <a:pt x="2263369" y="1229132"/>
                  </a:lnTo>
                  <a:lnTo>
                    <a:pt x="2227975" y="1251638"/>
                  </a:lnTo>
                  <a:lnTo>
                    <a:pt x="2187850" y="1265980"/>
                  </a:lnTo>
                  <a:lnTo>
                    <a:pt x="2144141" y="1271016"/>
                  </a:lnTo>
                  <a:lnTo>
                    <a:pt x="190626" y="1271016"/>
                  </a:lnTo>
                  <a:lnTo>
                    <a:pt x="146917" y="1265980"/>
                  </a:lnTo>
                  <a:lnTo>
                    <a:pt x="106792" y="1251638"/>
                  </a:lnTo>
                  <a:lnTo>
                    <a:pt x="71398" y="1229132"/>
                  </a:lnTo>
                  <a:lnTo>
                    <a:pt x="41877" y="1199607"/>
                  </a:lnTo>
                  <a:lnTo>
                    <a:pt x="19375" y="1164208"/>
                  </a:lnTo>
                  <a:lnTo>
                    <a:pt x="5034" y="1124078"/>
                  </a:lnTo>
                  <a:lnTo>
                    <a:pt x="0" y="1080363"/>
                  </a:lnTo>
                  <a:lnTo>
                    <a:pt x="0" y="190626"/>
                  </a:lnTo>
                  <a:close/>
                </a:path>
              </a:pathLst>
            </a:custGeom>
            <a:ln w="9144">
              <a:solidFill>
                <a:srgbClr val="46AA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5544933" y="4759832"/>
            <a:ext cx="169989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autonomic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nervus </a:t>
            </a:r>
            <a:r>
              <a:rPr sz="1800" spc="-3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plexus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submucosal</a:t>
            </a:r>
            <a:r>
              <a:rPr sz="18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mynteric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8405" y="560309"/>
            <a:ext cx="732282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92400" marR="5080" indent="-2680335">
              <a:lnSpc>
                <a:spcPct val="100000"/>
              </a:lnSpc>
              <a:spcBef>
                <a:spcPts val="95"/>
              </a:spcBef>
            </a:pPr>
            <a:r>
              <a:rPr lang="en-US" sz="3200" spc="-5" dirty="0"/>
              <a:t>H</a:t>
            </a:r>
            <a:r>
              <a:rPr sz="3200" spc="-5" dirty="0"/>
              <a:t>istological</a:t>
            </a:r>
            <a:r>
              <a:rPr sz="3200" spc="45" dirty="0"/>
              <a:t> </a:t>
            </a:r>
            <a:r>
              <a:rPr sz="3200" spc="-10" dirty="0"/>
              <a:t>differentiation</a:t>
            </a:r>
            <a:r>
              <a:rPr sz="3200" spc="45" dirty="0"/>
              <a:t> </a:t>
            </a:r>
            <a:r>
              <a:rPr lang="en-US" sz="3200" spc="-5" dirty="0"/>
              <a:t>o</a:t>
            </a:r>
            <a:r>
              <a:rPr sz="3200" spc="-5" dirty="0"/>
              <a:t>f</a:t>
            </a:r>
            <a:r>
              <a:rPr sz="3200" spc="-10" dirty="0"/>
              <a:t> </a:t>
            </a:r>
            <a:r>
              <a:rPr sz="3200" spc="-15" dirty="0"/>
              <a:t>the </a:t>
            </a:r>
            <a:r>
              <a:rPr sz="3200" spc="-980" dirty="0"/>
              <a:t> </a:t>
            </a:r>
            <a:r>
              <a:rPr sz="3200" spc="-5" dirty="0"/>
              <a:t>stomach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79028" y="6428638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78787"/>
                </a:solidFill>
                <a:latin typeface="Calibri"/>
                <a:cs typeface="Calibri"/>
              </a:rPr>
              <a:t>25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43127" y="1590865"/>
            <a:ext cx="2091689" cy="1323975"/>
            <a:chOff x="643127" y="1590865"/>
            <a:chExt cx="2091689" cy="13239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1013" y="1592161"/>
              <a:ext cx="1993739" cy="132225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3127" y="1999513"/>
              <a:ext cx="964514" cy="56220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8763" y="1595627"/>
              <a:ext cx="1929384" cy="127101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8763" y="1595627"/>
              <a:ext cx="1929764" cy="1271270"/>
            </a:xfrm>
            <a:custGeom>
              <a:avLst/>
              <a:gdLst/>
              <a:ahLst/>
              <a:cxnLst/>
              <a:rect l="l" t="t" r="r" b="b"/>
              <a:pathLst>
                <a:path w="1929764" h="1271270">
                  <a:moveTo>
                    <a:pt x="0" y="432181"/>
                  </a:moveTo>
                  <a:lnTo>
                    <a:pt x="1115949" y="432181"/>
                  </a:lnTo>
                  <a:lnTo>
                    <a:pt x="1115949" y="0"/>
                  </a:lnTo>
                  <a:lnTo>
                    <a:pt x="1929384" y="635508"/>
                  </a:lnTo>
                  <a:lnTo>
                    <a:pt x="1115949" y="1271016"/>
                  </a:lnTo>
                  <a:lnTo>
                    <a:pt x="1115949" y="838835"/>
                  </a:lnTo>
                  <a:lnTo>
                    <a:pt x="0" y="838835"/>
                  </a:lnTo>
                  <a:lnTo>
                    <a:pt x="0" y="432181"/>
                  </a:lnTo>
                  <a:close/>
                </a:path>
              </a:pathLst>
            </a:custGeom>
            <a:ln w="9144">
              <a:solidFill>
                <a:srgbClr val="7C5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09650" y="2064765"/>
            <a:ext cx="635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8</a:t>
            </a:r>
            <a:r>
              <a:rPr sz="1800" spc="5" dirty="0">
                <a:latin typeface="Calibri"/>
                <a:cs typeface="Calibri"/>
              </a:rPr>
              <a:t>w</a:t>
            </a:r>
            <a:r>
              <a:rPr sz="1800" spc="-10" dirty="0">
                <a:latin typeface="Calibri"/>
                <a:cs typeface="Calibri"/>
              </a:rPr>
              <a:t>ee</a:t>
            </a:r>
            <a:r>
              <a:rPr sz="1800" dirty="0">
                <a:latin typeface="Calibri"/>
                <a:cs typeface="Calibri"/>
              </a:rPr>
              <a:t>k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739896" y="1579235"/>
            <a:ext cx="2488565" cy="1341755"/>
            <a:chOff x="3739896" y="1579235"/>
            <a:chExt cx="2488565" cy="1341755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37810" y="1579235"/>
              <a:ext cx="2390145" cy="134164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39896" y="1725104"/>
              <a:ext cx="1769110" cy="111080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75532" y="1595627"/>
              <a:ext cx="2319528" cy="1271015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3875532" y="1595627"/>
            <a:ext cx="2319655" cy="1271270"/>
          </a:xfrm>
          <a:prstGeom prst="rect">
            <a:avLst/>
          </a:prstGeom>
          <a:ln w="9144">
            <a:solidFill>
              <a:srgbClr val="7C5F9F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400">
              <a:latin typeface="Times New Roman"/>
              <a:cs typeface="Times New Roman"/>
            </a:endParaRPr>
          </a:p>
          <a:p>
            <a:pPr marL="44450" marR="161925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r</a:t>
            </a:r>
            <a:r>
              <a:rPr sz="1800" spc="-15" dirty="0">
                <a:latin typeface="Calibri"/>
                <a:cs typeface="Calibri"/>
              </a:rPr>
              <a:t>u</a:t>
            </a:r>
            <a:r>
              <a:rPr sz="1800" spc="-10" dirty="0">
                <a:latin typeface="Calibri"/>
                <a:cs typeface="Calibri"/>
              </a:rPr>
              <a:t>gh</a:t>
            </a:r>
            <a:r>
              <a:rPr sz="1800" dirty="0">
                <a:latin typeface="Calibri"/>
                <a:cs typeface="Calibri"/>
              </a:rPr>
              <a:t>ae  </a:t>
            </a:r>
            <a:r>
              <a:rPr sz="1800" spc="-5" dirty="0">
                <a:latin typeface="Calibri"/>
                <a:cs typeface="Calibri"/>
              </a:rPr>
              <a:t>pits</a:t>
            </a:r>
            <a:endParaRPr sz="1800">
              <a:latin typeface="Calibri"/>
              <a:cs typeface="Calibri"/>
            </a:endParaRPr>
          </a:p>
          <a:p>
            <a:pPr marL="4445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smooth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muscle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01752" y="2798064"/>
            <a:ext cx="2540635" cy="1961514"/>
            <a:chOff x="301752" y="2798064"/>
            <a:chExt cx="2540635" cy="1961514"/>
          </a:xfrm>
        </p:grpSpPr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0623" y="2798064"/>
              <a:ext cx="2421509" cy="196113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1752" y="3529609"/>
              <a:ext cx="1433830" cy="56220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83107" y="2872740"/>
              <a:ext cx="2295525" cy="1777364"/>
            </a:xfrm>
            <a:custGeom>
              <a:avLst/>
              <a:gdLst/>
              <a:ahLst/>
              <a:cxnLst/>
              <a:rect l="l" t="t" r="r" b="b"/>
              <a:pathLst>
                <a:path w="2295525" h="1777364">
                  <a:moveTo>
                    <a:pt x="1482852" y="0"/>
                  </a:moveTo>
                  <a:lnTo>
                    <a:pt x="1482852" y="604138"/>
                  </a:lnTo>
                  <a:lnTo>
                    <a:pt x="0" y="604138"/>
                  </a:lnTo>
                  <a:lnTo>
                    <a:pt x="0" y="1172845"/>
                  </a:lnTo>
                  <a:lnTo>
                    <a:pt x="1482852" y="1172845"/>
                  </a:lnTo>
                  <a:lnTo>
                    <a:pt x="1482852" y="1776984"/>
                  </a:lnTo>
                  <a:lnTo>
                    <a:pt x="2295144" y="888492"/>
                  </a:lnTo>
                  <a:lnTo>
                    <a:pt x="1482852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3107" y="2872740"/>
              <a:ext cx="2295525" cy="1777364"/>
            </a:xfrm>
            <a:custGeom>
              <a:avLst/>
              <a:gdLst/>
              <a:ahLst/>
              <a:cxnLst/>
              <a:rect l="l" t="t" r="r" b="b"/>
              <a:pathLst>
                <a:path w="2295525" h="1777364">
                  <a:moveTo>
                    <a:pt x="0" y="604138"/>
                  </a:moveTo>
                  <a:lnTo>
                    <a:pt x="1482852" y="604138"/>
                  </a:lnTo>
                  <a:lnTo>
                    <a:pt x="1482852" y="0"/>
                  </a:lnTo>
                  <a:lnTo>
                    <a:pt x="2295144" y="888492"/>
                  </a:lnTo>
                  <a:lnTo>
                    <a:pt x="1482852" y="1776984"/>
                  </a:lnTo>
                  <a:lnTo>
                    <a:pt x="1482852" y="1172845"/>
                  </a:lnTo>
                  <a:lnTo>
                    <a:pt x="0" y="1172845"/>
                  </a:lnTo>
                  <a:lnTo>
                    <a:pt x="0" y="604138"/>
                  </a:lnTo>
                  <a:close/>
                </a:path>
              </a:pathLst>
            </a:custGeom>
            <a:ln w="396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68274" y="3595573"/>
            <a:ext cx="11055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10-20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week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739896" y="2953832"/>
            <a:ext cx="2278380" cy="1372870"/>
            <a:chOff x="3739896" y="2953832"/>
            <a:chExt cx="2278380" cy="1372870"/>
          </a:xfrm>
        </p:grpSpPr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22551" y="2953832"/>
              <a:ext cx="2195238" cy="137235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39896" y="3118154"/>
              <a:ext cx="2241677" cy="110777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875532" y="2985515"/>
              <a:ext cx="2094230" cy="1271270"/>
            </a:xfrm>
            <a:custGeom>
              <a:avLst/>
              <a:gdLst/>
              <a:ahLst/>
              <a:cxnLst/>
              <a:rect l="l" t="t" r="r" b="b"/>
              <a:pathLst>
                <a:path w="2094229" h="1271270">
                  <a:moveTo>
                    <a:pt x="2093976" y="0"/>
                  </a:moveTo>
                  <a:lnTo>
                    <a:pt x="0" y="0"/>
                  </a:lnTo>
                  <a:lnTo>
                    <a:pt x="0" y="1271016"/>
                  </a:lnTo>
                  <a:lnTo>
                    <a:pt x="2093976" y="1271016"/>
                  </a:lnTo>
                  <a:lnTo>
                    <a:pt x="2093976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875532" y="2985515"/>
              <a:ext cx="2094230" cy="1271270"/>
            </a:xfrm>
            <a:custGeom>
              <a:avLst/>
              <a:gdLst/>
              <a:ahLst/>
              <a:cxnLst/>
              <a:rect l="l" t="t" r="r" b="b"/>
              <a:pathLst>
                <a:path w="2094229" h="1271270">
                  <a:moveTo>
                    <a:pt x="0" y="1271016"/>
                  </a:moveTo>
                  <a:lnTo>
                    <a:pt x="2093976" y="1271016"/>
                  </a:lnTo>
                  <a:lnTo>
                    <a:pt x="2093976" y="0"/>
                  </a:lnTo>
                  <a:lnTo>
                    <a:pt x="0" y="0"/>
                  </a:lnTo>
                  <a:lnTo>
                    <a:pt x="0" y="1271016"/>
                  </a:lnTo>
                  <a:close/>
                </a:path>
              </a:pathLst>
            </a:custGeom>
            <a:ln w="396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875532" y="2985516"/>
            <a:ext cx="2094230" cy="12712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1400">
              <a:latin typeface="Times New Roman"/>
              <a:cs typeface="Times New Roman"/>
            </a:endParaRPr>
          </a:p>
          <a:p>
            <a:pPr marL="44450" marR="156845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chief </a:t>
            </a:r>
            <a:r>
              <a:rPr sz="1800" spc="-5" dirty="0">
                <a:latin typeface="Calibri"/>
                <a:cs typeface="Calibri"/>
              </a:rPr>
              <a:t>cells(zymogen)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parietal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(oxyntic </a:t>
            </a:r>
            <a:r>
              <a:rPr sz="1800" dirty="0">
                <a:latin typeface="Calibri"/>
                <a:cs typeface="Calibri"/>
              </a:rPr>
              <a:t>)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cells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30936" y="4672647"/>
            <a:ext cx="2232660" cy="1653539"/>
            <a:chOff x="630936" y="4672647"/>
            <a:chExt cx="2232660" cy="1653539"/>
          </a:xfrm>
        </p:grpSpPr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30936" y="4672647"/>
              <a:ext cx="2232533" cy="165328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69263" y="5251703"/>
              <a:ext cx="1415541" cy="55910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93420" y="4741163"/>
              <a:ext cx="2103120" cy="1481455"/>
            </a:xfrm>
            <a:custGeom>
              <a:avLst/>
              <a:gdLst/>
              <a:ahLst/>
              <a:cxnLst/>
              <a:rect l="l" t="t" r="r" b="b"/>
              <a:pathLst>
                <a:path w="2103120" h="1481454">
                  <a:moveTo>
                    <a:pt x="1289558" y="0"/>
                  </a:moveTo>
                  <a:lnTo>
                    <a:pt x="1289558" y="503682"/>
                  </a:lnTo>
                  <a:lnTo>
                    <a:pt x="0" y="503682"/>
                  </a:lnTo>
                  <a:lnTo>
                    <a:pt x="0" y="977671"/>
                  </a:lnTo>
                  <a:lnTo>
                    <a:pt x="1289558" y="977671"/>
                  </a:lnTo>
                  <a:lnTo>
                    <a:pt x="1289558" y="1481328"/>
                  </a:lnTo>
                  <a:lnTo>
                    <a:pt x="2103120" y="740664"/>
                  </a:lnTo>
                  <a:lnTo>
                    <a:pt x="1289558" y="0"/>
                  </a:lnTo>
                  <a:close/>
                </a:path>
              </a:pathLst>
            </a:custGeom>
            <a:solidFill>
              <a:srgbClr val="A7A7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3420" y="4741163"/>
              <a:ext cx="2103120" cy="1481455"/>
            </a:xfrm>
            <a:custGeom>
              <a:avLst/>
              <a:gdLst/>
              <a:ahLst/>
              <a:cxnLst/>
              <a:rect l="l" t="t" r="r" b="b"/>
              <a:pathLst>
                <a:path w="2103120" h="1481454">
                  <a:moveTo>
                    <a:pt x="0" y="503682"/>
                  </a:moveTo>
                  <a:lnTo>
                    <a:pt x="1289558" y="503682"/>
                  </a:lnTo>
                  <a:lnTo>
                    <a:pt x="1289558" y="0"/>
                  </a:lnTo>
                  <a:lnTo>
                    <a:pt x="2103120" y="740664"/>
                  </a:lnTo>
                  <a:lnTo>
                    <a:pt x="1289558" y="1481328"/>
                  </a:lnTo>
                  <a:lnTo>
                    <a:pt x="1289558" y="977671"/>
                  </a:lnTo>
                  <a:lnTo>
                    <a:pt x="0" y="977671"/>
                  </a:lnTo>
                  <a:lnTo>
                    <a:pt x="0" y="503682"/>
                  </a:lnTo>
                  <a:close/>
                </a:path>
              </a:pathLst>
            </a:custGeom>
            <a:ln w="396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137919" y="5317058"/>
            <a:ext cx="10877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8-9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months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630167" y="4566184"/>
            <a:ext cx="3204845" cy="1869439"/>
            <a:chOff x="3630167" y="4566184"/>
            <a:chExt cx="3204845" cy="1869439"/>
          </a:xfrm>
        </p:grpSpPr>
        <p:pic>
          <p:nvPicPr>
            <p:cNvPr id="34" name="object 3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758549" y="4566184"/>
              <a:ext cx="2947954" cy="1869133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630167" y="5114543"/>
              <a:ext cx="3204717" cy="833437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811523" y="4597907"/>
              <a:ext cx="2847340" cy="1767839"/>
            </a:xfrm>
            <a:custGeom>
              <a:avLst/>
              <a:gdLst/>
              <a:ahLst/>
              <a:cxnLst/>
              <a:rect l="l" t="t" r="r" b="b"/>
              <a:pathLst>
                <a:path w="2847340" h="1767839">
                  <a:moveTo>
                    <a:pt x="2846831" y="0"/>
                  </a:moveTo>
                  <a:lnTo>
                    <a:pt x="0" y="0"/>
                  </a:lnTo>
                  <a:lnTo>
                    <a:pt x="0" y="1767839"/>
                  </a:lnTo>
                  <a:lnTo>
                    <a:pt x="2846831" y="1767839"/>
                  </a:lnTo>
                  <a:lnTo>
                    <a:pt x="2846831" y="0"/>
                  </a:lnTo>
                  <a:close/>
                </a:path>
              </a:pathLst>
            </a:custGeom>
            <a:solidFill>
              <a:srgbClr val="A7A7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11523" y="4597907"/>
              <a:ext cx="2847340" cy="1767839"/>
            </a:xfrm>
            <a:custGeom>
              <a:avLst/>
              <a:gdLst/>
              <a:ahLst/>
              <a:cxnLst/>
              <a:rect l="l" t="t" r="r" b="b"/>
              <a:pathLst>
                <a:path w="2847340" h="1767839">
                  <a:moveTo>
                    <a:pt x="0" y="1767839"/>
                  </a:moveTo>
                  <a:lnTo>
                    <a:pt x="2846831" y="1767839"/>
                  </a:lnTo>
                  <a:lnTo>
                    <a:pt x="2846831" y="0"/>
                  </a:lnTo>
                  <a:lnTo>
                    <a:pt x="0" y="0"/>
                  </a:lnTo>
                  <a:lnTo>
                    <a:pt x="0" y="1767839"/>
                  </a:lnTo>
                  <a:close/>
                </a:path>
              </a:pathLst>
            </a:custGeom>
            <a:ln w="3962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811523" y="4597908"/>
            <a:ext cx="2847340" cy="1177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glands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become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functional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and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Calibri"/>
                <a:cs typeface="Calibri"/>
              </a:rPr>
              <a:t>secret</a:t>
            </a:r>
            <a:r>
              <a:rPr lang="en-US" sz="1800" spc="-5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HCl </a:t>
            </a:r>
            <a:r>
              <a:rPr sz="1800" spc="-5" dirty="0">
                <a:latin typeface="Calibri"/>
                <a:cs typeface="Calibri"/>
              </a:rPr>
              <a:t>and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enzymes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9973" y="499315"/>
            <a:ext cx="8141970" cy="6270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0" spc="-5" dirty="0"/>
              <a:t>position</a:t>
            </a:r>
            <a:r>
              <a:rPr sz="4000" spc="20" dirty="0"/>
              <a:t> </a:t>
            </a:r>
            <a:r>
              <a:rPr sz="4000" spc="-5" dirty="0"/>
              <a:t>adjustment</a:t>
            </a:r>
            <a:r>
              <a:rPr sz="4000" spc="25" dirty="0"/>
              <a:t> </a:t>
            </a:r>
            <a:r>
              <a:rPr sz="4000" spc="-5" dirty="0"/>
              <a:t>of</a:t>
            </a:r>
            <a:r>
              <a:rPr sz="4000" spc="-20" dirty="0"/>
              <a:t> </a:t>
            </a:r>
            <a:r>
              <a:rPr sz="4000" spc="-10" dirty="0"/>
              <a:t>the</a:t>
            </a:r>
            <a:r>
              <a:rPr sz="4000" spc="15" dirty="0"/>
              <a:t> </a:t>
            </a:r>
            <a:r>
              <a:rPr sz="4000" spc="-5" dirty="0"/>
              <a:t>stomach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524" y="1199514"/>
            <a:ext cx="3239135" cy="48323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94945" marR="139700" indent="-182880" algn="just">
              <a:lnSpc>
                <a:spcPct val="99600"/>
              </a:lnSpc>
              <a:spcBef>
                <a:spcPts val="110"/>
              </a:spcBef>
              <a:buFont typeface="Arial MT"/>
              <a:buChar char="•"/>
              <a:tabLst>
                <a:tab pos="195580" algn="l"/>
              </a:tabLst>
            </a:pPr>
            <a:r>
              <a:rPr lang="en-US" sz="1700" spc="-5" dirty="0">
                <a:solidFill>
                  <a:srgbClr val="9A403D"/>
                </a:solidFill>
                <a:latin typeface="Calibri"/>
                <a:cs typeface="Calibri"/>
              </a:rPr>
              <a:t>D</a:t>
            </a:r>
            <a:r>
              <a:rPr sz="1700" spc="-5" dirty="0">
                <a:solidFill>
                  <a:srgbClr val="9A403D"/>
                </a:solidFill>
                <a:latin typeface="Calibri"/>
                <a:cs typeface="Calibri"/>
              </a:rPr>
              <a:t>escent</a:t>
            </a:r>
            <a:r>
              <a:rPr sz="1700" spc="-5" dirty="0">
                <a:latin typeface="Calibri"/>
                <a:cs typeface="Calibri"/>
              </a:rPr>
              <a:t>: due </a:t>
            </a:r>
            <a:r>
              <a:rPr sz="1700" dirty="0">
                <a:latin typeface="Calibri"/>
                <a:cs typeface="Calibri"/>
              </a:rPr>
              <a:t>to </a:t>
            </a:r>
            <a:r>
              <a:rPr sz="1700" spc="-5" dirty="0">
                <a:latin typeface="Calibri"/>
                <a:cs typeface="Calibri"/>
              </a:rPr>
              <a:t>rapid </a:t>
            </a:r>
            <a:r>
              <a:rPr sz="1700" spc="-10" dirty="0">
                <a:latin typeface="Calibri"/>
                <a:cs typeface="Calibri"/>
              </a:rPr>
              <a:t>elongation 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of </a:t>
            </a:r>
            <a:r>
              <a:rPr sz="1700" dirty="0">
                <a:latin typeface="Calibri"/>
                <a:cs typeface="Calibri"/>
              </a:rPr>
              <a:t>the </a:t>
            </a:r>
            <a:r>
              <a:rPr sz="1700" spc="-10" dirty="0">
                <a:latin typeface="Calibri"/>
                <a:cs typeface="Calibri"/>
              </a:rPr>
              <a:t>esophagus </a:t>
            </a:r>
            <a:r>
              <a:rPr sz="1700" dirty="0">
                <a:latin typeface="Calibri"/>
                <a:cs typeface="Calibri"/>
              </a:rPr>
              <a:t>the </a:t>
            </a:r>
            <a:r>
              <a:rPr sz="1700" spc="-5" dirty="0">
                <a:latin typeface="Calibri"/>
                <a:cs typeface="Calibri"/>
              </a:rPr>
              <a:t>cardiac end </a:t>
            </a:r>
            <a:r>
              <a:rPr sz="1700" spc="-37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of </a:t>
            </a:r>
            <a:r>
              <a:rPr sz="1700" dirty="0">
                <a:latin typeface="Calibri"/>
                <a:cs typeface="Calibri"/>
              </a:rPr>
              <a:t>the stomach </a:t>
            </a:r>
            <a:r>
              <a:rPr sz="1700" spc="-5" dirty="0">
                <a:latin typeface="Calibri"/>
                <a:cs typeface="Calibri"/>
              </a:rPr>
              <a:t>descend from C2 </a:t>
            </a:r>
            <a:r>
              <a:rPr sz="1700" spc="-3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at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4</a:t>
            </a:r>
            <a:r>
              <a:rPr sz="1700" spc="2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week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T11</a:t>
            </a:r>
            <a:r>
              <a:rPr sz="1700" spc="-5" dirty="0">
                <a:latin typeface="Calibri"/>
                <a:cs typeface="Calibri"/>
              </a:rPr>
              <a:t> at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12</a:t>
            </a:r>
            <a:r>
              <a:rPr sz="1700" spc="-5" dirty="0">
                <a:latin typeface="Calibri"/>
                <a:cs typeface="Calibri"/>
              </a:rPr>
              <a:t> weeks</a:t>
            </a:r>
            <a:endParaRPr sz="1700" dirty="0">
              <a:latin typeface="Calibri"/>
              <a:cs typeface="Calibri"/>
            </a:endParaRPr>
          </a:p>
          <a:p>
            <a:pPr marL="194945" marR="5080" indent="-182880">
              <a:lnSpc>
                <a:spcPct val="99700"/>
              </a:lnSpc>
              <a:spcBef>
                <a:spcPts val="420"/>
              </a:spcBef>
              <a:buFont typeface="Arial MT"/>
              <a:buChar char="•"/>
              <a:tabLst>
                <a:tab pos="195580" algn="l"/>
              </a:tabLst>
            </a:pPr>
            <a:r>
              <a:rPr sz="1700" spc="-5" dirty="0">
                <a:solidFill>
                  <a:schemeClr val="accent2">
                    <a:lumMod val="75000"/>
                  </a:schemeClr>
                </a:solidFill>
                <a:latin typeface="Calibri"/>
                <a:cs typeface="Calibri"/>
              </a:rPr>
              <a:t>Tilting</a:t>
            </a:r>
            <a:r>
              <a:rPr sz="1700" spc="-5" dirty="0">
                <a:solidFill>
                  <a:srgbClr val="9A403D"/>
                </a:solidFill>
                <a:latin typeface="Calibri"/>
                <a:cs typeface="Calibri"/>
              </a:rPr>
              <a:t>:</a:t>
            </a:r>
            <a:r>
              <a:rPr sz="1700" spc="-5" dirty="0">
                <a:latin typeface="Calibri"/>
                <a:cs typeface="Calibri"/>
              </a:rPr>
              <a:t>from </a:t>
            </a:r>
            <a:r>
              <a:rPr sz="1700" dirty="0">
                <a:latin typeface="Calibri"/>
                <a:cs typeface="Calibri"/>
              </a:rPr>
              <a:t>a vertical </a:t>
            </a:r>
            <a:r>
              <a:rPr sz="1700" spc="-5" dirty="0">
                <a:latin typeface="Calibri"/>
                <a:cs typeface="Calibri"/>
              </a:rPr>
              <a:t>position </a:t>
            </a:r>
            <a:r>
              <a:rPr sz="1700" dirty="0">
                <a:latin typeface="Calibri"/>
                <a:cs typeface="Calibri"/>
              </a:rPr>
              <a:t>at 4 </a:t>
            </a:r>
            <a:r>
              <a:rPr sz="1700" spc="-37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weeks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</a:t>
            </a:r>
            <a:r>
              <a:rPr sz="1700" spc="-10" dirty="0">
                <a:latin typeface="Calibri"/>
                <a:cs typeface="Calibri"/>
              </a:rPr>
              <a:t> oblique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position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by </a:t>
            </a:r>
            <a:r>
              <a:rPr sz="1700" dirty="0">
                <a:latin typeface="Calibri"/>
                <a:cs typeface="Calibri"/>
              </a:rPr>
              <a:t>8 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weeks rotation around </a:t>
            </a:r>
            <a:r>
              <a:rPr sz="1700" dirty="0">
                <a:latin typeface="Calibri"/>
                <a:cs typeface="Calibri"/>
              </a:rPr>
              <a:t>(antero- 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posterior axis) due </a:t>
            </a:r>
            <a:r>
              <a:rPr sz="1700" dirty="0">
                <a:latin typeface="Calibri"/>
                <a:cs typeface="Calibri"/>
              </a:rPr>
              <a:t>to </a:t>
            </a:r>
            <a:r>
              <a:rPr sz="1700" spc="-5" dirty="0">
                <a:latin typeface="Calibri"/>
                <a:cs typeface="Calibri"/>
              </a:rPr>
              <a:t>more rapid 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growth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 </a:t>
            </a:r>
            <a:r>
              <a:rPr sz="1700" spc="-10" dirty="0">
                <a:latin typeface="Calibri"/>
                <a:cs typeface="Calibri"/>
              </a:rPr>
              <a:t>long</a:t>
            </a:r>
            <a:r>
              <a:rPr sz="1700" spc="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grater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curvature</a:t>
            </a:r>
          </a:p>
          <a:p>
            <a:pPr marL="194945" marR="37465" indent="-182880">
              <a:lnSpc>
                <a:spcPct val="99800"/>
              </a:lnSpc>
              <a:spcBef>
                <a:spcPts val="390"/>
              </a:spcBef>
              <a:buFont typeface="Arial MT"/>
              <a:buChar char="•"/>
              <a:tabLst>
                <a:tab pos="195580" algn="l"/>
              </a:tabLst>
            </a:pPr>
            <a:r>
              <a:rPr lang="en-US" sz="1700" spc="-5" dirty="0">
                <a:solidFill>
                  <a:srgbClr val="9A403D"/>
                </a:solidFill>
                <a:latin typeface="Calibri"/>
                <a:cs typeface="Calibri"/>
              </a:rPr>
              <a:t>R</a:t>
            </a:r>
            <a:r>
              <a:rPr sz="1700" spc="-5" dirty="0">
                <a:solidFill>
                  <a:srgbClr val="9A403D"/>
                </a:solidFill>
                <a:latin typeface="Calibri"/>
                <a:cs typeface="Calibri"/>
              </a:rPr>
              <a:t>otation</a:t>
            </a:r>
            <a:r>
              <a:rPr sz="1700" spc="-5" dirty="0">
                <a:latin typeface="Calibri"/>
                <a:cs typeface="Calibri"/>
              </a:rPr>
              <a:t>:90 clockwise around its 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longitudinal </a:t>
            </a:r>
            <a:r>
              <a:rPr sz="1700" dirty="0">
                <a:latin typeface="Calibri"/>
                <a:cs typeface="Calibri"/>
              </a:rPr>
              <a:t>axis (vertical axis ) 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causing its left side </a:t>
            </a:r>
            <a:r>
              <a:rPr sz="1700" dirty="0">
                <a:latin typeface="Calibri"/>
                <a:cs typeface="Calibri"/>
              </a:rPr>
              <a:t>to face 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anteriorly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and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its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right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side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 face </a:t>
            </a:r>
            <a:r>
              <a:rPr sz="1700" spc="-37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posteriorly(left vagus nerve 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innervate anterior wall and right 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one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innervate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posterior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wall)</a:t>
            </a:r>
            <a:endParaRPr sz="1700" dirty="0">
              <a:latin typeface="Calibri"/>
              <a:cs typeface="Calibri"/>
            </a:endParaRPr>
          </a:p>
          <a:p>
            <a:pPr marL="194945" marR="346710" indent="-182880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195580" algn="l"/>
              </a:tabLst>
            </a:pPr>
            <a:r>
              <a:rPr lang="en-US" sz="1700" spc="-5" dirty="0">
                <a:solidFill>
                  <a:srgbClr val="9A403D"/>
                </a:solidFill>
                <a:latin typeface="Calibri"/>
                <a:cs typeface="Calibri"/>
              </a:rPr>
              <a:t>S</a:t>
            </a:r>
            <a:r>
              <a:rPr sz="1700" spc="-5" dirty="0">
                <a:solidFill>
                  <a:srgbClr val="9A403D"/>
                </a:solidFill>
                <a:latin typeface="Calibri"/>
                <a:cs typeface="Calibri"/>
              </a:rPr>
              <a:t>hift</a:t>
            </a:r>
            <a:r>
              <a:rPr sz="1700" spc="-35" dirty="0">
                <a:solidFill>
                  <a:srgbClr val="9A403D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9A403D"/>
                </a:solidFill>
                <a:latin typeface="Calibri"/>
                <a:cs typeface="Calibri"/>
              </a:rPr>
              <a:t>to</a:t>
            </a:r>
            <a:r>
              <a:rPr sz="1700" spc="-15" dirty="0">
                <a:solidFill>
                  <a:srgbClr val="9A403D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9A403D"/>
                </a:solidFill>
                <a:latin typeface="Calibri"/>
                <a:cs typeface="Calibri"/>
              </a:rPr>
              <a:t>the</a:t>
            </a:r>
            <a:r>
              <a:rPr sz="1700" spc="-45" dirty="0">
                <a:solidFill>
                  <a:srgbClr val="9A403D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9A403D"/>
                </a:solidFill>
                <a:latin typeface="Calibri"/>
                <a:cs typeface="Calibri"/>
              </a:rPr>
              <a:t>left</a:t>
            </a:r>
            <a:r>
              <a:rPr sz="1700" spc="-15" dirty="0">
                <a:solidFill>
                  <a:srgbClr val="9A403D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both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dorsal </a:t>
            </a:r>
            <a:r>
              <a:rPr sz="1700" spc="-37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mesentery</a:t>
            </a:r>
            <a:r>
              <a:rPr sz="1700" spc="-8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and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stomach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479028" y="6428638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78787"/>
                </a:solidFill>
                <a:latin typeface="Calibri"/>
                <a:cs typeface="Calibri"/>
              </a:rPr>
              <a:t>26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67328" y="1761744"/>
            <a:ext cx="5376671" cy="474573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1866" y="129667"/>
            <a:ext cx="8350250" cy="22269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19710" indent="-207645" algn="just">
              <a:lnSpc>
                <a:spcPct val="100000"/>
              </a:lnSpc>
              <a:spcBef>
                <a:spcPts val="120"/>
              </a:spcBef>
              <a:buFont typeface="Arial MT"/>
              <a:buChar char="•"/>
              <a:tabLst>
                <a:tab pos="220345" algn="l"/>
              </a:tabLst>
            </a:pPr>
            <a:r>
              <a:rPr sz="1900" spc="5" dirty="0">
                <a:latin typeface="Calibri"/>
                <a:cs typeface="Calibri"/>
              </a:rPr>
              <a:t>stomach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develop into</a:t>
            </a:r>
            <a:r>
              <a:rPr sz="1900" spc="5" dirty="0">
                <a:latin typeface="Calibri"/>
                <a:cs typeface="Calibri"/>
              </a:rPr>
              <a:t> septum transversum</a:t>
            </a:r>
            <a:r>
              <a:rPr sz="1900" spc="5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and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has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ventral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and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dorsal</a:t>
            </a:r>
            <a:r>
              <a:rPr sz="1900" spc="40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mesentery</a:t>
            </a:r>
            <a:endParaRPr sz="1900" dirty="0">
              <a:latin typeface="Calibri"/>
              <a:cs typeface="Calibri"/>
            </a:endParaRPr>
          </a:p>
          <a:p>
            <a:pPr marL="219710" algn="just">
              <a:lnSpc>
                <a:spcPct val="100000"/>
              </a:lnSpc>
              <a:spcBef>
                <a:spcPts val="25"/>
              </a:spcBef>
            </a:pPr>
            <a:r>
              <a:rPr sz="1900" dirty="0">
                <a:latin typeface="Calibri"/>
                <a:cs typeface="Calibri"/>
              </a:rPr>
              <a:t>its </a:t>
            </a:r>
            <a:r>
              <a:rPr sz="1900" spc="5" dirty="0">
                <a:latin typeface="Calibri"/>
                <a:cs typeface="Calibri"/>
              </a:rPr>
              <a:t>rotation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and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differential</a:t>
            </a:r>
            <a:r>
              <a:rPr sz="1900" spc="4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growth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alter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position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of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these </a:t>
            </a:r>
            <a:r>
              <a:rPr sz="1900" spc="5" dirty="0">
                <a:latin typeface="Calibri"/>
                <a:cs typeface="Calibri"/>
              </a:rPr>
              <a:t>mesenteries</a:t>
            </a:r>
            <a:endParaRPr sz="1900" dirty="0">
              <a:latin typeface="Calibri"/>
              <a:cs typeface="Calibri"/>
            </a:endParaRPr>
          </a:p>
          <a:p>
            <a:pPr marL="219710" indent="-207645" algn="just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220345" algn="l"/>
              </a:tabLst>
            </a:pPr>
            <a:r>
              <a:rPr sz="1900" spc="5" dirty="0">
                <a:latin typeface="Calibri"/>
                <a:cs typeface="Calibri"/>
              </a:rPr>
              <a:t>rotation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around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longitudinal</a:t>
            </a:r>
            <a:r>
              <a:rPr sz="1900" spc="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axis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pulls</a:t>
            </a:r>
            <a:r>
              <a:rPr sz="1900" spc="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dorsal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mesogastrium</a:t>
            </a:r>
            <a:r>
              <a:rPr sz="1900" spc="4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to the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left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create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a</a:t>
            </a:r>
            <a:endParaRPr sz="1900" dirty="0">
              <a:latin typeface="Calibri"/>
              <a:cs typeface="Calibri"/>
            </a:endParaRPr>
          </a:p>
          <a:p>
            <a:pPr marL="219710" algn="just">
              <a:lnSpc>
                <a:spcPct val="100000"/>
              </a:lnSpc>
              <a:spcBef>
                <a:spcPts val="25"/>
              </a:spcBef>
            </a:pPr>
            <a:r>
              <a:rPr sz="1900" dirty="0">
                <a:latin typeface="Calibri"/>
                <a:cs typeface="Calibri"/>
              </a:rPr>
              <a:t>space</a:t>
            </a:r>
            <a:r>
              <a:rPr sz="1900" spc="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behind</a:t>
            </a:r>
            <a:r>
              <a:rPr sz="1900" spc="5" dirty="0">
                <a:latin typeface="Calibri"/>
                <a:cs typeface="Calibri"/>
              </a:rPr>
              <a:t> (</a:t>
            </a:r>
            <a:r>
              <a:rPr sz="1900" b="1" spc="5" dirty="0">
                <a:latin typeface="Calibri"/>
                <a:cs typeface="Calibri"/>
              </a:rPr>
              <a:t>omental</a:t>
            </a:r>
            <a:r>
              <a:rPr sz="1900" b="1" spc="15" dirty="0">
                <a:latin typeface="Calibri"/>
                <a:cs typeface="Calibri"/>
              </a:rPr>
              <a:t> </a:t>
            </a:r>
            <a:r>
              <a:rPr sz="1900" b="1" spc="5" dirty="0">
                <a:latin typeface="Calibri"/>
                <a:cs typeface="Calibri"/>
              </a:rPr>
              <a:t>bursa)</a:t>
            </a:r>
            <a:r>
              <a:rPr sz="1900" b="1" spc="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also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pulls</a:t>
            </a:r>
            <a:r>
              <a:rPr sz="1900" spc="4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ventral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mesentery</a:t>
            </a:r>
            <a:r>
              <a:rPr sz="1900" spc="5" dirty="0">
                <a:latin typeface="Calibri"/>
                <a:cs typeface="Calibri"/>
              </a:rPr>
              <a:t> to</a:t>
            </a:r>
            <a:r>
              <a:rPr sz="1900" spc="10" dirty="0">
                <a:latin typeface="Calibri"/>
                <a:cs typeface="Calibri"/>
              </a:rPr>
              <a:t> the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right</a:t>
            </a:r>
          </a:p>
          <a:p>
            <a:pPr marL="219710" indent="-207645" algn="just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220345" algn="l"/>
              </a:tabLst>
            </a:pPr>
            <a:r>
              <a:rPr sz="1900" dirty="0">
                <a:latin typeface="Calibri"/>
                <a:cs typeface="Calibri"/>
              </a:rPr>
              <a:t>at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5th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week</a:t>
            </a:r>
            <a:r>
              <a:rPr sz="1900" dirty="0">
                <a:latin typeface="Calibri"/>
                <a:cs typeface="Calibri"/>
              </a:rPr>
              <a:t> spleen</a:t>
            </a:r>
            <a:r>
              <a:rPr sz="1900" spc="45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and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pancreas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primordium</a:t>
            </a:r>
            <a:r>
              <a:rPr sz="1900" spc="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appear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within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dorsal</a:t>
            </a:r>
            <a:r>
              <a:rPr sz="1900" spc="3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mesogastrium</a:t>
            </a:r>
            <a:endParaRPr sz="1900" dirty="0">
              <a:latin typeface="Calibri"/>
              <a:cs typeface="Calibri"/>
            </a:endParaRPr>
          </a:p>
          <a:p>
            <a:pPr marL="219710" indent="-207645" algn="just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220345" algn="l"/>
              </a:tabLst>
            </a:pPr>
            <a:r>
              <a:rPr sz="1900" spc="5" dirty="0">
                <a:latin typeface="Calibri"/>
                <a:cs typeface="Calibri"/>
              </a:rPr>
              <a:t>rotation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around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anteroposterior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axis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bulges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downed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form</a:t>
            </a:r>
            <a:r>
              <a:rPr sz="1900" spc="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double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layered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sac</a:t>
            </a:r>
          </a:p>
          <a:p>
            <a:pPr marL="219710" algn="just">
              <a:lnSpc>
                <a:spcPct val="100000"/>
              </a:lnSpc>
              <a:spcBef>
                <a:spcPts val="25"/>
              </a:spcBef>
            </a:pPr>
            <a:r>
              <a:rPr sz="1900" spc="10" dirty="0">
                <a:latin typeface="Calibri"/>
                <a:cs typeface="Calibri"/>
              </a:rPr>
              <a:t>extend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over transverse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colon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and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small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intestine</a:t>
            </a:r>
            <a:r>
              <a:rPr sz="1900" dirty="0">
                <a:latin typeface="Calibri"/>
                <a:cs typeface="Calibri"/>
              </a:rPr>
              <a:t> loops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called</a:t>
            </a:r>
            <a:r>
              <a:rPr sz="1900" spc="70" dirty="0">
                <a:latin typeface="Calibri"/>
                <a:cs typeface="Calibri"/>
              </a:rPr>
              <a:t> </a:t>
            </a:r>
            <a:r>
              <a:rPr sz="1900" b="1" spc="5" dirty="0">
                <a:latin typeface="Calibri"/>
                <a:cs typeface="Calibri"/>
              </a:rPr>
              <a:t>greater</a:t>
            </a:r>
            <a:r>
              <a:rPr sz="1900" b="1" spc="10" dirty="0">
                <a:latin typeface="Calibri"/>
                <a:cs typeface="Calibri"/>
              </a:rPr>
              <a:t> omentum</a:t>
            </a:r>
            <a:endParaRPr sz="1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79028" y="6428638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78787"/>
                </a:solidFill>
                <a:latin typeface="Calibri"/>
                <a:cs typeface="Calibri"/>
              </a:rPr>
              <a:t>27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312" y="2383535"/>
            <a:ext cx="8458200" cy="415137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79028" y="6428638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78787"/>
                </a:solidFill>
                <a:latin typeface="Calibri"/>
                <a:cs typeface="Calibri"/>
              </a:rPr>
              <a:t>28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9246" y="1284521"/>
            <a:ext cx="7119367" cy="439999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524" y="273507"/>
            <a:ext cx="8128000" cy="15881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400"/>
              </a:lnSpc>
              <a:spcBef>
                <a:spcPts val="105"/>
              </a:spcBef>
              <a:buFont typeface="Arial MT"/>
              <a:buChar char="•"/>
              <a:tabLst>
                <a:tab pos="286385" algn="l"/>
                <a:tab pos="287020" algn="l"/>
              </a:tabLst>
            </a:pPr>
            <a:r>
              <a:rPr sz="2550" spc="5" dirty="0">
                <a:latin typeface="Calibri"/>
                <a:cs typeface="Calibri"/>
              </a:rPr>
              <a:t>liver </a:t>
            </a:r>
            <a:r>
              <a:rPr sz="2550" dirty="0">
                <a:latin typeface="Calibri"/>
                <a:cs typeface="Calibri"/>
              </a:rPr>
              <a:t>cords grow </a:t>
            </a:r>
            <a:r>
              <a:rPr sz="2550" spc="5" dirty="0">
                <a:latin typeface="Calibri"/>
                <a:cs typeface="Calibri"/>
              </a:rPr>
              <a:t>into the </a:t>
            </a:r>
            <a:r>
              <a:rPr sz="2550" dirty="0">
                <a:latin typeface="Calibri"/>
                <a:cs typeface="Calibri"/>
              </a:rPr>
              <a:t>septum transversum </a:t>
            </a:r>
            <a:r>
              <a:rPr sz="2550" spc="5" dirty="0">
                <a:latin typeface="Calibri"/>
                <a:cs typeface="Calibri"/>
              </a:rPr>
              <a:t>septum thins </a:t>
            </a:r>
            <a:r>
              <a:rPr sz="2550" spc="-565" dirty="0">
                <a:latin typeface="Calibri"/>
                <a:cs typeface="Calibri"/>
              </a:rPr>
              <a:t> </a:t>
            </a:r>
            <a:r>
              <a:rPr sz="2550" spc="5" dirty="0">
                <a:latin typeface="Calibri"/>
                <a:cs typeface="Calibri"/>
              </a:rPr>
              <a:t>to </a:t>
            </a:r>
            <a:r>
              <a:rPr sz="2550" dirty="0">
                <a:latin typeface="Calibri"/>
                <a:cs typeface="Calibri"/>
              </a:rPr>
              <a:t>form peritoneum of </a:t>
            </a:r>
            <a:r>
              <a:rPr sz="2550" spc="5" dirty="0">
                <a:latin typeface="Calibri"/>
                <a:cs typeface="Calibri"/>
              </a:rPr>
              <a:t>the </a:t>
            </a:r>
            <a:r>
              <a:rPr sz="2550" dirty="0">
                <a:latin typeface="Calibri"/>
                <a:cs typeface="Calibri"/>
              </a:rPr>
              <a:t>liver, </a:t>
            </a:r>
            <a:r>
              <a:rPr sz="2550" spc="5" dirty="0">
                <a:latin typeface="Calibri"/>
                <a:cs typeface="Calibri"/>
              </a:rPr>
              <a:t>falciform </a:t>
            </a:r>
            <a:r>
              <a:rPr sz="2550" dirty="0">
                <a:latin typeface="Calibri"/>
                <a:cs typeface="Calibri"/>
              </a:rPr>
              <a:t>ligament, </a:t>
            </a:r>
            <a:r>
              <a:rPr sz="2550" spc="5" dirty="0">
                <a:latin typeface="Calibri"/>
                <a:cs typeface="Calibri"/>
              </a:rPr>
              <a:t>lesser </a:t>
            </a:r>
            <a:r>
              <a:rPr sz="2550" spc="10" dirty="0">
                <a:latin typeface="Calibri"/>
                <a:cs typeface="Calibri"/>
              </a:rPr>
              <a:t> </a:t>
            </a:r>
            <a:r>
              <a:rPr sz="2550" dirty="0">
                <a:latin typeface="Calibri"/>
                <a:cs typeface="Calibri"/>
              </a:rPr>
              <a:t>omentum,</a:t>
            </a:r>
            <a:r>
              <a:rPr sz="2550" spc="30" dirty="0">
                <a:latin typeface="Calibri"/>
                <a:cs typeface="Calibri"/>
              </a:rPr>
              <a:t> </a:t>
            </a:r>
            <a:r>
              <a:rPr sz="2550" dirty="0">
                <a:latin typeface="Calibri"/>
                <a:cs typeface="Calibri"/>
              </a:rPr>
              <a:t>ligaments teres</a:t>
            </a:r>
            <a:r>
              <a:rPr sz="2550" spc="-25" dirty="0">
                <a:latin typeface="Calibri"/>
                <a:cs typeface="Calibri"/>
              </a:rPr>
              <a:t> </a:t>
            </a:r>
            <a:r>
              <a:rPr sz="2550" dirty="0">
                <a:latin typeface="Calibri"/>
                <a:cs typeface="Calibri"/>
              </a:rPr>
              <a:t>hepatis,</a:t>
            </a:r>
            <a:r>
              <a:rPr sz="2550" spc="5" dirty="0">
                <a:latin typeface="Calibri"/>
                <a:cs typeface="Calibri"/>
              </a:rPr>
              <a:t> </a:t>
            </a:r>
            <a:r>
              <a:rPr sz="2550" dirty="0">
                <a:latin typeface="Calibri"/>
                <a:cs typeface="Calibri"/>
              </a:rPr>
              <a:t>hepatic</a:t>
            </a:r>
            <a:r>
              <a:rPr sz="2550" spc="-10" dirty="0">
                <a:latin typeface="Calibri"/>
                <a:cs typeface="Calibri"/>
              </a:rPr>
              <a:t> </a:t>
            </a:r>
            <a:r>
              <a:rPr sz="2550" dirty="0">
                <a:latin typeface="Calibri"/>
                <a:cs typeface="Calibri"/>
              </a:rPr>
              <a:t>duodenal </a:t>
            </a:r>
            <a:r>
              <a:rPr sz="2550" spc="5" dirty="0">
                <a:latin typeface="Calibri"/>
                <a:cs typeface="Calibri"/>
              </a:rPr>
              <a:t> </a:t>
            </a:r>
            <a:r>
              <a:rPr sz="2550" dirty="0">
                <a:latin typeface="Calibri"/>
                <a:cs typeface="Calibri"/>
              </a:rPr>
              <a:t>ligament</a:t>
            </a:r>
            <a:r>
              <a:rPr sz="2550" spc="-5" dirty="0">
                <a:latin typeface="Calibri"/>
                <a:cs typeface="Calibri"/>
              </a:rPr>
              <a:t> </a:t>
            </a:r>
            <a:r>
              <a:rPr sz="2550" spc="5" dirty="0">
                <a:latin typeface="Calibri"/>
                <a:cs typeface="Calibri"/>
              </a:rPr>
              <a:t>that</a:t>
            </a:r>
            <a:r>
              <a:rPr sz="2550" spc="-5" dirty="0">
                <a:latin typeface="Calibri"/>
                <a:cs typeface="Calibri"/>
              </a:rPr>
              <a:t> </a:t>
            </a:r>
            <a:r>
              <a:rPr sz="2550" dirty="0">
                <a:latin typeface="Calibri"/>
                <a:cs typeface="Calibri"/>
              </a:rPr>
              <a:t>contain portal </a:t>
            </a:r>
            <a:r>
              <a:rPr sz="2550" spc="5" dirty="0">
                <a:latin typeface="Calibri"/>
                <a:cs typeface="Calibri"/>
              </a:rPr>
              <a:t>triad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79028" y="6428638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78787"/>
                </a:solidFill>
                <a:latin typeface="Calibri"/>
                <a:cs typeface="Calibri"/>
              </a:rPr>
              <a:t>29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8109" y="2714319"/>
            <a:ext cx="7370015" cy="369844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453149"/>
            <a:ext cx="6025261" cy="71942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>
                <a:solidFill>
                  <a:srgbClr val="F817CD"/>
                </a:solidFill>
              </a:rPr>
              <a:t>Stomach </a:t>
            </a:r>
            <a:r>
              <a:rPr spc="-5" dirty="0">
                <a:solidFill>
                  <a:srgbClr val="F817CD"/>
                </a:solidFill>
              </a:rPr>
              <a:t>abnormality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524" y="1609420"/>
            <a:ext cx="7936230" cy="2640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6870" algn="l"/>
                <a:tab pos="357505" algn="l"/>
                <a:tab pos="1692275" algn="l"/>
              </a:tabLst>
            </a:pPr>
            <a:r>
              <a:rPr sz="3200" spc="-5" dirty="0">
                <a:latin typeface="Calibri"/>
                <a:cs typeface="Calibri"/>
              </a:rPr>
              <a:t>Pyloric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stenosis:</a:t>
            </a:r>
            <a:r>
              <a:rPr sz="3200" spc="-5" dirty="0">
                <a:latin typeface="Calibri"/>
                <a:cs typeface="Calibri"/>
              </a:rPr>
              <a:t> when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circular,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and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lesser </a:t>
            </a:r>
            <a:r>
              <a:rPr sz="3200" spc="-7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degree	</a:t>
            </a:r>
            <a:r>
              <a:rPr sz="3200" spc="-5" dirty="0">
                <a:latin typeface="Calibri"/>
                <a:cs typeface="Calibri"/>
              </a:rPr>
              <a:t>longitudinal musculature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of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stomach </a:t>
            </a:r>
            <a:r>
              <a:rPr sz="3200" spc="-5" dirty="0">
                <a:latin typeface="Calibri"/>
                <a:cs typeface="Calibri"/>
              </a:rPr>
              <a:t> in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region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of</a:t>
            </a:r>
            <a:r>
              <a:rPr sz="3200" spc="-5" dirty="0">
                <a:latin typeface="Calibri"/>
                <a:cs typeface="Calibri"/>
              </a:rPr>
              <a:t> the </a:t>
            </a:r>
            <a:r>
              <a:rPr sz="3200" spc="-10" dirty="0">
                <a:latin typeface="Calibri"/>
                <a:cs typeface="Calibri"/>
              </a:rPr>
              <a:t>pylorus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hypertrophies.</a:t>
            </a:r>
            <a:endParaRPr sz="32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200" spc="-5" dirty="0">
                <a:latin typeface="Calibri"/>
                <a:cs typeface="Calibri"/>
              </a:rPr>
              <a:t>Duplcation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stomach.</a:t>
            </a:r>
            <a:endParaRPr sz="32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200" spc="-10" dirty="0">
                <a:latin typeface="Calibri"/>
                <a:cs typeface="Calibri"/>
              </a:rPr>
              <a:t>Prepyloric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septum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5558" y="453149"/>
            <a:ext cx="4041242" cy="71942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Duodenum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524" y="1173556"/>
            <a:ext cx="8140700" cy="250888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07645" marR="389890" indent="-195580" algn="just">
              <a:lnSpc>
                <a:spcPct val="91200"/>
              </a:lnSpc>
              <a:spcBef>
                <a:spcPts val="315"/>
              </a:spcBef>
              <a:buFont typeface="Arial MT"/>
              <a:buChar char="•"/>
              <a:tabLst>
                <a:tab pos="208279" algn="l"/>
              </a:tabLst>
            </a:pPr>
            <a:r>
              <a:rPr lang="en-US" spc="10" dirty="0">
                <a:latin typeface="Calibri"/>
                <a:cs typeface="Calibri"/>
              </a:rPr>
              <a:t>D</a:t>
            </a:r>
            <a:r>
              <a:rPr sz="1800" spc="10" dirty="0">
                <a:latin typeface="Calibri"/>
                <a:cs typeface="Calibri"/>
              </a:rPr>
              <a:t>uodenum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derived </a:t>
            </a:r>
            <a:r>
              <a:rPr sz="1800" spc="10" dirty="0">
                <a:latin typeface="Calibri"/>
                <a:cs typeface="Calibri"/>
              </a:rPr>
              <a:t>from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terminal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part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of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foregut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and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the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cephalic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part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of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5" dirty="0">
                <a:latin typeface="Calibri"/>
                <a:cs typeface="Calibri"/>
              </a:rPr>
              <a:t> midgut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and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junction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of</a:t>
            </a:r>
            <a:r>
              <a:rPr sz="1800" dirty="0">
                <a:latin typeface="Calibri"/>
                <a:cs typeface="Calibri"/>
              </a:rPr>
              <a:t> the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two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part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directly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distal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origin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of</a:t>
            </a:r>
            <a:r>
              <a:rPr sz="1800" dirty="0">
                <a:latin typeface="Calibri"/>
                <a:cs typeface="Calibri"/>
              </a:rPr>
              <a:t> the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liver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bud</a:t>
            </a:r>
            <a:endParaRPr sz="1800" dirty="0">
              <a:latin typeface="Calibri"/>
              <a:cs typeface="Calibri"/>
            </a:endParaRPr>
          </a:p>
          <a:p>
            <a:pPr marL="207645" marR="901700" indent="-195580" algn="just">
              <a:lnSpc>
                <a:spcPts val="1970"/>
              </a:lnSpc>
              <a:spcBef>
                <a:spcPts val="440"/>
              </a:spcBef>
              <a:buFont typeface="Arial MT"/>
              <a:buChar char="•"/>
              <a:tabLst>
                <a:tab pos="208279" algn="l"/>
              </a:tabLst>
            </a:pPr>
            <a:r>
              <a:rPr lang="en-US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has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dual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blood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supply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from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foregut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and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midgut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arteries(coeliac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and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sup.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mesenteric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arteries)</a:t>
            </a:r>
            <a:endParaRPr sz="1800" dirty="0">
              <a:latin typeface="Calibri"/>
              <a:cs typeface="Calibri"/>
            </a:endParaRPr>
          </a:p>
          <a:p>
            <a:pPr marL="207645" indent="-195580" algn="just">
              <a:lnSpc>
                <a:spcPts val="2065"/>
              </a:lnSpc>
              <a:spcBef>
                <a:spcPts val="180"/>
              </a:spcBef>
              <a:buFont typeface="Arial MT"/>
              <a:buChar char="•"/>
              <a:tabLst>
                <a:tab pos="208279" algn="l"/>
              </a:tabLst>
            </a:pPr>
            <a:r>
              <a:rPr lang="en-US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riginally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the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midline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later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spc="15" dirty="0">
                <a:latin typeface="Calibri"/>
                <a:cs typeface="Calibri"/>
              </a:rPr>
              <a:t>90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rotate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the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right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and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become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C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shaped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by</a:t>
            </a:r>
            <a:endParaRPr sz="1800" dirty="0">
              <a:latin typeface="Calibri"/>
              <a:cs typeface="Calibri"/>
            </a:endParaRPr>
          </a:p>
          <a:p>
            <a:pPr marL="207645" algn="just">
              <a:lnSpc>
                <a:spcPts val="2065"/>
              </a:lnSpc>
            </a:pPr>
            <a:r>
              <a:rPr sz="1800" dirty="0">
                <a:latin typeface="Calibri"/>
                <a:cs typeface="Calibri"/>
              </a:rPr>
              <a:t>differential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growth</a:t>
            </a:r>
            <a:endParaRPr sz="1800" dirty="0">
              <a:latin typeface="Calibri"/>
              <a:cs typeface="Calibri"/>
            </a:endParaRPr>
          </a:p>
          <a:p>
            <a:pPr marL="259079" indent="-247015" algn="just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259079" algn="l"/>
                <a:tab pos="259715" algn="l"/>
              </a:tabLst>
            </a:pPr>
            <a:r>
              <a:rPr sz="1800" spc="5" dirty="0">
                <a:latin typeface="Calibri"/>
                <a:cs typeface="Calibri"/>
              </a:rPr>
              <a:t>Gives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rise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the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liver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and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pancreatic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buds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from</a:t>
            </a:r>
            <a:r>
              <a:rPr sz="1800" dirty="0">
                <a:latin typeface="Calibri"/>
                <a:cs typeface="Calibri"/>
              </a:rPr>
              <a:t> distal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foregut.</a:t>
            </a:r>
            <a:endParaRPr sz="1800" dirty="0">
              <a:latin typeface="Calibri"/>
              <a:cs typeface="Calibri"/>
            </a:endParaRPr>
          </a:p>
          <a:p>
            <a:pPr marL="207645" indent="-195580" algn="just">
              <a:lnSpc>
                <a:spcPct val="100000"/>
              </a:lnSpc>
              <a:spcBef>
                <a:spcPts val="195"/>
              </a:spcBef>
              <a:buFont typeface="Arial MT"/>
              <a:buChar char="•"/>
              <a:tabLst>
                <a:tab pos="208279" algn="l"/>
              </a:tabLst>
            </a:pPr>
            <a:r>
              <a:rPr lang="en-US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t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losses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its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mesentery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and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became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secondarily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retroperitoneal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except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duodenal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cap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79028" y="6428638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78787"/>
                </a:solidFill>
                <a:latin typeface="Calibri"/>
                <a:cs typeface="Calibri"/>
              </a:rPr>
              <a:t>31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3935" y="3642359"/>
            <a:ext cx="5699760" cy="320344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0436" y="0"/>
            <a:ext cx="8122508" cy="630469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629" y="530093"/>
            <a:ext cx="6790055" cy="5655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600" spc="-10" dirty="0"/>
              <a:t>duodenal</a:t>
            </a:r>
            <a:r>
              <a:rPr sz="3600" spc="30" dirty="0"/>
              <a:t> </a:t>
            </a:r>
            <a:r>
              <a:rPr sz="3600" spc="-5" dirty="0"/>
              <a:t>atresia</a:t>
            </a:r>
            <a:r>
              <a:rPr sz="3600" spc="35" dirty="0"/>
              <a:t> </a:t>
            </a:r>
            <a:r>
              <a:rPr sz="3600" spc="-5" dirty="0"/>
              <a:t>and</a:t>
            </a:r>
            <a:r>
              <a:rPr sz="3600" spc="15" dirty="0"/>
              <a:t> </a:t>
            </a:r>
            <a:r>
              <a:rPr sz="3600" spc="-5" dirty="0"/>
              <a:t>stenosis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79028" y="6428638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78787"/>
                </a:solidFill>
                <a:latin typeface="Calibri"/>
                <a:cs typeface="Calibri"/>
              </a:rPr>
              <a:t>33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4503" y="1524000"/>
            <a:ext cx="7174992" cy="473659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2438400"/>
            <a:ext cx="7387590" cy="7200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chemeClr val="accent2">
                    <a:lumMod val="75000"/>
                  </a:schemeClr>
                </a:solidFill>
                <a:latin typeface="Comic Sans MS"/>
                <a:cs typeface="Comic Sans MS"/>
              </a:rPr>
              <a:t>Liver</a:t>
            </a:r>
            <a:r>
              <a:rPr spc="-10" dirty="0">
                <a:solidFill>
                  <a:schemeClr val="accent2">
                    <a:lumMod val="75000"/>
                  </a:schemeClr>
                </a:solidFill>
                <a:latin typeface="Comic Sans MS"/>
                <a:cs typeface="Comic Sans MS"/>
              </a:rPr>
              <a:t> </a:t>
            </a:r>
            <a:r>
              <a:rPr spc="-5" dirty="0">
                <a:solidFill>
                  <a:schemeClr val="accent2">
                    <a:lumMod val="75000"/>
                  </a:schemeClr>
                </a:solidFill>
                <a:latin typeface="Comic Sans MS"/>
                <a:cs typeface="Comic Sans MS"/>
              </a:rPr>
              <a:t>and</a:t>
            </a:r>
            <a:r>
              <a:rPr spc="-20" dirty="0">
                <a:solidFill>
                  <a:schemeClr val="accent2">
                    <a:lumMod val="75000"/>
                  </a:schemeClr>
                </a:solidFill>
                <a:latin typeface="Comic Sans MS"/>
                <a:cs typeface="Comic Sans MS"/>
              </a:rPr>
              <a:t> </a:t>
            </a:r>
            <a:r>
              <a:rPr spc="-10" dirty="0">
                <a:solidFill>
                  <a:schemeClr val="accent2">
                    <a:lumMod val="75000"/>
                  </a:schemeClr>
                </a:solidFill>
                <a:latin typeface="Comic Sans MS"/>
                <a:cs typeface="Comic Sans MS"/>
              </a:rPr>
              <a:t>pancreas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6030"/>
            <a:ext cx="9085850" cy="606932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0658" y="218407"/>
            <a:ext cx="8504356" cy="631926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3255" y="218407"/>
            <a:ext cx="8169996" cy="631926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174" y="844509"/>
            <a:ext cx="7738964" cy="525003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4774" y="208700"/>
            <a:ext cx="7738964" cy="603840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060" y="218407"/>
            <a:ext cx="8736953" cy="655222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060" y="0"/>
            <a:ext cx="8635192" cy="6770636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8718" y="465936"/>
            <a:ext cx="7661189" cy="5838763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5" dirty="0"/>
              <a:t>liver</a:t>
            </a:r>
            <a:r>
              <a:rPr spc="-10" dirty="0"/>
              <a:t> </a:t>
            </a:r>
            <a:r>
              <a:rPr spc="-5" dirty="0"/>
              <a:t>and gall</a:t>
            </a:r>
            <a:r>
              <a:rPr spc="15" dirty="0"/>
              <a:t> </a:t>
            </a:r>
            <a:r>
              <a:rPr spc="-10" dirty="0"/>
              <a:t>bladder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524" y="1615820"/>
            <a:ext cx="6670040" cy="7175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6540" indent="-243840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255904" algn="l"/>
                <a:tab pos="256540" algn="l"/>
              </a:tabLst>
            </a:pPr>
            <a:r>
              <a:rPr sz="2250" spc="10" dirty="0">
                <a:latin typeface="Calibri"/>
                <a:cs typeface="Calibri"/>
              </a:rPr>
              <a:t>liver</a:t>
            </a:r>
            <a:r>
              <a:rPr sz="2250" spc="-10" dirty="0">
                <a:latin typeface="Calibri"/>
                <a:cs typeface="Calibri"/>
              </a:rPr>
              <a:t> </a:t>
            </a:r>
            <a:r>
              <a:rPr sz="2250" spc="10" dirty="0">
                <a:latin typeface="Calibri"/>
                <a:cs typeface="Calibri"/>
              </a:rPr>
              <a:t>bud</a:t>
            </a:r>
            <a:r>
              <a:rPr sz="2250" spc="-45" dirty="0">
                <a:latin typeface="Calibri"/>
                <a:cs typeface="Calibri"/>
              </a:rPr>
              <a:t> </a:t>
            </a:r>
            <a:r>
              <a:rPr sz="2250" spc="10" dirty="0">
                <a:latin typeface="Calibri"/>
                <a:cs typeface="Calibri"/>
              </a:rPr>
              <a:t>grows</a:t>
            </a:r>
            <a:r>
              <a:rPr sz="2250" dirty="0">
                <a:latin typeface="Calibri"/>
                <a:cs typeface="Calibri"/>
              </a:rPr>
              <a:t> </a:t>
            </a:r>
            <a:r>
              <a:rPr sz="2250" spc="10" dirty="0">
                <a:latin typeface="Calibri"/>
                <a:cs typeface="Calibri"/>
              </a:rPr>
              <a:t>from</a:t>
            </a:r>
            <a:r>
              <a:rPr sz="2250" spc="-25" dirty="0">
                <a:latin typeface="Calibri"/>
                <a:cs typeface="Calibri"/>
              </a:rPr>
              <a:t> </a:t>
            </a:r>
            <a:r>
              <a:rPr sz="2250" spc="5" dirty="0">
                <a:latin typeface="Calibri"/>
                <a:cs typeface="Calibri"/>
              </a:rPr>
              <a:t>distal</a:t>
            </a:r>
            <a:r>
              <a:rPr sz="2250" spc="-20" dirty="0">
                <a:latin typeface="Calibri"/>
                <a:cs typeface="Calibri"/>
              </a:rPr>
              <a:t> </a:t>
            </a:r>
            <a:r>
              <a:rPr sz="2250" spc="10" dirty="0">
                <a:latin typeface="Calibri"/>
                <a:cs typeface="Calibri"/>
              </a:rPr>
              <a:t>part</a:t>
            </a:r>
            <a:r>
              <a:rPr sz="2250" spc="-25" dirty="0">
                <a:latin typeface="Calibri"/>
                <a:cs typeface="Calibri"/>
              </a:rPr>
              <a:t> </a:t>
            </a:r>
            <a:r>
              <a:rPr sz="2250" spc="10" dirty="0">
                <a:latin typeface="Calibri"/>
                <a:cs typeface="Calibri"/>
              </a:rPr>
              <a:t>of</a:t>
            </a:r>
            <a:r>
              <a:rPr sz="2250" spc="-5" dirty="0">
                <a:latin typeface="Calibri"/>
                <a:cs typeface="Calibri"/>
              </a:rPr>
              <a:t> </a:t>
            </a:r>
            <a:r>
              <a:rPr sz="2250" spc="5" dirty="0">
                <a:latin typeface="Calibri"/>
                <a:cs typeface="Calibri"/>
              </a:rPr>
              <a:t>foregut</a:t>
            </a:r>
            <a:r>
              <a:rPr sz="2250" spc="-40" dirty="0">
                <a:latin typeface="Calibri"/>
                <a:cs typeface="Calibri"/>
              </a:rPr>
              <a:t> </a:t>
            </a:r>
            <a:r>
              <a:rPr sz="2250" spc="10" dirty="0">
                <a:latin typeface="Calibri"/>
                <a:cs typeface="Calibri"/>
              </a:rPr>
              <a:t>into</a:t>
            </a:r>
            <a:r>
              <a:rPr sz="2250" spc="-5" dirty="0">
                <a:latin typeface="Calibri"/>
                <a:cs typeface="Calibri"/>
              </a:rPr>
              <a:t> </a:t>
            </a:r>
            <a:r>
              <a:rPr sz="2250" spc="5" dirty="0">
                <a:latin typeface="Calibri"/>
                <a:cs typeface="Calibri"/>
              </a:rPr>
              <a:t>septum</a:t>
            </a:r>
            <a:endParaRPr sz="2250">
              <a:latin typeface="Calibri"/>
              <a:cs typeface="Calibri"/>
            </a:endParaRPr>
          </a:p>
          <a:p>
            <a:pPr marL="255904">
              <a:lnSpc>
                <a:spcPct val="100000"/>
              </a:lnSpc>
              <a:spcBef>
                <a:spcPts val="10"/>
              </a:spcBef>
            </a:pPr>
            <a:r>
              <a:rPr sz="2250" spc="10" dirty="0">
                <a:latin typeface="Calibri"/>
                <a:cs typeface="Calibri"/>
              </a:rPr>
              <a:t>transversum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79028" y="6428638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78787"/>
                </a:solidFill>
                <a:latin typeface="Calibri"/>
                <a:cs typeface="Calibri"/>
              </a:rPr>
              <a:t>43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5203" y="2864104"/>
            <a:ext cx="6171797" cy="3274568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453149"/>
            <a:ext cx="6762623" cy="71942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5" dirty="0"/>
              <a:t>gall</a:t>
            </a:r>
            <a:r>
              <a:rPr spc="20" dirty="0"/>
              <a:t> </a:t>
            </a:r>
            <a:r>
              <a:rPr spc="-10" dirty="0"/>
              <a:t>bladder</a:t>
            </a:r>
            <a:r>
              <a:rPr spc="10"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10" dirty="0"/>
              <a:t>bile</a:t>
            </a:r>
            <a:r>
              <a:rPr spc="5" dirty="0"/>
              <a:t> </a:t>
            </a:r>
            <a:r>
              <a:rPr spc="-10" dirty="0"/>
              <a:t>duct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79028" y="6428638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78787"/>
                </a:solidFill>
                <a:latin typeface="Calibri"/>
                <a:cs typeface="Calibri"/>
              </a:rPr>
              <a:t>44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465" y="2030092"/>
            <a:ext cx="6868092" cy="2697314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597" y="218407"/>
            <a:ext cx="8853252" cy="631926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4003" y="436815"/>
            <a:ext cx="7588502" cy="5547553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5984" y="538738"/>
            <a:ext cx="6829652" cy="5431069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9463" y="3424593"/>
            <a:ext cx="2874316" cy="53057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58160" y="3192221"/>
            <a:ext cx="287464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5" dirty="0">
                <a:solidFill>
                  <a:srgbClr val="E03E3A"/>
                </a:solidFill>
                <a:latin typeface="Calibri"/>
                <a:cs typeface="Calibri"/>
              </a:rPr>
              <a:t>Good</a:t>
            </a:r>
            <a:r>
              <a:rPr sz="5400" b="1" spc="-80" dirty="0">
                <a:solidFill>
                  <a:srgbClr val="E03E3A"/>
                </a:solidFill>
                <a:latin typeface="Calibri"/>
                <a:cs typeface="Calibri"/>
              </a:rPr>
              <a:t> </a:t>
            </a:r>
            <a:r>
              <a:rPr sz="5400" b="1" spc="-5" dirty="0">
                <a:solidFill>
                  <a:srgbClr val="E03E3A"/>
                </a:solidFill>
                <a:latin typeface="Calibri"/>
                <a:cs typeface="Calibri"/>
              </a:rPr>
              <a:t>luck</a:t>
            </a:r>
            <a:endParaRPr sz="5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270</TotalTime>
  <Words>1537</Words>
  <Application>Microsoft Office PowerPoint</Application>
  <PresentationFormat>On-screen Show (4:3)</PresentationFormat>
  <Paragraphs>157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6" baseType="lpstr">
      <vt:lpstr>Arial</vt:lpstr>
      <vt:lpstr>Arial MT</vt:lpstr>
      <vt:lpstr>Calibri</vt:lpstr>
      <vt:lpstr>Cambria</vt:lpstr>
      <vt:lpstr>Candara</vt:lpstr>
      <vt:lpstr>Comic Sans MS</vt:lpstr>
      <vt:lpstr>Times New Roman</vt:lpstr>
      <vt:lpstr>Adjacency</vt:lpstr>
      <vt:lpstr>Embryology Digestive system</vt:lpstr>
      <vt:lpstr>Divisions of the gut tube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Mesenteries</vt:lpstr>
      <vt:lpstr>PowerPoint Presentation</vt:lpstr>
      <vt:lpstr>PowerPoint Presentation</vt:lpstr>
      <vt:lpstr>By the fifth week</vt:lpstr>
      <vt:lpstr>PowerPoint Presentation</vt:lpstr>
      <vt:lpstr>PowerPoint Presentation</vt:lpstr>
      <vt:lpstr>foregut</vt:lpstr>
      <vt:lpstr>Esophagus</vt:lpstr>
      <vt:lpstr>PowerPoint Presentation</vt:lpstr>
      <vt:lpstr>Stages in the Development of the Oesophagus</vt:lpstr>
      <vt:lpstr>Esophageal abnormality</vt:lpstr>
      <vt:lpstr>PowerPoint Presentation</vt:lpstr>
      <vt:lpstr>2- Esophageal atresia and stenosis</vt:lpstr>
      <vt:lpstr>3-Congenital hiatus hernia</vt:lpstr>
      <vt:lpstr>Development of the Stomach</vt:lpstr>
      <vt:lpstr>growth of the stomach</vt:lpstr>
      <vt:lpstr>epithelium  gastric pit  gastric gland</vt:lpstr>
      <vt:lpstr>Histological differentiation of the  stomach</vt:lpstr>
      <vt:lpstr>position adjustment of the stomach</vt:lpstr>
      <vt:lpstr>PowerPoint Presentation</vt:lpstr>
      <vt:lpstr>PowerPoint Presentation</vt:lpstr>
      <vt:lpstr>PowerPoint Presentation</vt:lpstr>
      <vt:lpstr>Stomach abnormality</vt:lpstr>
      <vt:lpstr>Duodenum</vt:lpstr>
      <vt:lpstr>PowerPoint Presentation</vt:lpstr>
      <vt:lpstr>duodenal atresia and stenosis</vt:lpstr>
      <vt:lpstr>Liver and pancreas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liver and gall bladder</vt:lpstr>
      <vt:lpstr>gall bladder and bile duct</vt:lpstr>
      <vt:lpstr>PowerPoint Presentation</vt:lpstr>
      <vt:lpstr>PowerPoint Presentation</vt:lpstr>
      <vt:lpstr>PowerPoint Presentation</vt:lpstr>
      <vt:lpstr>Good luck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Digestive system</dc:title>
  <cp:lastModifiedBy>Aso</cp:lastModifiedBy>
  <cp:revision>11</cp:revision>
  <dcterms:created xsi:type="dcterms:W3CDTF">2023-02-11T16:44:54Z</dcterms:created>
  <dcterms:modified xsi:type="dcterms:W3CDTF">2024-02-20T00:12:09Z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2022-03-07T00:00:00Z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2023-02-11T00:00:00Z</vt:filetime>
  </property>
</Properties>
</file>