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5" r:id="rId3"/>
    <p:sldId id="257" r:id="rId4"/>
    <p:sldId id="258" r:id="rId5"/>
    <p:sldId id="259" r:id="rId6"/>
    <p:sldId id="260" r:id="rId7"/>
    <p:sldId id="271" r:id="rId8"/>
    <p:sldId id="272" r:id="rId9"/>
    <p:sldId id="273" r:id="rId10"/>
    <p:sldId id="274" r:id="rId11"/>
    <p:sldId id="27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599"/>
  </p:normalViewPr>
  <p:slideViewPr>
    <p:cSldViewPr snapToGrid="0" snapToObjects="1">
      <p:cViewPr varScale="1">
        <p:scale>
          <a:sx n="106" d="100"/>
          <a:sy n="106" d="100"/>
        </p:scale>
        <p:origin x="792"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6AA17-C7E1-B943-9FA1-4FA57B4C00A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F0A1F4D-85F9-C446-9DAD-879FE6DD10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42D717B-6DDB-9B40-86D2-8AFC8D1F7EE5}"/>
              </a:ext>
            </a:extLst>
          </p:cNvPr>
          <p:cNvSpPr>
            <a:spLocks noGrp="1"/>
          </p:cNvSpPr>
          <p:nvPr>
            <p:ph type="dt" sz="half" idx="10"/>
          </p:nvPr>
        </p:nvSpPr>
        <p:spPr/>
        <p:txBody>
          <a:bodyPr/>
          <a:lstStyle/>
          <a:p>
            <a:fld id="{4C33F358-98C0-8E4A-945F-488A7F75E537}" type="datetimeFigureOut">
              <a:rPr lang="en-US" smtClean="0"/>
              <a:t>2/23/21</a:t>
            </a:fld>
            <a:endParaRPr lang="en-US"/>
          </a:p>
        </p:txBody>
      </p:sp>
      <p:sp>
        <p:nvSpPr>
          <p:cNvPr id="5" name="Footer Placeholder 4">
            <a:extLst>
              <a:ext uri="{FF2B5EF4-FFF2-40B4-BE49-F238E27FC236}">
                <a16:creationId xmlns:a16="http://schemas.microsoft.com/office/drawing/2014/main" id="{BD59576B-FAC1-B044-B250-C2F6610598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CBEABF-378F-3D42-A89B-65CFFAF7BD4C}"/>
              </a:ext>
            </a:extLst>
          </p:cNvPr>
          <p:cNvSpPr>
            <a:spLocks noGrp="1"/>
          </p:cNvSpPr>
          <p:nvPr>
            <p:ph type="sldNum" sz="quarter" idx="12"/>
          </p:nvPr>
        </p:nvSpPr>
        <p:spPr/>
        <p:txBody>
          <a:bodyPr/>
          <a:lstStyle/>
          <a:p>
            <a:fld id="{0E93C18E-9817-344C-897B-17EBE06DB4E2}" type="slidenum">
              <a:rPr lang="en-US" smtClean="0"/>
              <a:t>‹#›</a:t>
            </a:fld>
            <a:endParaRPr lang="en-US"/>
          </a:p>
        </p:txBody>
      </p:sp>
    </p:spTree>
    <p:extLst>
      <p:ext uri="{BB962C8B-B14F-4D97-AF65-F5344CB8AC3E}">
        <p14:creationId xmlns:p14="http://schemas.microsoft.com/office/powerpoint/2010/main" val="574089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3DEC8-C804-8347-9455-AA1179757A5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5347120-490D-D141-B541-0E661F2DDCA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028B1B2-2C0A-0247-AE04-5B35409BD253}"/>
              </a:ext>
            </a:extLst>
          </p:cNvPr>
          <p:cNvSpPr>
            <a:spLocks noGrp="1"/>
          </p:cNvSpPr>
          <p:nvPr>
            <p:ph type="dt" sz="half" idx="10"/>
          </p:nvPr>
        </p:nvSpPr>
        <p:spPr/>
        <p:txBody>
          <a:bodyPr/>
          <a:lstStyle/>
          <a:p>
            <a:fld id="{4C33F358-98C0-8E4A-945F-488A7F75E537}" type="datetimeFigureOut">
              <a:rPr lang="en-US" smtClean="0"/>
              <a:t>2/23/21</a:t>
            </a:fld>
            <a:endParaRPr lang="en-US"/>
          </a:p>
        </p:txBody>
      </p:sp>
      <p:sp>
        <p:nvSpPr>
          <p:cNvPr id="5" name="Footer Placeholder 4">
            <a:extLst>
              <a:ext uri="{FF2B5EF4-FFF2-40B4-BE49-F238E27FC236}">
                <a16:creationId xmlns:a16="http://schemas.microsoft.com/office/drawing/2014/main" id="{024BAA8B-8CA1-EC47-AFCB-F7996DD207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4A1CA9-DA3B-444A-9A6F-6FA8B990BD1B}"/>
              </a:ext>
            </a:extLst>
          </p:cNvPr>
          <p:cNvSpPr>
            <a:spLocks noGrp="1"/>
          </p:cNvSpPr>
          <p:nvPr>
            <p:ph type="sldNum" sz="quarter" idx="12"/>
          </p:nvPr>
        </p:nvSpPr>
        <p:spPr/>
        <p:txBody>
          <a:bodyPr/>
          <a:lstStyle/>
          <a:p>
            <a:fld id="{0E93C18E-9817-344C-897B-17EBE06DB4E2}" type="slidenum">
              <a:rPr lang="en-US" smtClean="0"/>
              <a:t>‹#›</a:t>
            </a:fld>
            <a:endParaRPr lang="en-US"/>
          </a:p>
        </p:txBody>
      </p:sp>
    </p:spTree>
    <p:extLst>
      <p:ext uri="{BB962C8B-B14F-4D97-AF65-F5344CB8AC3E}">
        <p14:creationId xmlns:p14="http://schemas.microsoft.com/office/powerpoint/2010/main" val="2670927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0A850-C67A-9D4A-8C6B-595B7FB3D37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B99D85B-6FF4-8D42-A0D5-115A81F730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9A8BDC5-CF95-EA4B-ABD1-6D780F8BE554}"/>
              </a:ext>
            </a:extLst>
          </p:cNvPr>
          <p:cNvSpPr>
            <a:spLocks noGrp="1"/>
          </p:cNvSpPr>
          <p:nvPr>
            <p:ph type="dt" sz="half" idx="10"/>
          </p:nvPr>
        </p:nvSpPr>
        <p:spPr/>
        <p:txBody>
          <a:bodyPr/>
          <a:lstStyle/>
          <a:p>
            <a:fld id="{4C33F358-98C0-8E4A-945F-488A7F75E537}" type="datetimeFigureOut">
              <a:rPr lang="en-US" smtClean="0"/>
              <a:t>2/23/21</a:t>
            </a:fld>
            <a:endParaRPr lang="en-US"/>
          </a:p>
        </p:txBody>
      </p:sp>
      <p:sp>
        <p:nvSpPr>
          <p:cNvPr id="5" name="Footer Placeholder 4">
            <a:extLst>
              <a:ext uri="{FF2B5EF4-FFF2-40B4-BE49-F238E27FC236}">
                <a16:creationId xmlns:a16="http://schemas.microsoft.com/office/drawing/2014/main" id="{7648BC79-691A-164C-82B1-1FC2D96DFF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862434-164F-9D4D-A0B4-BF592CC0D70C}"/>
              </a:ext>
            </a:extLst>
          </p:cNvPr>
          <p:cNvSpPr>
            <a:spLocks noGrp="1"/>
          </p:cNvSpPr>
          <p:nvPr>
            <p:ph type="sldNum" sz="quarter" idx="12"/>
          </p:nvPr>
        </p:nvSpPr>
        <p:spPr/>
        <p:txBody>
          <a:bodyPr/>
          <a:lstStyle/>
          <a:p>
            <a:fld id="{0E93C18E-9817-344C-897B-17EBE06DB4E2}" type="slidenum">
              <a:rPr lang="en-US" smtClean="0"/>
              <a:t>‹#›</a:t>
            </a:fld>
            <a:endParaRPr lang="en-US"/>
          </a:p>
        </p:txBody>
      </p:sp>
    </p:spTree>
    <p:extLst>
      <p:ext uri="{BB962C8B-B14F-4D97-AF65-F5344CB8AC3E}">
        <p14:creationId xmlns:p14="http://schemas.microsoft.com/office/powerpoint/2010/main" val="4117913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0EEB5-E0B8-AF42-AFF1-54E069AF400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C3E09FD-CB23-4249-9C65-1CF25F59E72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D6ACB63-1DC2-D542-BCDA-A88F679E428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60C90D7-8F6A-8E43-AC53-FEBC446D5BF6}"/>
              </a:ext>
            </a:extLst>
          </p:cNvPr>
          <p:cNvSpPr>
            <a:spLocks noGrp="1"/>
          </p:cNvSpPr>
          <p:nvPr>
            <p:ph type="dt" sz="half" idx="10"/>
          </p:nvPr>
        </p:nvSpPr>
        <p:spPr/>
        <p:txBody>
          <a:bodyPr/>
          <a:lstStyle/>
          <a:p>
            <a:fld id="{4C33F358-98C0-8E4A-945F-488A7F75E537}" type="datetimeFigureOut">
              <a:rPr lang="en-US" smtClean="0"/>
              <a:t>2/23/21</a:t>
            </a:fld>
            <a:endParaRPr lang="en-US"/>
          </a:p>
        </p:txBody>
      </p:sp>
      <p:sp>
        <p:nvSpPr>
          <p:cNvPr id="6" name="Footer Placeholder 5">
            <a:extLst>
              <a:ext uri="{FF2B5EF4-FFF2-40B4-BE49-F238E27FC236}">
                <a16:creationId xmlns:a16="http://schemas.microsoft.com/office/drawing/2014/main" id="{620808C7-425E-7B49-8F50-1137769AA1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825585-47F9-3D40-B322-0294166E9EAD}"/>
              </a:ext>
            </a:extLst>
          </p:cNvPr>
          <p:cNvSpPr>
            <a:spLocks noGrp="1"/>
          </p:cNvSpPr>
          <p:nvPr>
            <p:ph type="sldNum" sz="quarter" idx="12"/>
          </p:nvPr>
        </p:nvSpPr>
        <p:spPr/>
        <p:txBody>
          <a:bodyPr/>
          <a:lstStyle/>
          <a:p>
            <a:fld id="{0E93C18E-9817-344C-897B-17EBE06DB4E2}" type="slidenum">
              <a:rPr lang="en-US" smtClean="0"/>
              <a:t>‹#›</a:t>
            </a:fld>
            <a:endParaRPr lang="en-US"/>
          </a:p>
        </p:txBody>
      </p:sp>
    </p:spTree>
    <p:extLst>
      <p:ext uri="{BB962C8B-B14F-4D97-AF65-F5344CB8AC3E}">
        <p14:creationId xmlns:p14="http://schemas.microsoft.com/office/powerpoint/2010/main" val="366264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1D760-B886-8F43-B9AF-C95F56EEC746}"/>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9ADA918-16F1-224C-8C14-2DB43F8160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45E2B4C-94E9-784D-89A5-BCEEF7D54B6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47A9D7F7-CA47-6248-A5D2-7D782992F1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3021FF0-BDE6-2B45-8F3B-A462DC3DF63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1CBF34F-D50D-5F47-B0D0-34AE1E66A1EA}"/>
              </a:ext>
            </a:extLst>
          </p:cNvPr>
          <p:cNvSpPr>
            <a:spLocks noGrp="1"/>
          </p:cNvSpPr>
          <p:nvPr>
            <p:ph type="dt" sz="half" idx="10"/>
          </p:nvPr>
        </p:nvSpPr>
        <p:spPr/>
        <p:txBody>
          <a:bodyPr/>
          <a:lstStyle/>
          <a:p>
            <a:fld id="{4C33F358-98C0-8E4A-945F-488A7F75E537}" type="datetimeFigureOut">
              <a:rPr lang="en-US" smtClean="0"/>
              <a:t>2/23/21</a:t>
            </a:fld>
            <a:endParaRPr lang="en-US"/>
          </a:p>
        </p:txBody>
      </p:sp>
      <p:sp>
        <p:nvSpPr>
          <p:cNvPr id="8" name="Footer Placeholder 7">
            <a:extLst>
              <a:ext uri="{FF2B5EF4-FFF2-40B4-BE49-F238E27FC236}">
                <a16:creationId xmlns:a16="http://schemas.microsoft.com/office/drawing/2014/main" id="{1BB3D33C-3777-0A4B-92BC-E2969328377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8E6DEA-1C22-2B42-B150-2B1527EA6CB3}"/>
              </a:ext>
            </a:extLst>
          </p:cNvPr>
          <p:cNvSpPr>
            <a:spLocks noGrp="1"/>
          </p:cNvSpPr>
          <p:nvPr>
            <p:ph type="sldNum" sz="quarter" idx="12"/>
          </p:nvPr>
        </p:nvSpPr>
        <p:spPr/>
        <p:txBody>
          <a:bodyPr/>
          <a:lstStyle/>
          <a:p>
            <a:fld id="{0E93C18E-9817-344C-897B-17EBE06DB4E2}" type="slidenum">
              <a:rPr lang="en-US" smtClean="0"/>
              <a:t>‹#›</a:t>
            </a:fld>
            <a:endParaRPr lang="en-US"/>
          </a:p>
        </p:txBody>
      </p:sp>
    </p:spTree>
    <p:extLst>
      <p:ext uri="{BB962C8B-B14F-4D97-AF65-F5344CB8AC3E}">
        <p14:creationId xmlns:p14="http://schemas.microsoft.com/office/powerpoint/2010/main" val="3379713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17D1B-D32D-9C47-A536-F6EFAA7DF3C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6F52ACB6-1FB2-3546-94C2-5552B1DF8D5E}"/>
              </a:ext>
            </a:extLst>
          </p:cNvPr>
          <p:cNvSpPr>
            <a:spLocks noGrp="1"/>
          </p:cNvSpPr>
          <p:nvPr>
            <p:ph type="dt" sz="half" idx="10"/>
          </p:nvPr>
        </p:nvSpPr>
        <p:spPr/>
        <p:txBody>
          <a:bodyPr/>
          <a:lstStyle/>
          <a:p>
            <a:fld id="{4C33F358-98C0-8E4A-945F-488A7F75E537}" type="datetimeFigureOut">
              <a:rPr lang="en-US" smtClean="0"/>
              <a:t>2/23/21</a:t>
            </a:fld>
            <a:endParaRPr lang="en-US"/>
          </a:p>
        </p:txBody>
      </p:sp>
      <p:sp>
        <p:nvSpPr>
          <p:cNvPr id="4" name="Footer Placeholder 3">
            <a:extLst>
              <a:ext uri="{FF2B5EF4-FFF2-40B4-BE49-F238E27FC236}">
                <a16:creationId xmlns:a16="http://schemas.microsoft.com/office/drawing/2014/main" id="{21044EE8-EFBD-354C-8DC3-22147FA0847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FD93BBB-BDB7-6345-9F82-BD840DA7C8C3}"/>
              </a:ext>
            </a:extLst>
          </p:cNvPr>
          <p:cNvSpPr>
            <a:spLocks noGrp="1"/>
          </p:cNvSpPr>
          <p:nvPr>
            <p:ph type="sldNum" sz="quarter" idx="12"/>
          </p:nvPr>
        </p:nvSpPr>
        <p:spPr/>
        <p:txBody>
          <a:bodyPr/>
          <a:lstStyle/>
          <a:p>
            <a:fld id="{0E93C18E-9817-344C-897B-17EBE06DB4E2}" type="slidenum">
              <a:rPr lang="en-US" smtClean="0"/>
              <a:t>‹#›</a:t>
            </a:fld>
            <a:endParaRPr lang="en-US"/>
          </a:p>
        </p:txBody>
      </p:sp>
    </p:spTree>
    <p:extLst>
      <p:ext uri="{BB962C8B-B14F-4D97-AF65-F5344CB8AC3E}">
        <p14:creationId xmlns:p14="http://schemas.microsoft.com/office/powerpoint/2010/main" val="404146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AB2416-C332-0C4E-BADE-BAE0DF27E7D1}"/>
              </a:ext>
            </a:extLst>
          </p:cNvPr>
          <p:cNvSpPr>
            <a:spLocks noGrp="1"/>
          </p:cNvSpPr>
          <p:nvPr>
            <p:ph type="dt" sz="half" idx="10"/>
          </p:nvPr>
        </p:nvSpPr>
        <p:spPr/>
        <p:txBody>
          <a:bodyPr/>
          <a:lstStyle/>
          <a:p>
            <a:fld id="{4C33F358-98C0-8E4A-945F-488A7F75E537}" type="datetimeFigureOut">
              <a:rPr lang="en-US" smtClean="0"/>
              <a:t>2/23/21</a:t>
            </a:fld>
            <a:endParaRPr lang="en-US"/>
          </a:p>
        </p:txBody>
      </p:sp>
      <p:sp>
        <p:nvSpPr>
          <p:cNvPr id="3" name="Footer Placeholder 2">
            <a:extLst>
              <a:ext uri="{FF2B5EF4-FFF2-40B4-BE49-F238E27FC236}">
                <a16:creationId xmlns:a16="http://schemas.microsoft.com/office/drawing/2014/main" id="{13631B39-BF76-8643-B281-045DC86B7A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584E52F-0825-6B42-8A8A-B17A9F24A0EC}"/>
              </a:ext>
            </a:extLst>
          </p:cNvPr>
          <p:cNvSpPr>
            <a:spLocks noGrp="1"/>
          </p:cNvSpPr>
          <p:nvPr>
            <p:ph type="sldNum" sz="quarter" idx="12"/>
          </p:nvPr>
        </p:nvSpPr>
        <p:spPr/>
        <p:txBody>
          <a:bodyPr/>
          <a:lstStyle/>
          <a:p>
            <a:fld id="{0E93C18E-9817-344C-897B-17EBE06DB4E2}" type="slidenum">
              <a:rPr lang="en-US" smtClean="0"/>
              <a:t>‹#›</a:t>
            </a:fld>
            <a:endParaRPr lang="en-US"/>
          </a:p>
        </p:txBody>
      </p:sp>
    </p:spTree>
    <p:extLst>
      <p:ext uri="{BB962C8B-B14F-4D97-AF65-F5344CB8AC3E}">
        <p14:creationId xmlns:p14="http://schemas.microsoft.com/office/powerpoint/2010/main" val="3189077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54378-075D-CB40-A6BD-196660591A1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0D246FC-17D9-6040-9BBA-26D0BDCD18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924E7FE6-5FC1-6440-980F-56D7B2FBFB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B755A9E-4482-C746-8A7B-32F81F68B7DF}"/>
              </a:ext>
            </a:extLst>
          </p:cNvPr>
          <p:cNvSpPr>
            <a:spLocks noGrp="1"/>
          </p:cNvSpPr>
          <p:nvPr>
            <p:ph type="dt" sz="half" idx="10"/>
          </p:nvPr>
        </p:nvSpPr>
        <p:spPr/>
        <p:txBody>
          <a:bodyPr/>
          <a:lstStyle/>
          <a:p>
            <a:fld id="{4C33F358-98C0-8E4A-945F-488A7F75E537}" type="datetimeFigureOut">
              <a:rPr lang="en-US" smtClean="0"/>
              <a:t>2/23/21</a:t>
            </a:fld>
            <a:endParaRPr lang="en-US"/>
          </a:p>
        </p:txBody>
      </p:sp>
      <p:sp>
        <p:nvSpPr>
          <p:cNvPr id="6" name="Footer Placeholder 5">
            <a:extLst>
              <a:ext uri="{FF2B5EF4-FFF2-40B4-BE49-F238E27FC236}">
                <a16:creationId xmlns:a16="http://schemas.microsoft.com/office/drawing/2014/main" id="{69FECAD0-CE6A-A944-A9A3-D4FEF55009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24E34B-E471-284B-B51F-FDDDFC857703}"/>
              </a:ext>
            </a:extLst>
          </p:cNvPr>
          <p:cNvSpPr>
            <a:spLocks noGrp="1"/>
          </p:cNvSpPr>
          <p:nvPr>
            <p:ph type="sldNum" sz="quarter" idx="12"/>
          </p:nvPr>
        </p:nvSpPr>
        <p:spPr/>
        <p:txBody>
          <a:bodyPr/>
          <a:lstStyle/>
          <a:p>
            <a:fld id="{0E93C18E-9817-344C-897B-17EBE06DB4E2}" type="slidenum">
              <a:rPr lang="en-US" smtClean="0"/>
              <a:t>‹#›</a:t>
            </a:fld>
            <a:endParaRPr lang="en-US"/>
          </a:p>
        </p:txBody>
      </p:sp>
    </p:spTree>
    <p:extLst>
      <p:ext uri="{BB962C8B-B14F-4D97-AF65-F5344CB8AC3E}">
        <p14:creationId xmlns:p14="http://schemas.microsoft.com/office/powerpoint/2010/main" val="1092795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56931-DF05-C444-B516-01B4B3C34D0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E0AB111-3BD6-5042-A8E7-23B0A06932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0484A4E-94D3-EE40-A9FB-92180E74DA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27BD44F-0654-CD49-AB26-4559B41325F7}"/>
              </a:ext>
            </a:extLst>
          </p:cNvPr>
          <p:cNvSpPr>
            <a:spLocks noGrp="1"/>
          </p:cNvSpPr>
          <p:nvPr>
            <p:ph type="dt" sz="half" idx="10"/>
          </p:nvPr>
        </p:nvSpPr>
        <p:spPr/>
        <p:txBody>
          <a:bodyPr/>
          <a:lstStyle/>
          <a:p>
            <a:fld id="{4C33F358-98C0-8E4A-945F-488A7F75E537}" type="datetimeFigureOut">
              <a:rPr lang="en-US" smtClean="0"/>
              <a:t>2/23/21</a:t>
            </a:fld>
            <a:endParaRPr lang="en-US"/>
          </a:p>
        </p:txBody>
      </p:sp>
      <p:sp>
        <p:nvSpPr>
          <p:cNvPr id="6" name="Footer Placeholder 5">
            <a:extLst>
              <a:ext uri="{FF2B5EF4-FFF2-40B4-BE49-F238E27FC236}">
                <a16:creationId xmlns:a16="http://schemas.microsoft.com/office/drawing/2014/main" id="{602AFCB7-BFDD-A645-8C87-A00BEC10BD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EB6AA3-0BF2-E141-A69B-DB24708E9689}"/>
              </a:ext>
            </a:extLst>
          </p:cNvPr>
          <p:cNvSpPr>
            <a:spLocks noGrp="1"/>
          </p:cNvSpPr>
          <p:nvPr>
            <p:ph type="sldNum" sz="quarter" idx="12"/>
          </p:nvPr>
        </p:nvSpPr>
        <p:spPr/>
        <p:txBody>
          <a:bodyPr/>
          <a:lstStyle/>
          <a:p>
            <a:fld id="{0E93C18E-9817-344C-897B-17EBE06DB4E2}" type="slidenum">
              <a:rPr lang="en-US" smtClean="0"/>
              <a:t>‹#›</a:t>
            </a:fld>
            <a:endParaRPr lang="en-US"/>
          </a:p>
        </p:txBody>
      </p:sp>
    </p:spTree>
    <p:extLst>
      <p:ext uri="{BB962C8B-B14F-4D97-AF65-F5344CB8AC3E}">
        <p14:creationId xmlns:p14="http://schemas.microsoft.com/office/powerpoint/2010/main" val="39304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3A4E3-4DC3-E544-BC45-4F1B54165D4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A0A99E3-B6D0-BD48-A40B-FA430F070F3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CDF07B1-9DEA-DF47-A1AB-1FD66870C72D}"/>
              </a:ext>
            </a:extLst>
          </p:cNvPr>
          <p:cNvSpPr>
            <a:spLocks noGrp="1"/>
          </p:cNvSpPr>
          <p:nvPr>
            <p:ph type="dt" sz="half" idx="10"/>
          </p:nvPr>
        </p:nvSpPr>
        <p:spPr/>
        <p:txBody>
          <a:bodyPr/>
          <a:lstStyle/>
          <a:p>
            <a:fld id="{4C33F358-98C0-8E4A-945F-488A7F75E537}" type="datetimeFigureOut">
              <a:rPr lang="en-US" smtClean="0"/>
              <a:t>2/23/21</a:t>
            </a:fld>
            <a:endParaRPr lang="en-US"/>
          </a:p>
        </p:txBody>
      </p:sp>
      <p:sp>
        <p:nvSpPr>
          <p:cNvPr id="5" name="Footer Placeholder 4">
            <a:extLst>
              <a:ext uri="{FF2B5EF4-FFF2-40B4-BE49-F238E27FC236}">
                <a16:creationId xmlns:a16="http://schemas.microsoft.com/office/drawing/2014/main" id="{415496DE-FCEE-8848-BDDB-2A9745774D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BA8920-F1C5-2A41-B0CD-90FC579CFECB}"/>
              </a:ext>
            </a:extLst>
          </p:cNvPr>
          <p:cNvSpPr>
            <a:spLocks noGrp="1"/>
          </p:cNvSpPr>
          <p:nvPr>
            <p:ph type="sldNum" sz="quarter" idx="12"/>
          </p:nvPr>
        </p:nvSpPr>
        <p:spPr/>
        <p:txBody>
          <a:bodyPr/>
          <a:lstStyle/>
          <a:p>
            <a:fld id="{0E93C18E-9817-344C-897B-17EBE06DB4E2}" type="slidenum">
              <a:rPr lang="en-US" smtClean="0"/>
              <a:t>‹#›</a:t>
            </a:fld>
            <a:endParaRPr lang="en-US"/>
          </a:p>
        </p:txBody>
      </p:sp>
    </p:spTree>
    <p:extLst>
      <p:ext uri="{BB962C8B-B14F-4D97-AF65-F5344CB8AC3E}">
        <p14:creationId xmlns:p14="http://schemas.microsoft.com/office/powerpoint/2010/main" val="352123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805A2F-DE90-204C-8AC7-9240C5952E4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C78E0A9-4009-4F43-AB4C-BE5DEFE840A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375D61C-9C45-774A-B9C7-894DC39947AC}"/>
              </a:ext>
            </a:extLst>
          </p:cNvPr>
          <p:cNvSpPr>
            <a:spLocks noGrp="1"/>
          </p:cNvSpPr>
          <p:nvPr>
            <p:ph type="dt" sz="half" idx="10"/>
          </p:nvPr>
        </p:nvSpPr>
        <p:spPr/>
        <p:txBody>
          <a:bodyPr/>
          <a:lstStyle/>
          <a:p>
            <a:fld id="{4C33F358-98C0-8E4A-945F-488A7F75E537}" type="datetimeFigureOut">
              <a:rPr lang="en-US" smtClean="0"/>
              <a:t>2/23/21</a:t>
            </a:fld>
            <a:endParaRPr lang="en-US"/>
          </a:p>
        </p:txBody>
      </p:sp>
      <p:sp>
        <p:nvSpPr>
          <p:cNvPr id="5" name="Footer Placeholder 4">
            <a:extLst>
              <a:ext uri="{FF2B5EF4-FFF2-40B4-BE49-F238E27FC236}">
                <a16:creationId xmlns:a16="http://schemas.microsoft.com/office/drawing/2014/main" id="{60376DEF-725A-4A43-A6D5-D520438BA1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AB69BA-B055-4F45-9195-47F04492EBD3}"/>
              </a:ext>
            </a:extLst>
          </p:cNvPr>
          <p:cNvSpPr>
            <a:spLocks noGrp="1"/>
          </p:cNvSpPr>
          <p:nvPr>
            <p:ph type="sldNum" sz="quarter" idx="12"/>
          </p:nvPr>
        </p:nvSpPr>
        <p:spPr/>
        <p:txBody>
          <a:bodyPr/>
          <a:lstStyle/>
          <a:p>
            <a:fld id="{0E93C18E-9817-344C-897B-17EBE06DB4E2}" type="slidenum">
              <a:rPr lang="en-US" smtClean="0"/>
              <a:t>‹#›</a:t>
            </a:fld>
            <a:endParaRPr lang="en-US"/>
          </a:p>
        </p:txBody>
      </p:sp>
    </p:spTree>
    <p:extLst>
      <p:ext uri="{BB962C8B-B14F-4D97-AF65-F5344CB8AC3E}">
        <p14:creationId xmlns:p14="http://schemas.microsoft.com/office/powerpoint/2010/main" val="33055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F5C89D-1A65-9E48-AB49-F13CCBA341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4F344A9-2705-6F4F-A45C-43F7B2DE43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2BC2940-C653-6F4E-861C-746724E63F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33F358-98C0-8E4A-945F-488A7F75E537}" type="datetimeFigureOut">
              <a:rPr lang="en-US" smtClean="0"/>
              <a:t>2/23/21</a:t>
            </a:fld>
            <a:endParaRPr lang="en-US"/>
          </a:p>
        </p:txBody>
      </p:sp>
      <p:sp>
        <p:nvSpPr>
          <p:cNvPr id="5" name="Footer Placeholder 4">
            <a:extLst>
              <a:ext uri="{FF2B5EF4-FFF2-40B4-BE49-F238E27FC236}">
                <a16:creationId xmlns:a16="http://schemas.microsoft.com/office/drawing/2014/main" id="{9E45508D-9AB2-654C-B1F0-DE56622315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0C6371A-E9A7-CE46-93BA-FFA8ED96F2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93C18E-9817-344C-897B-17EBE06DB4E2}" type="slidenum">
              <a:rPr lang="en-US" smtClean="0"/>
              <a:t>‹#›</a:t>
            </a:fld>
            <a:endParaRPr lang="en-US"/>
          </a:p>
        </p:txBody>
      </p:sp>
    </p:spTree>
    <p:extLst>
      <p:ext uri="{BB962C8B-B14F-4D97-AF65-F5344CB8AC3E}">
        <p14:creationId xmlns:p14="http://schemas.microsoft.com/office/powerpoint/2010/main" val="34001781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1DAAC-6ED3-1C48-A531-F2BA0A2EBC46}"/>
              </a:ext>
            </a:extLst>
          </p:cNvPr>
          <p:cNvSpPr>
            <a:spLocks noGrp="1"/>
          </p:cNvSpPr>
          <p:nvPr>
            <p:ph type="ctrTitle"/>
          </p:nvPr>
        </p:nvSpPr>
        <p:spPr/>
        <p:txBody>
          <a:bodyPr/>
          <a:lstStyle/>
          <a:p>
            <a:r>
              <a:rPr lang="en-US" dirty="0"/>
              <a:t>Session 1 Group working</a:t>
            </a:r>
            <a:br>
              <a:rPr lang="en-US" dirty="0"/>
            </a:br>
            <a:r>
              <a:rPr lang="en-US" dirty="0"/>
              <a:t>Infection and Immunity</a:t>
            </a:r>
          </a:p>
        </p:txBody>
      </p:sp>
      <p:sp>
        <p:nvSpPr>
          <p:cNvPr id="3" name="Subtitle 2">
            <a:extLst>
              <a:ext uri="{FF2B5EF4-FFF2-40B4-BE49-F238E27FC236}">
                <a16:creationId xmlns:a16="http://schemas.microsoft.com/office/drawing/2014/main" id="{70C1752D-FDA7-A844-99CE-C28CF8DA25E0}"/>
              </a:ext>
            </a:extLst>
          </p:cNvPr>
          <p:cNvSpPr>
            <a:spLocks noGrp="1"/>
          </p:cNvSpPr>
          <p:nvPr>
            <p:ph type="subTitle" idx="1"/>
          </p:nvPr>
        </p:nvSpPr>
        <p:spPr/>
        <p:txBody>
          <a:bodyPr/>
          <a:lstStyle/>
          <a:p>
            <a:r>
              <a:rPr lang="en-US" dirty="0"/>
              <a:t>Dr. </a:t>
            </a:r>
            <a:r>
              <a:rPr lang="en-US" dirty="0" err="1"/>
              <a:t>Sherko</a:t>
            </a:r>
            <a:r>
              <a:rPr lang="en-US" dirty="0"/>
              <a:t> Subhan </a:t>
            </a:r>
            <a:r>
              <a:rPr lang="en-US" dirty="0" err="1"/>
              <a:t>Niranji</a:t>
            </a:r>
            <a:endParaRPr lang="en-US" dirty="0"/>
          </a:p>
          <a:p>
            <a:r>
              <a:rPr lang="en-US" dirty="0"/>
              <a:t>College of Medicine, University of </a:t>
            </a:r>
            <a:r>
              <a:rPr lang="en-US" dirty="0" err="1"/>
              <a:t>Garmian</a:t>
            </a:r>
            <a:endParaRPr lang="en-US" dirty="0"/>
          </a:p>
        </p:txBody>
      </p:sp>
    </p:spTree>
    <p:extLst>
      <p:ext uri="{BB962C8B-B14F-4D97-AF65-F5344CB8AC3E}">
        <p14:creationId xmlns:p14="http://schemas.microsoft.com/office/powerpoint/2010/main" val="3214696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812E4-7C46-4F40-9CCD-507C1400738E}"/>
              </a:ext>
            </a:extLst>
          </p:cNvPr>
          <p:cNvSpPr>
            <a:spLocks noGrp="1"/>
          </p:cNvSpPr>
          <p:nvPr>
            <p:ph type="title"/>
          </p:nvPr>
        </p:nvSpPr>
        <p:spPr/>
        <p:txBody>
          <a:bodyPr/>
          <a:lstStyle/>
          <a:p>
            <a:r>
              <a:rPr lang="en-US" dirty="0"/>
              <a:t>Group working</a:t>
            </a:r>
          </a:p>
        </p:txBody>
      </p:sp>
      <p:sp>
        <p:nvSpPr>
          <p:cNvPr id="3" name="Content Placeholder 2">
            <a:extLst>
              <a:ext uri="{FF2B5EF4-FFF2-40B4-BE49-F238E27FC236}">
                <a16:creationId xmlns:a16="http://schemas.microsoft.com/office/drawing/2014/main" id="{62CE9632-0A7C-0D48-8E12-C9322FE886CA}"/>
              </a:ext>
            </a:extLst>
          </p:cNvPr>
          <p:cNvSpPr>
            <a:spLocks noGrp="1"/>
          </p:cNvSpPr>
          <p:nvPr>
            <p:ph idx="1"/>
          </p:nvPr>
        </p:nvSpPr>
        <p:spPr/>
        <p:txBody>
          <a:bodyPr>
            <a:normAutofit/>
          </a:bodyPr>
          <a:lstStyle/>
          <a:p>
            <a:r>
              <a:rPr lang="en-GB" dirty="0"/>
              <a:t>Please print out the questions posted in the google classroom </a:t>
            </a:r>
          </a:p>
          <a:p>
            <a:r>
              <a:rPr lang="en-GB" dirty="0"/>
              <a:t>Discuss them with your group work and teachers during the upcoming group working session. </a:t>
            </a:r>
          </a:p>
          <a:p>
            <a:r>
              <a:rPr lang="en-GB" dirty="0"/>
              <a:t>Make a note of any questions you got wrong and try to identify points you would like clarified (whether or not your answer was correct). </a:t>
            </a:r>
          </a:p>
          <a:p>
            <a:r>
              <a:rPr lang="en-GB" dirty="0"/>
              <a:t>Answer the structured answer question. This will for the basis for discussions in the group work. </a:t>
            </a:r>
          </a:p>
          <a:p>
            <a:r>
              <a:rPr lang="en-GB" dirty="0"/>
              <a:t>Carefully run through the learning outcomes for the session. Identify any points you would like your teacher to explain/clarify. </a:t>
            </a:r>
          </a:p>
          <a:p>
            <a:endParaRPr lang="en-US" dirty="0"/>
          </a:p>
        </p:txBody>
      </p:sp>
    </p:spTree>
    <p:extLst>
      <p:ext uri="{BB962C8B-B14F-4D97-AF65-F5344CB8AC3E}">
        <p14:creationId xmlns:p14="http://schemas.microsoft.com/office/powerpoint/2010/main" val="32060090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2883F-336E-DB4B-8EFD-BC88AA542F86}"/>
              </a:ext>
            </a:extLst>
          </p:cNvPr>
          <p:cNvSpPr>
            <a:spLocks noGrp="1"/>
          </p:cNvSpPr>
          <p:nvPr>
            <p:ph type="title"/>
          </p:nvPr>
        </p:nvSpPr>
        <p:spPr/>
        <p:txBody>
          <a:bodyPr/>
          <a:lstStyle/>
          <a:p>
            <a:r>
              <a:rPr lang="en-GB" dirty="0"/>
              <a:t>LEARNING OUTCOMES </a:t>
            </a:r>
            <a:endParaRPr lang="en-US" dirty="0"/>
          </a:p>
        </p:txBody>
      </p:sp>
      <p:sp>
        <p:nvSpPr>
          <p:cNvPr id="3" name="Content Placeholder 2">
            <a:extLst>
              <a:ext uri="{FF2B5EF4-FFF2-40B4-BE49-F238E27FC236}">
                <a16:creationId xmlns:a16="http://schemas.microsoft.com/office/drawing/2014/main" id="{37471162-D9CB-C440-84D1-0586989478A5}"/>
              </a:ext>
            </a:extLst>
          </p:cNvPr>
          <p:cNvSpPr>
            <a:spLocks noGrp="1"/>
          </p:cNvSpPr>
          <p:nvPr>
            <p:ph idx="1"/>
          </p:nvPr>
        </p:nvSpPr>
        <p:spPr/>
        <p:txBody>
          <a:bodyPr>
            <a:normAutofit fontScale="92500" lnSpcReduction="20000"/>
          </a:bodyPr>
          <a:lstStyle/>
          <a:p>
            <a:r>
              <a:rPr lang="en-GB" dirty="0"/>
              <a:t>PRINCIPLES OF INNATE AND ADAPTIVE IMMUNITY</a:t>
            </a:r>
          </a:p>
          <a:p>
            <a:r>
              <a:rPr lang="en-GB" dirty="0"/>
              <a:t>Understand the meaning of the terms innate and adaptive (syn. acquired) immunity and their essential differences</a:t>
            </a:r>
          </a:p>
          <a:p>
            <a:r>
              <a:rPr lang="en-GB" dirty="0"/>
              <a:t>Understand the concept of memory, specificity, self/non-self recognition</a:t>
            </a:r>
          </a:p>
          <a:p>
            <a:r>
              <a:rPr lang="en-GB" dirty="0"/>
              <a:t>Grasp the fundamental dynamics of the primary and secondary immune response</a:t>
            </a:r>
          </a:p>
          <a:p>
            <a:r>
              <a:rPr lang="en-GB" dirty="0"/>
              <a:t>Know the major soluble and cellular elements of the 2 systems</a:t>
            </a:r>
          </a:p>
          <a:p>
            <a:r>
              <a:rPr lang="en-GB" dirty="0"/>
              <a:t>Understand the principles of acute and chronic inflammation</a:t>
            </a:r>
          </a:p>
          <a:p>
            <a:r>
              <a:rPr lang="en-GB" dirty="0"/>
              <a:t>Understand the basic principles of active and passive immunization</a:t>
            </a:r>
          </a:p>
          <a:p>
            <a:r>
              <a:rPr lang="en-GB" dirty="0"/>
              <a:t>Understand how the immune system may be either the target or the cause of disease </a:t>
            </a:r>
          </a:p>
          <a:p>
            <a:endParaRPr lang="en-GB" dirty="0"/>
          </a:p>
          <a:p>
            <a:endParaRPr lang="en-US" dirty="0"/>
          </a:p>
        </p:txBody>
      </p:sp>
    </p:spTree>
    <p:extLst>
      <p:ext uri="{BB962C8B-B14F-4D97-AF65-F5344CB8AC3E}">
        <p14:creationId xmlns:p14="http://schemas.microsoft.com/office/powerpoint/2010/main" val="3606918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2883F-336E-DB4B-8EFD-BC88AA542F86}"/>
              </a:ext>
            </a:extLst>
          </p:cNvPr>
          <p:cNvSpPr>
            <a:spLocks noGrp="1"/>
          </p:cNvSpPr>
          <p:nvPr>
            <p:ph type="title"/>
          </p:nvPr>
        </p:nvSpPr>
        <p:spPr/>
        <p:txBody>
          <a:bodyPr/>
          <a:lstStyle/>
          <a:p>
            <a:r>
              <a:rPr lang="en-GB" dirty="0"/>
              <a:t>COMPONENTS OF THE IMMUNE SYSTEM</a:t>
            </a:r>
          </a:p>
        </p:txBody>
      </p:sp>
      <p:sp>
        <p:nvSpPr>
          <p:cNvPr id="3" name="Content Placeholder 2">
            <a:extLst>
              <a:ext uri="{FF2B5EF4-FFF2-40B4-BE49-F238E27FC236}">
                <a16:creationId xmlns:a16="http://schemas.microsoft.com/office/drawing/2014/main" id="{37471162-D9CB-C440-84D1-0586989478A5}"/>
              </a:ext>
            </a:extLst>
          </p:cNvPr>
          <p:cNvSpPr>
            <a:spLocks noGrp="1"/>
          </p:cNvSpPr>
          <p:nvPr>
            <p:ph idx="1"/>
          </p:nvPr>
        </p:nvSpPr>
        <p:spPr/>
        <p:txBody>
          <a:bodyPr>
            <a:normAutofit fontScale="92500" lnSpcReduction="20000"/>
          </a:bodyPr>
          <a:lstStyle/>
          <a:p>
            <a:r>
              <a:rPr lang="en-GB" dirty="0"/>
              <a:t>Appreciate the common origins of the cells of the immune system from the bone marrow </a:t>
            </a:r>
          </a:p>
          <a:p>
            <a:r>
              <a:rPr lang="en-GB" dirty="0"/>
              <a:t>Understand how leukocyte populations are defined</a:t>
            </a:r>
          </a:p>
          <a:p>
            <a:r>
              <a:rPr lang="en-GB" dirty="0"/>
              <a:t>Describe in simple terms the microscopic appearances of the cells of the immune system specifically: B and T lymphocytes, plasma cells, monocytes and macrophages, dendritic cells </a:t>
            </a:r>
          </a:p>
          <a:p>
            <a:r>
              <a:rPr lang="en-GB" dirty="0"/>
              <a:t>Describe in simple terms other effector cells including: neutrophil polymorphs, eosinophil polymorphs, basophils, mast cells</a:t>
            </a:r>
          </a:p>
          <a:p>
            <a:r>
              <a:rPr lang="en-GB" dirty="0"/>
              <a:t>Understand the anatomy and function of primary and secondary lymphoid tissues, including the concept of bone marrow stem cells giving rise to the cells of the immune system, and the roles of the thymus, lymph nodes, spleen and gut-associated lymphoid tissues </a:t>
            </a:r>
          </a:p>
          <a:p>
            <a:endParaRPr lang="en-US" dirty="0"/>
          </a:p>
        </p:txBody>
      </p:sp>
    </p:spTree>
    <p:extLst>
      <p:ext uri="{BB962C8B-B14F-4D97-AF65-F5344CB8AC3E}">
        <p14:creationId xmlns:p14="http://schemas.microsoft.com/office/powerpoint/2010/main" val="174328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2883F-336E-DB4B-8EFD-BC88AA542F86}"/>
              </a:ext>
            </a:extLst>
          </p:cNvPr>
          <p:cNvSpPr>
            <a:spLocks noGrp="1"/>
          </p:cNvSpPr>
          <p:nvPr>
            <p:ph type="title"/>
          </p:nvPr>
        </p:nvSpPr>
        <p:spPr/>
        <p:txBody>
          <a:bodyPr/>
          <a:lstStyle/>
          <a:p>
            <a:r>
              <a:rPr lang="en-GB" dirty="0"/>
              <a:t>Group work questions</a:t>
            </a:r>
            <a:endParaRPr lang="en-US" dirty="0"/>
          </a:p>
        </p:txBody>
      </p:sp>
      <p:sp>
        <p:nvSpPr>
          <p:cNvPr id="3" name="Content Placeholder 2">
            <a:extLst>
              <a:ext uri="{FF2B5EF4-FFF2-40B4-BE49-F238E27FC236}">
                <a16:creationId xmlns:a16="http://schemas.microsoft.com/office/drawing/2014/main" id="{37471162-D9CB-C440-84D1-0586989478A5}"/>
              </a:ext>
            </a:extLst>
          </p:cNvPr>
          <p:cNvSpPr>
            <a:spLocks noGrp="1"/>
          </p:cNvSpPr>
          <p:nvPr>
            <p:ph idx="1"/>
          </p:nvPr>
        </p:nvSpPr>
        <p:spPr/>
        <p:txBody>
          <a:bodyPr/>
          <a:lstStyle/>
          <a:p>
            <a:r>
              <a:rPr lang="en-GB" dirty="0"/>
              <a:t>Each group of questions below consists of lettered items followed by a list of numbered words or statements. For each numbered word or statement, select the one lettered item that is most closely associated with it. Each lettered item may be selected once, more than once, or not at all </a:t>
            </a:r>
          </a:p>
          <a:p>
            <a:r>
              <a:rPr lang="en-GB" dirty="0"/>
              <a:t>Topic: Innate and adaptive immunity / components of the immune system </a:t>
            </a:r>
          </a:p>
          <a:p>
            <a:endParaRPr lang="en-US" dirty="0"/>
          </a:p>
        </p:txBody>
      </p:sp>
    </p:spTree>
    <p:extLst>
      <p:ext uri="{BB962C8B-B14F-4D97-AF65-F5344CB8AC3E}">
        <p14:creationId xmlns:p14="http://schemas.microsoft.com/office/powerpoint/2010/main" val="4001127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471162-D9CB-C440-84D1-0586989478A5}"/>
              </a:ext>
            </a:extLst>
          </p:cNvPr>
          <p:cNvSpPr>
            <a:spLocks noGrp="1"/>
          </p:cNvSpPr>
          <p:nvPr>
            <p:ph idx="1"/>
          </p:nvPr>
        </p:nvSpPr>
        <p:spPr>
          <a:xfrm>
            <a:off x="246185" y="152400"/>
            <a:ext cx="11711353" cy="6435969"/>
          </a:xfrm>
        </p:spPr>
        <p:txBody>
          <a:bodyPr>
            <a:normAutofit fontScale="85000" lnSpcReduction="20000"/>
          </a:bodyPr>
          <a:lstStyle/>
          <a:p>
            <a:r>
              <a:rPr lang="en-GB" dirty="0"/>
              <a:t>T2/1</a:t>
            </a:r>
            <a:br>
              <a:rPr lang="en-GB" dirty="0"/>
            </a:br>
            <a:r>
              <a:rPr lang="en-GB" dirty="0"/>
              <a:t>Swollen lymph nodes are a common finding in acute and chronic infections, due to the immune responses taking place within them. Lymph nodes are classified as secondary lymphoid organs. With regard to immune reactions in secondary lymphoid tissues, match the following: </a:t>
            </a:r>
          </a:p>
          <a:p>
            <a:r>
              <a:rPr lang="en-GB" dirty="0"/>
              <a:t>(a)  “Double positive” (CD8+ and CD4+) T cells. </a:t>
            </a:r>
          </a:p>
          <a:p>
            <a:r>
              <a:rPr lang="en-GB" dirty="0"/>
              <a:t>(b)  Interaction of adhesion molecules and their ligands. </a:t>
            </a:r>
          </a:p>
          <a:p>
            <a:r>
              <a:rPr lang="en-GB" dirty="0"/>
              <a:t>(c)  Germinal centres. </a:t>
            </a:r>
          </a:p>
          <a:p>
            <a:r>
              <a:rPr lang="en-GB" dirty="0"/>
              <a:t>(d)  </a:t>
            </a:r>
            <a:r>
              <a:rPr lang="en-GB" dirty="0" err="1"/>
              <a:t>Peyers</a:t>
            </a:r>
            <a:r>
              <a:rPr lang="en-GB" dirty="0"/>
              <a:t> patches. </a:t>
            </a:r>
          </a:p>
          <a:p>
            <a:r>
              <a:rPr lang="en-GB" dirty="0"/>
              <a:t>(e)  Plasma cells </a:t>
            </a:r>
          </a:p>
          <a:p>
            <a:r>
              <a:rPr lang="en-GB" dirty="0"/>
              <a:t>(f)  Intra-epithelial lymphocytes. </a:t>
            </a:r>
          </a:p>
          <a:p>
            <a:r>
              <a:rPr lang="en-GB" dirty="0"/>
              <a:t>(g)  Eosinophils. </a:t>
            </a:r>
          </a:p>
          <a:p>
            <a:endParaRPr lang="en-GB" dirty="0"/>
          </a:p>
          <a:p>
            <a:r>
              <a:rPr lang="en-GB" dirty="0"/>
              <a:t>(1)  Found following antigen challenge in the cortex of lymph nodes. </a:t>
            </a:r>
          </a:p>
          <a:p>
            <a:r>
              <a:rPr lang="en-GB" dirty="0"/>
              <a:t>(2)  Occur in the thymus in health, but rarely seen in secondary lymphoid organs </a:t>
            </a:r>
          </a:p>
          <a:p>
            <a:r>
              <a:rPr lang="en-GB" dirty="0"/>
              <a:t>(3)  Found predominantly but not exclusively in the ileum. </a:t>
            </a:r>
          </a:p>
          <a:p>
            <a:r>
              <a:rPr lang="en-GB" dirty="0"/>
              <a:t>(4)  Abundant in the lymph node medullary chords </a:t>
            </a:r>
          </a:p>
          <a:p>
            <a:r>
              <a:rPr lang="en-GB" dirty="0"/>
              <a:t>(5)  Adherence of lymphocytes to walls of high </a:t>
            </a:r>
            <a:r>
              <a:rPr lang="en-GB"/>
              <a:t>endothelial venules </a:t>
            </a:r>
            <a:r>
              <a:rPr lang="en-GB" dirty="0"/>
              <a:t>(HEV’s). </a:t>
            </a:r>
          </a:p>
          <a:p>
            <a:endParaRPr lang="en-GB" dirty="0"/>
          </a:p>
          <a:p>
            <a:endParaRPr lang="en-US" dirty="0"/>
          </a:p>
        </p:txBody>
      </p:sp>
    </p:spTree>
    <p:extLst>
      <p:ext uri="{BB962C8B-B14F-4D97-AF65-F5344CB8AC3E}">
        <p14:creationId xmlns:p14="http://schemas.microsoft.com/office/powerpoint/2010/main" val="1252003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471162-D9CB-C440-84D1-0586989478A5}"/>
              </a:ext>
            </a:extLst>
          </p:cNvPr>
          <p:cNvSpPr>
            <a:spLocks noGrp="1"/>
          </p:cNvSpPr>
          <p:nvPr>
            <p:ph idx="1"/>
          </p:nvPr>
        </p:nvSpPr>
        <p:spPr>
          <a:xfrm>
            <a:off x="246185" y="152400"/>
            <a:ext cx="11711353" cy="6435969"/>
          </a:xfrm>
        </p:spPr>
        <p:txBody>
          <a:bodyPr>
            <a:normAutofit fontScale="85000" lnSpcReduction="20000"/>
          </a:bodyPr>
          <a:lstStyle/>
          <a:p>
            <a:r>
              <a:rPr lang="en-GB" dirty="0"/>
              <a:t>T2/2</a:t>
            </a:r>
            <a:br>
              <a:rPr lang="en-GB" dirty="0"/>
            </a:br>
            <a:r>
              <a:rPr lang="en-GB" dirty="0"/>
              <a:t>Innate immunity involves protection from microbial infection by natural barriers, humoral substances, and phagocytic cells. Adaptive immunity increases the efficiency of immune protection as a consequence of specificity and memory of previous exposure to antigen. With respect to innate and adaptive immune mechanisms, match the following: </a:t>
            </a:r>
          </a:p>
          <a:p>
            <a:r>
              <a:rPr lang="en-GB" dirty="0"/>
              <a:t>(a) Dendritic cells </a:t>
            </a:r>
          </a:p>
          <a:p>
            <a:r>
              <a:rPr lang="en-GB" dirty="0"/>
              <a:t>(b) Neutrophils </a:t>
            </a:r>
          </a:p>
          <a:p>
            <a:r>
              <a:rPr lang="en-GB" dirty="0"/>
              <a:t>(c) IgA</a:t>
            </a:r>
          </a:p>
          <a:p>
            <a:r>
              <a:rPr lang="en-GB" dirty="0"/>
              <a:t>(d) IgM </a:t>
            </a:r>
          </a:p>
          <a:p>
            <a:r>
              <a:rPr lang="en-GB" dirty="0"/>
              <a:t>(e) IgG</a:t>
            </a:r>
          </a:p>
          <a:p>
            <a:r>
              <a:rPr lang="en-GB" dirty="0"/>
              <a:t>(f) </a:t>
            </a:r>
            <a:r>
              <a:rPr lang="en-GB" dirty="0" err="1"/>
              <a:t>Mucociliary</a:t>
            </a:r>
            <a:r>
              <a:rPr lang="en-GB" dirty="0"/>
              <a:t> escalator </a:t>
            </a:r>
          </a:p>
          <a:p>
            <a:r>
              <a:rPr lang="en-GB" dirty="0"/>
              <a:t>(g) Serum complement </a:t>
            </a:r>
          </a:p>
          <a:p>
            <a:endParaRPr lang="en-GB" dirty="0"/>
          </a:p>
          <a:p>
            <a:r>
              <a:rPr lang="en-GB" dirty="0"/>
              <a:t>(1) The principal antibody class (isotype) of the secondary immune response </a:t>
            </a:r>
          </a:p>
          <a:p>
            <a:r>
              <a:rPr lang="en-GB" dirty="0"/>
              <a:t>(2) Immunity at mucosal surfaces</a:t>
            </a:r>
          </a:p>
          <a:p>
            <a:r>
              <a:rPr lang="en-GB" dirty="0"/>
              <a:t>(3) Membrane attack and lysis</a:t>
            </a:r>
          </a:p>
          <a:p>
            <a:r>
              <a:rPr lang="en-GB" dirty="0"/>
              <a:t>(4) Antigen presentation </a:t>
            </a:r>
          </a:p>
          <a:p>
            <a:r>
              <a:rPr lang="en-GB" dirty="0"/>
              <a:t>(5) Capable of crossing the placenta </a:t>
            </a:r>
          </a:p>
          <a:p>
            <a:endParaRPr lang="en-US" dirty="0"/>
          </a:p>
        </p:txBody>
      </p:sp>
    </p:spTree>
    <p:extLst>
      <p:ext uri="{BB962C8B-B14F-4D97-AF65-F5344CB8AC3E}">
        <p14:creationId xmlns:p14="http://schemas.microsoft.com/office/powerpoint/2010/main" val="1779622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471162-D9CB-C440-84D1-0586989478A5}"/>
              </a:ext>
            </a:extLst>
          </p:cNvPr>
          <p:cNvSpPr>
            <a:spLocks noGrp="1"/>
          </p:cNvSpPr>
          <p:nvPr>
            <p:ph idx="1"/>
          </p:nvPr>
        </p:nvSpPr>
        <p:spPr>
          <a:xfrm>
            <a:off x="246185" y="152400"/>
            <a:ext cx="11711353" cy="6435969"/>
          </a:xfrm>
        </p:spPr>
        <p:txBody>
          <a:bodyPr>
            <a:normAutofit fontScale="92500" lnSpcReduction="20000"/>
          </a:bodyPr>
          <a:lstStyle/>
          <a:p>
            <a:r>
              <a:rPr lang="en-GB" dirty="0"/>
              <a:t>T2/3 </a:t>
            </a:r>
          </a:p>
          <a:p>
            <a:r>
              <a:rPr lang="en-GB" dirty="0"/>
              <a:t>Innate and adaptive immunity are both involved in immune protection, but differ in certain respects. Match the most appropriate numbered items to the following: </a:t>
            </a:r>
          </a:p>
          <a:p>
            <a:r>
              <a:rPr lang="en-GB" dirty="0"/>
              <a:t>(a)  Adaptive immunity </a:t>
            </a:r>
          </a:p>
          <a:p>
            <a:r>
              <a:rPr lang="en-GB" dirty="0"/>
              <a:t>(b)  Innate immunity </a:t>
            </a:r>
          </a:p>
          <a:p>
            <a:r>
              <a:rPr lang="en-GB" dirty="0"/>
              <a:t>(c)  Primary immune response </a:t>
            </a:r>
          </a:p>
          <a:p>
            <a:r>
              <a:rPr lang="en-GB" dirty="0"/>
              <a:t>(d)  Polymorphonuclear leucocytes </a:t>
            </a:r>
          </a:p>
          <a:p>
            <a:r>
              <a:rPr lang="en-GB" dirty="0"/>
              <a:t>(e)  Involvement of Peyer’s patches </a:t>
            </a:r>
          </a:p>
          <a:p>
            <a:r>
              <a:rPr lang="en-GB" dirty="0"/>
              <a:t>(f)  Ciliated epithelium </a:t>
            </a:r>
          </a:p>
          <a:p>
            <a:r>
              <a:rPr lang="en-GB" dirty="0"/>
              <a:t>(g)  Hydrochloric acid </a:t>
            </a:r>
          </a:p>
          <a:p>
            <a:endParaRPr lang="en-GB" dirty="0"/>
          </a:p>
          <a:p>
            <a:r>
              <a:rPr lang="en-GB" dirty="0"/>
              <a:t>(1)  Innate immune </a:t>
            </a:r>
            <a:r>
              <a:rPr lang="en-GB" dirty="0" err="1"/>
              <a:t>defense</a:t>
            </a:r>
            <a:r>
              <a:rPr lang="en-GB" dirty="0"/>
              <a:t> in the gastrointestinal tract </a:t>
            </a:r>
          </a:p>
          <a:p>
            <a:r>
              <a:rPr lang="en-GB" dirty="0"/>
              <a:t>(2)  Occurs more rapidly on re-exposure to antigen </a:t>
            </a:r>
          </a:p>
          <a:p>
            <a:r>
              <a:rPr lang="en-GB" dirty="0"/>
              <a:t>(3)  Phagocytosis </a:t>
            </a:r>
          </a:p>
          <a:p>
            <a:r>
              <a:rPr lang="en-GB" dirty="0"/>
              <a:t>(4)  Clearance of mucus in the respiratory tract </a:t>
            </a:r>
          </a:p>
          <a:p>
            <a:r>
              <a:rPr lang="en-GB" dirty="0"/>
              <a:t>(5)  IgM </a:t>
            </a:r>
          </a:p>
          <a:p>
            <a:endParaRPr lang="en-US" dirty="0"/>
          </a:p>
        </p:txBody>
      </p:sp>
    </p:spTree>
    <p:extLst>
      <p:ext uri="{BB962C8B-B14F-4D97-AF65-F5344CB8AC3E}">
        <p14:creationId xmlns:p14="http://schemas.microsoft.com/office/powerpoint/2010/main" val="1539994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471162-D9CB-C440-84D1-0586989478A5}"/>
              </a:ext>
            </a:extLst>
          </p:cNvPr>
          <p:cNvSpPr>
            <a:spLocks noGrp="1"/>
          </p:cNvSpPr>
          <p:nvPr>
            <p:ph idx="1"/>
          </p:nvPr>
        </p:nvSpPr>
        <p:spPr>
          <a:xfrm>
            <a:off x="246185" y="152400"/>
            <a:ext cx="11711353" cy="6435969"/>
          </a:xfrm>
        </p:spPr>
        <p:txBody>
          <a:bodyPr>
            <a:normAutofit fontScale="85000" lnSpcReduction="20000"/>
          </a:bodyPr>
          <a:lstStyle/>
          <a:p>
            <a:r>
              <a:rPr lang="en-GB" dirty="0"/>
              <a:t>T2/4: Certain features are well known to accompany infections. These include feeling unwell (malaise), fever (pyrexia), swollen glands (lymphadenopathy), and in some instances, a rash. These are signs of inflammation. Match the most appropriate numbered items to the following: </a:t>
            </a:r>
          </a:p>
          <a:p>
            <a:r>
              <a:rPr lang="en-GB" dirty="0"/>
              <a:t>(a)  C-reactive protein </a:t>
            </a:r>
          </a:p>
          <a:p>
            <a:r>
              <a:rPr lang="en-GB" dirty="0"/>
              <a:t>(b)  Hypothalamus </a:t>
            </a:r>
          </a:p>
          <a:p>
            <a:r>
              <a:rPr lang="en-GB" dirty="0"/>
              <a:t>(c)  Heat, redness, swelling, pain </a:t>
            </a:r>
          </a:p>
          <a:p>
            <a:r>
              <a:rPr lang="en-GB" dirty="0"/>
              <a:t>(d)  Antibodies </a:t>
            </a:r>
          </a:p>
          <a:p>
            <a:r>
              <a:rPr lang="en-GB" dirty="0"/>
              <a:t>(e)  IL-1, IL-6, TNF </a:t>
            </a:r>
          </a:p>
          <a:p>
            <a:r>
              <a:rPr lang="en-GB" dirty="0"/>
              <a:t>(f)  Hypersensitivity </a:t>
            </a:r>
          </a:p>
          <a:p>
            <a:r>
              <a:rPr lang="en-GB" dirty="0"/>
              <a:t>(g)  Membrane attack complex of complement </a:t>
            </a:r>
          </a:p>
          <a:p>
            <a:endParaRPr lang="en-GB" dirty="0"/>
          </a:p>
          <a:p>
            <a:r>
              <a:rPr lang="en-GB" dirty="0"/>
              <a:t>(1)  Regulation of body temperature </a:t>
            </a:r>
          </a:p>
          <a:p>
            <a:r>
              <a:rPr lang="en-GB" dirty="0"/>
              <a:t>(2)  Signs of inflammation </a:t>
            </a:r>
          </a:p>
          <a:p>
            <a:r>
              <a:rPr lang="en-GB" dirty="0"/>
              <a:t>(3)  Exaggerated immune response associated with tissue damage </a:t>
            </a:r>
          </a:p>
          <a:p>
            <a:r>
              <a:rPr lang="en-GB" dirty="0"/>
              <a:t>(4)  Pro-inflammatory cytokines </a:t>
            </a:r>
          </a:p>
          <a:p>
            <a:r>
              <a:rPr lang="en-GB" dirty="0"/>
              <a:t>(5)  Acute phase reactant </a:t>
            </a:r>
          </a:p>
          <a:p>
            <a:pPr marL="0" indent="0">
              <a:buNone/>
            </a:pPr>
            <a:endParaRPr lang="en-US" dirty="0"/>
          </a:p>
        </p:txBody>
      </p:sp>
    </p:spTree>
    <p:extLst>
      <p:ext uri="{BB962C8B-B14F-4D97-AF65-F5344CB8AC3E}">
        <p14:creationId xmlns:p14="http://schemas.microsoft.com/office/powerpoint/2010/main" val="982282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471162-D9CB-C440-84D1-0586989478A5}"/>
              </a:ext>
            </a:extLst>
          </p:cNvPr>
          <p:cNvSpPr>
            <a:spLocks noGrp="1"/>
          </p:cNvSpPr>
          <p:nvPr>
            <p:ph idx="1"/>
          </p:nvPr>
        </p:nvSpPr>
        <p:spPr>
          <a:xfrm>
            <a:off x="246185" y="152400"/>
            <a:ext cx="11711353" cy="6435969"/>
          </a:xfrm>
        </p:spPr>
        <p:txBody>
          <a:bodyPr>
            <a:normAutofit/>
          </a:bodyPr>
          <a:lstStyle/>
          <a:p>
            <a:r>
              <a:rPr lang="en-GB" dirty="0"/>
              <a:t>STRUCTURED ANSWER QUESTIONS </a:t>
            </a:r>
          </a:p>
          <a:p>
            <a:r>
              <a:rPr lang="en-GB" dirty="0"/>
              <a:t>Question </a:t>
            </a:r>
          </a:p>
          <a:p>
            <a:r>
              <a:rPr lang="en-GB" dirty="0"/>
              <a:t>A middle aged man cuts his arm on a rusty nail whilst gardening. He visits the Accident and Emergency Department of his local hospital, where the wound is cleaned and bandaged, and he is given a booster immunisation with tetanus toxoid. </a:t>
            </a:r>
          </a:p>
          <a:p>
            <a:r>
              <a:rPr lang="en-GB" dirty="0"/>
              <a:t>A) What type of immunization is tetanus toxoid? </a:t>
            </a:r>
          </a:p>
          <a:p>
            <a:r>
              <a:rPr lang="en-GB" dirty="0"/>
              <a:t>B) He has had tetanus toxoid vaccine many years previously. What type of antibody response is he likely to make, and what are its characteristics? </a:t>
            </a:r>
          </a:p>
          <a:p>
            <a:r>
              <a:rPr lang="en-GB" dirty="0"/>
              <a:t>C) He develops an abscess at the site of the wound. What cells of the immune system are involved? What is process by which they engulf and kill bacteria called, and what are its main steps. </a:t>
            </a:r>
          </a:p>
          <a:p>
            <a:endParaRPr lang="en-GB" dirty="0"/>
          </a:p>
          <a:p>
            <a:endParaRPr lang="en-US" dirty="0"/>
          </a:p>
        </p:txBody>
      </p:sp>
    </p:spTree>
    <p:extLst>
      <p:ext uri="{BB962C8B-B14F-4D97-AF65-F5344CB8AC3E}">
        <p14:creationId xmlns:p14="http://schemas.microsoft.com/office/powerpoint/2010/main" val="1878817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471162-D9CB-C440-84D1-0586989478A5}"/>
              </a:ext>
            </a:extLst>
          </p:cNvPr>
          <p:cNvSpPr>
            <a:spLocks noGrp="1"/>
          </p:cNvSpPr>
          <p:nvPr>
            <p:ph idx="1"/>
          </p:nvPr>
        </p:nvSpPr>
        <p:spPr>
          <a:xfrm>
            <a:off x="246185" y="152400"/>
            <a:ext cx="11711353" cy="6435969"/>
          </a:xfrm>
        </p:spPr>
        <p:txBody>
          <a:bodyPr>
            <a:normAutofit/>
          </a:bodyPr>
          <a:lstStyle/>
          <a:p>
            <a:r>
              <a:rPr lang="en-GB" dirty="0"/>
              <a:t>Question 2: </a:t>
            </a:r>
          </a:p>
          <a:p>
            <a:r>
              <a:rPr lang="en-GB" dirty="0"/>
              <a:t>A six year old boy presents with a fever, sore throat, and swollen glands in his neck. On examination, his tonsils are enlarged, with a purulent exudate. A bacterial throat infection is suspected, and he is prescribed a course of antibiotics. </a:t>
            </a:r>
          </a:p>
          <a:p>
            <a:r>
              <a:rPr lang="en-GB" dirty="0"/>
              <a:t>A) Name 2 innate cellular mediators and 2 adaptive cellular mediators that are likely to play a role in fighting the infection </a:t>
            </a:r>
          </a:p>
          <a:p>
            <a:r>
              <a:rPr lang="en-GB" dirty="0"/>
              <a:t>B) Which cells of the immune system produce antibodies to the infectious agent? </a:t>
            </a:r>
          </a:p>
          <a:p>
            <a:r>
              <a:rPr lang="en-GB" dirty="0"/>
              <a:t>C) Describe what is likely to be happening in the draining lymph node, and the cells and structures found in the different areas of the lymph node. </a:t>
            </a:r>
          </a:p>
          <a:p>
            <a:r>
              <a:rPr lang="en-GB" dirty="0"/>
              <a:t>D) What are the cardinal differences between innate and adaptive immune mechanisms? </a:t>
            </a:r>
          </a:p>
          <a:p>
            <a:endParaRPr lang="en-GB" dirty="0"/>
          </a:p>
          <a:p>
            <a:endParaRPr lang="en-US" dirty="0"/>
          </a:p>
        </p:txBody>
      </p:sp>
    </p:spTree>
    <p:extLst>
      <p:ext uri="{BB962C8B-B14F-4D97-AF65-F5344CB8AC3E}">
        <p14:creationId xmlns:p14="http://schemas.microsoft.com/office/powerpoint/2010/main" val="2747375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1191</Words>
  <Application>Microsoft Macintosh PowerPoint</Application>
  <PresentationFormat>Widescreen</PresentationFormat>
  <Paragraphs>96</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Session 1 Group working Infection and Immunity</vt:lpstr>
      <vt:lpstr>Group working</vt:lpstr>
      <vt:lpstr>LEARNING OUTCOMES </vt:lpstr>
      <vt:lpstr>COMPONENTS OF THE IMMUNE SYSTEM</vt:lpstr>
      <vt:lpstr>Group work questions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1 Group working</dc:title>
  <dc:creator>Microsoft Office User</dc:creator>
  <cp:lastModifiedBy>Microsoft Office User</cp:lastModifiedBy>
  <cp:revision>41</cp:revision>
  <dcterms:created xsi:type="dcterms:W3CDTF">2019-12-27T15:40:15Z</dcterms:created>
  <dcterms:modified xsi:type="dcterms:W3CDTF">2021-02-23T04:28:24Z</dcterms:modified>
</cp:coreProperties>
</file>